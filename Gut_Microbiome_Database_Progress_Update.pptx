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73FF"/>
    <a:srgbClr val="E600FF"/>
    <a:srgbClr val="8000FF"/>
    <a:srgbClr val="4DE5FF"/>
    <a:srgbClr val="E7A12D"/>
    <a:srgbClr val="0592C1"/>
    <a:srgbClr val="EEE7F3"/>
    <a:srgbClr val="C7E7FF"/>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65" autoAdjust="0"/>
    <p:restoredTop sz="96846" autoAdjust="0"/>
  </p:normalViewPr>
  <p:slideViewPr>
    <p:cSldViewPr snapToGrid="0">
      <p:cViewPr varScale="1">
        <p:scale>
          <a:sx n="194" d="100"/>
          <a:sy n="194" d="100"/>
        </p:scale>
        <p:origin x="720" y="184"/>
      </p:cViewPr>
      <p:guideLst/>
    </p:cSldViewPr>
  </p:slideViewPr>
  <p:outlineViewPr>
    <p:cViewPr>
      <p:scale>
        <a:sx n="33" d="100"/>
        <a:sy n="33" d="100"/>
      </p:scale>
      <p:origin x="0" y="-63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Coverage</c:v>
                </c:pt>
              </c:strCache>
            </c:strRef>
          </c:tx>
          <c:spPr>
            <a:solidFill>
              <a:srgbClr val="580F8B"/>
            </a:solidFill>
            <a:ln>
              <a:noFill/>
            </a:ln>
          </c:spPr>
          <c:cat>
            <c:strRef>
              <c:f>Sheet1!$A$2:$A$6</c:f>
              <c:strCache>
                <c:ptCount val="5"/>
                <c:pt idx="0">
                  <c:v>NCBI tax ID</c:v>
                </c:pt>
                <c:pt idx="1">
                  <c:v>Phylum</c:v>
                </c:pt>
                <c:pt idx="2">
                  <c:v>Oxygen req.</c:v>
                </c:pt>
                <c:pt idx="3">
                  <c:v>Energy mode</c:v>
                </c:pt>
                <c:pt idx="4">
                  <c:v>Food source</c:v>
                </c:pt>
              </c:strCache>
            </c:strRef>
          </c:cat>
          <c:val>
            <c:numRef>
              <c:f>Sheet1!$B$2:$B$6</c:f>
              <c:numCache>
                <c:formatCode>General</c:formatCode>
                <c:ptCount val="5"/>
                <c:pt idx="0">
                  <c:v>95.2</c:v>
                </c:pt>
                <c:pt idx="1">
                  <c:v>75.4</c:v>
                </c:pt>
                <c:pt idx="2">
                  <c:v>29.8</c:v>
                </c:pt>
                <c:pt idx="3">
                  <c:v>21.9</c:v>
                </c:pt>
                <c:pt idx="4">
                  <c:v>16.7</c:v>
                </c:pt>
              </c:numCache>
            </c:numRef>
          </c:val>
        </c:ser>
        <c:dLbls>
          <c:numFmt formatCode="0&quot;%&quot;" sourceLinked="0"/>
          <c:txPr>
            <a:bodyPr/>
            <a:lstStyle/>
            <a:p>
              <a:pPr>
                <a:defRPr sz="1000" b="1">
                  <a:solidFill>
                    <a:srgbClr val="1A1A1A"/>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solidFill>
              <a:srgbClr val="E0E0DE"/>
            </a:solidFill>
          </a:ln>
        </c:spPr>
        <c:txPr>
          <a:bodyPr/>
          <a:lstStyle/>
          <a:p>
            <a:pPr>
              <a:defRPr sz="950">
                <a:solidFill>
                  <a:srgbClr val="1A1A1A"/>
                </a:solidFill>
                <a:latin typeface="Arial"/>
              </a:defRPr>
            </a:pPr>
          </a:p>
        </c:txPr>
        <c:crossAx val="-2113994440"/>
        <c:crosses val="autoZero"/>
        <c:auto val="1"/>
        <c:lblAlgn val="ctr"/>
        <c:lblOffset val="100"/>
        <c:noMultiLvlLbl val="0"/>
      </c:catAx>
      <c:valAx>
        <c:axId val="-2113994440"/>
        <c:scaling/>
        <c:delete/>
        <c:axPos val="b"/>
        <c:majorTickMark val="none"/>
        <c:minorTickMark val="none"/>
        <c:tickLblPos val="nextTo"/>
        <c:crossAx val="-2068027336"/>
        <c:crosses val="autoZero"/>
      </c:valAx>
    </c:plotArea>
    <c:dispBlanksAs val="gap"/>
  </c:chart>
  <c:txPr>
    <a:bodyPr/>
    <a:lstStyle/>
    <a:p>
      <a:pPr>
        <a:defRPr sz="95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Pairs</c:v>
                </c:pt>
              </c:strCache>
            </c:strRef>
          </c:tx>
          <c:spPr>
            <a:solidFill>
              <a:srgbClr val="580F8B"/>
            </a:solidFill>
            <a:ln>
              <a:noFill/>
            </a:ln>
          </c:spPr>
          <c:cat>
            <c:strRef>
              <c:f>Sheet1!$A$2:$A$4</c:f>
              <c:strCache>
                <c:ptCount val="3"/>
                <c:pt idx="0">
                  <c:v>1 study</c:v>
                </c:pt>
                <c:pt idx="1">
                  <c:v>2 studies</c:v>
                </c:pt>
                <c:pt idx="2">
                  <c:v>3+ studies</c:v>
                </c:pt>
              </c:strCache>
            </c:strRef>
          </c:cat>
          <c:val>
            <c:numRef>
              <c:f>Sheet1!$B$2:$B$4</c:f>
              <c:numCache>
                <c:formatCode>General</c:formatCode>
                <c:ptCount val="3"/>
                <c:pt idx="0">
                  <c:v>9161</c:v>
                </c:pt>
                <c:pt idx="1">
                  <c:v>1231</c:v>
                </c:pt>
                <c:pt idx="2">
                  <c:v>900</c:v>
                </c:pt>
              </c:numCache>
            </c:numRef>
          </c:val>
        </c:ser>
        <c:dLbls>
          <c:numFmt formatCode="#,##0" sourceLinked="0"/>
          <c:txPr>
            <a:bodyPr/>
            <a:lstStyle/>
            <a:p>
              <a:pPr>
                <a:defRPr sz="1000" b="1">
                  <a:solidFill>
                    <a:srgbClr val="1A1A1A"/>
                  </a:solidFill>
                  <a:latin typeface="Arial"/>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none"/>
        <c:minorTickMark val="none"/>
        <c:tickLblPos val="nextTo"/>
        <c:spPr>
          <a:ln>
            <a:solidFill>
              <a:srgbClr val="E0E0DE"/>
            </a:solidFill>
          </a:ln>
        </c:spPr>
        <c:txPr>
          <a:bodyPr/>
          <a:lstStyle/>
          <a:p>
            <a:pPr>
              <a:defRPr sz="950">
                <a:solidFill>
                  <a:srgbClr val="1A1A1A"/>
                </a:solidFill>
                <a:latin typeface="Arial"/>
              </a:defRPr>
            </a:pPr>
          </a:p>
        </c:txPr>
        <c:crossAx val="-2113994440"/>
        <c:crosses val="autoZero"/>
        <c:auto val="1"/>
        <c:lblAlgn val="ctr"/>
        <c:lblOffset val="100"/>
        <c:noMultiLvlLbl val="0"/>
      </c:catAx>
      <c:valAx>
        <c:axId val="-2113994440"/>
        <c:scaling/>
        <c:delete/>
        <c:axPos val="l"/>
        <c:majorTickMark val="none"/>
        <c:minorTickMark val="none"/>
        <c:tickLblPos val="nextTo"/>
        <c:crossAx val="-2068027336"/>
        <c:crosses val="autoZero"/>
      </c:valAx>
    </c:plotArea>
    <c:dispBlanksAs val="gap"/>
  </c:chart>
  <c:txPr>
    <a:bodyPr/>
    <a:lstStyle/>
    <a:p>
      <a:pPr>
        <a:defRPr sz="95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Taxa</c:v>
                </c:pt>
              </c:strCache>
            </c:strRef>
          </c:tx>
          <c:spPr>
            <a:solidFill>
              <a:srgbClr val="580F8B"/>
            </a:solidFill>
            <a:ln>
              <a:noFill/>
            </a:ln>
          </c:spPr>
          <c:dPt>
            <c:idx val="3"/>
            <c:spPr>
              <a:solidFill>
                <a:srgbClr val="FF9300"/>
              </a:solidFill>
              <a:ln>
                <a:noFill/>
              </a:ln>
            </c:spPr>
          </c:dPt>
          <c:cat>
            <c:strRef>
              <c:f>Sheet1!$A$2:$A$5</c:f>
              <c:strCache>
                <c:ptCount val="4"/>
                <c:pt idx="0">
                  <c:v>1 disease</c:v>
                </c:pt>
                <c:pt idx="1">
                  <c:v>2–5</c:v>
                </c:pt>
                <c:pt idx="2">
                  <c:v>6–20</c:v>
                </c:pt>
                <c:pt idx="3">
                  <c:v>Over 20</c:v>
                </c:pt>
              </c:strCache>
            </c:strRef>
          </c:cat>
          <c:val>
            <c:numRef>
              <c:f>Sheet1!$B$2:$B$5</c:f>
              <c:numCache>
                <c:formatCode>General</c:formatCode>
                <c:ptCount val="4"/>
                <c:pt idx="0">
                  <c:v>375</c:v>
                </c:pt>
                <c:pt idx="1">
                  <c:v>420</c:v>
                </c:pt>
                <c:pt idx="2">
                  <c:v>392</c:v>
                </c:pt>
                <c:pt idx="3">
                  <c:v>143</c:v>
                </c:pt>
              </c:numCache>
            </c:numRef>
          </c:val>
        </c:ser>
        <c:dLbls>
          <c:numFmt formatCode="#,##0" sourceLinked="0"/>
          <c:txPr>
            <a:bodyPr/>
            <a:lstStyle/>
            <a:p>
              <a:pPr>
                <a:defRPr sz="1000" b="1">
                  <a:solidFill>
                    <a:srgbClr val="1A1A1A"/>
                  </a:solidFill>
                  <a:latin typeface="Aria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none"/>
        <c:minorTickMark val="none"/>
        <c:tickLblPos val="nextTo"/>
        <c:spPr>
          <a:ln>
            <a:solidFill>
              <a:srgbClr val="E0E0DE"/>
            </a:solidFill>
          </a:ln>
        </c:spPr>
        <c:txPr>
          <a:bodyPr/>
          <a:lstStyle/>
          <a:p>
            <a:pPr>
              <a:defRPr sz="950">
                <a:solidFill>
                  <a:srgbClr val="1A1A1A"/>
                </a:solidFill>
                <a:latin typeface="Arial"/>
              </a:defRPr>
            </a:pPr>
          </a:p>
        </c:txPr>
        <c:crossAx val="-2113994440"/>
        <c:crosses val="autoZero"/>
        <c:auto val="1"/>
        <c:lblAlgn val="ctr"/>
        <c:lblOffset val="100"/>
        <c:noMultiLvlLbl val="0"/>
      </c:catAx>
      <c:valAx>
        <c:axId val="-2113994440"/>
        <c:scaling/>
        <c:delete/>
        <c:axPos val="l"/>
        <c:majorTickMark val="none"/>
        <c:minorTickMark val="none"/>
        <c:tickLblPos val="nextTo"/>
        <c:crossAx val="-2068027336"/>
        <c:crosses val="autoZero"/>
      </c:valAx>
    </c:plotArea>
    <c:dispBlanksAs val="gap"/>
  </c:chart>
  <c:txPr>
    <a:bodyPr/>
    <a:lstStyle/>
    <a:p>
      <a:pPr>
        <a:defRPr sz="95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458E55-220C-4A02-BF0F-A0728E13D1A8}" type="datetimeFigureOut">
              <a:rPr lang="en-US" smtClean="0"/>
              <a:t>7/27/26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8654EF-92F4-4E94-BAAC-740D39558F51}" type="slidenum">
              <a:rPr lang="en-US" smtClean="0"/>
              <a:t>‹#›</a:t>
            </a:fld>
            <a:endParaRPr lang="en-US"/>
          </a:p>
        </p:txBody>
      </p:sp>
    </p:spTree>
    <p:extLst>
      <p:ext uri="{BB962C8B-B14F-4D97-AF65-F5344CB8AC3E}">
        <p14:creationId xmlns:p14="http://schemas.microsoft.com/office/powerpoint/2010/main" val="189159695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OPENING</a:t>
            </a:r>
          </a:p>
          <a:p/>
          <a:p>
            <a:r>
              <a:t>This is a progress update on the gut microbiome evidence database. It is live: 6,019 taxa,</a:t>
            </a:r>
          </a:p>
          <a:p>
            <a:r>
              <a:t>16,388 disease associations across 314 studies, and 34,229 samples. The headline is that as of</a:t>
            </a:r>
          </a:p>
          <a:p>
            <a:r>
              <a:t>this week the per-sample cohort is finally large enough to model. I will walk through how the</a:t>
            </a:r>
          </a:p>
          <a:p>
            <a:r>
              <a:t>pipeline is built, what is in the database now, and three things I would like your input on.</a:t>
            </a:r>
          </a:p>
          <a:p/>
          <a:p>
            <a:r>
              <a:t>CUE: Do not read the four numbers aloud - let them sit on screen. 30 seconds, then move.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  WHY A DATABASE</a:t>
            </a:r>
          </a:p>
          <a:p/>
          <a:p>
            <a:r>
              <a:t>Before this, the marker lists lived in separate per-project exports and per-paper tables, each</a:t>
            </a:r>
          </a:p>
          <a:p>
            <a:r>
              <a:t>with its own column names. The real problem was not volume, it was lost context: an LDA score</a:t>
            </a:r>
          </a:p>
          <a:p>
            <a:r>
              <a:t>carried no record of which comparison produced it. A negative sign could mean depleted in</a:t>
            </a:r>
          </a:p>
          <a:p>
            <a:r>
              <a:t>disease or depleted in health depending on the export, and the number alone could not tell you</a:t>
            </a:r>
          </a:p>
          <a:p>
            <a:r>
              <a:t>which. What the pipeline gives instead is one schema where every association keeps its study,</a:t>
            </a:r>
          </a:p>
          <a:p>
            <a:r>
              <a:t>its comparison and its direction; loaders that can safely be re-run; and views that expose how</a:t>
            </a:r>
          </a:p>
          <a:p>
            <a:r>
              <a:t>well replicated a finding is rather than just how many rows there are.</a:t>
            </a:r>
          </a:p>
          <a:p/>
          <a:p>
            <a:r>
              <a:t>CUE: Left card is the problem, right card is the answer. Land on the italic line -</a:t>
            </a:r>
          </a:p>
          <a:p>
            <a:r>
              <a:t>"evidence in context" is the thesis of the whole talk.</a:t>
            </a:r>
          </a:p>
          <a:p/>
          <a:p>
            <a:r>
              <a:t>PLAIN VERSION of "LDA score" if you need it: it comes from LEfSe, the standard tool for these</a:t>
            </a:r>
          </a:p>
          <a:p>
            <a:r>
              <a:t>case-control comparisons. It runs a linear discriminant analysis and reports how strongly one</a:t>
            </a:r>
          </a:p>
          <a:p>
            <a:r>
              <a:t>taxon separates the two groups. A bigger absolute value means a stronger separator; ours mostly</a:t>
            </a:r>
          </a:p>
          <a:p>
            <a:r>
              <a:t>run between 2 and 5. The SIGN tells you which of the two groups the taxon points toward - and</a:t>
            </a:r>
          </a:p>
          <a:p>
            <a:r>
              <a:t>that is exactly the part that is meaningless unless you also know which group was listed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SOURCES</a:t>
            </a:r>
          </a:p>
          <a:p/>
          <a:p>
            <a:r>
              <a:t>Four sources, each doing a different job. GMrepo is the bulk of the evidence, 273 curated</a:t>
            </a:r>
          </a:p>
          <a:p>
            <a:r>
              <a:t>studies. I hand-curated 40 more from the literature for diseases GMrepo covers thinly. MiMeDB</a:t>
            </a:r>
          </a:p>
          <a:p>
            <a:r>
              <a:t>supplies the phenotype layer - oxygen requirement, sporulation, energy source. NCBI Taxonomy is</a:t>
            </a:r>
          </a:p>
          <a:p>
            <a:r>
              <a:t>the backbone that lets me join across sources when names disagree. For the cohort side: GMrepo</a:t>
            </a:r>
          </a:p>
          <a:p>
            <a:r>
              <a:t>run metadata, NCBI BioSample and curatedMetagenomicData for demographics, plus one MGnify</a:t>
            </a:r>
          </a:p>
          <a:p>
            <a:r>
              <a:t>gastric-cancer study.</a:t>
            </a:r>
          </a:p>
          <a:p/>
          <a:p>
            <a:r>
              <a:t>CUE: The point to land is separability - every row records its source, and literature rows are</a:t>
            </a:r>
          </a:p>
          <a:p>
            <a:r>
              <a:t>flagged "qualified", never silently mixed with GMrepo's curated ones.</a:t>
            </a:r>
          </a:p>
          <a:p/>
          <a:p>
            <a:r>
              <a:t>IF ASKED "do the sources double-count?" - No. Zero shared project accessions across the three</a:t>
            </a:r>
          </a:p>
          <a:p>
            <a:r>
              <a:t>sources; I checked directly.</a:t>
            </a:r>
          </a:p>
          <a:p/>
          <a:p>
            <a:r>
              <a:t>PLAIN VERSION of the two sequencing types, since it comes up on slide 12: 16S amplicon</a:t>
            </a:r>
          </a:p>
          <a:p>
            <a:r>
              <a:t>sequencing copies and reads ONE marker gene that every bacterium carries. It is cheap and works</a:t>
            </a:r>
          </a:p>
          <a:p>
            <a:r>
              <a:t>on low-biomass samples, but that gene is nearly identical between species in the same genus, so</a:t>
            </a:r>
          </a:p>
          <a:p>
            <a:r>
              <a:t>it only resolves down to genus. Shotgun sequencing - GMrepo labels it mNGS - chops up ALL the</a:t>
            </a:r>
          </a:p>
          <a:p>
            <a:r>
              <a:t>DNA in the sample and sequences everything, so reads come from across whole genomes and can be</a:t>
            </a:r>
          </a:p>
          <a:p>
            <a:r>
              <a:t>matched to individual species. 210 of our studies are 16S, 102 are shotgun.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WORKFLOW</a:t>
            </a:r>
          </a:p>
          <a:p/>
          <a:p>
            <a:r>
              <a:t>Eleven commands in three phases. Phase A builds the backbone: schema, baseline taxa, MiMeDB</a:t>
            </a:r>
          </a:p>
          <a:p>
            <a:r>
              <a:t>traits, NCBI lineage. Phase B accumulates evidence: the GMrepo catalog sync plus literature</a:t>
            </a:r>
          </a:p>
          <a:p>
            <a:r>
              <a:t>markers. Phase C assembles the cohort: sample metadata, two demographic backfills, abundance</a:t>
            </a:r>
          </a:p>
          <a:p>
            <a:r>
              <a:t>profiles, and a validation pass. Every command is independently re-runnable, transactional and</a:t>
            </a:r>
          </a:p>
          <a:p>
            <a:r>
              <a:t>logged.</a:t>
            </a:r>
          </a:p>
          <a:p/>
          <a:p>
            <a:r>
              <a:t>CUE: Do NOT read all eleven commands. Point at the three phase headers and the three guarantees</a:t>
            </a:r>
          </a:p>
          <a:p>
            <a:r>
              <a:t>along the bottom. This slide is for reassurance, not detail.</a:t>
            </a:r>
          </a:p>
          <a:p/>
          <a:p>
            <a:r>
              <a:t>PLAIN VERSION of "idempotent": running the same command twice leaves the database in the same</a:t>
            </a:r>
          </a:p>
          <a:p>
            <a:r>
              <a:t>state as running it once. Nothing duplicates, nothing double-counts.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SCHEMA - the strongest design slide, slow down here</a:t>
            </a:r>
          </a:p>
          <a:p/>
          <a:p>
            <a:r>
              <a:t>This is the design decision I most want to flag. A taxon relates to many diseases and a disease</a:t>
            </a:r>
          </a:p>
          <a:p>
            <a:r>
              <a:t>to many taxa, so the relationship has to be its own table - that is the middle box. But the</a:t>
            </a:r>
          </a:p>
          <a:p>
            <a:r>
              <a:t>important part is the comparison table below it. It records which study, which two phenotype</a:t>
            </a:r>
          </a:p>
          <a:p>
            <a:r>
              <a:t>groups, and critically which group a positive score refers to. That matters because a negative</a:t>
            </a:r>
          </a:p>
          <a:p>
            <a:r>
              <a:t>LDA score is not intrinsically protective; its meaning depends entirely on the order of the</a:t>
            </a:r>
          </a:p>
          <a:p>
            <a:r>
              <a:t>comparison. If you store only the number you lose that, and you will silently get the sign</a:t>
            </a:r>
          </a:p>
          <a:p>
            <a:r>
              <a:t>backwards for some fraction of studies - and nothing will error.</a:t>
            </a:r>
          </a:p>
          <a:p/>
          <a:p>
            <a:r>
              <a:t>CUE: This is the slide that shows judgment rather than effort. Let the orange callout do the</a:t>
            </a:r>
          </a:p>
          <a:p>
            <a:r>
              <a:t>work, and pause after "nothing will error".</a:t>
            </a:r>
          </a:p>
          <a:p/>
          <a:p>
            <a:r>
              <a:t>CONCRETE EXAMPLE if he wants one: a study comparing Health versus Crohn's reports a taxon at</a:t>
            </a:r>
          </a:p>
          <a:p>
            <a:r>
              <a:t>-4.2. Whether that means "depleted in Crohn's" or "depleted in health" depends entirely on</a:t>
            </a:r>
          </a:p>
          <a:p>
            <a:r>
              <a:t>which group the tool treated as the first class. Same number, opposite biology.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SAFEGUARDS</a:t>
            </a:r>
          </a:p>
          <a:p/>
          <a:p>
            <a:r>
              <a:t>Four things make this safe to run against a live database. Every table has a natural unique key,</a:t>
            </a:r>
          </a:p>
          <a:p>
            <a:r>
              <a:t>so re-running a loader updates in place instead of duplicating. Failed loads roll back and keep</a:t>
            </a:r>
          </a:p>
          <a:p>
            <a:r>
              <a:t>their error message in the audit row - two of the 61 runs did fail, and that is exactly how I</a:t>
            </a:r>
          </a:p>
          <a:p>
            <a:r>
              <a:t>found them. Enrichment only fills NULLs, so an automated backfill can never overwrite a curated</a:t>
            </a:r>
          </a:p>
          <a:p>
            <a:r>
              <a:t>value. And every run is logged with rows read, inserted, updated and skipped.</a:t>
            </a:r>
          </a:p>
          <a:p/>
          <a:p>
            <a:r>
              <a:t>CUE: The bottom line is the subtle one - NULL means unknown, not "no". MiMeDB only ever records</a:t>
            </a:r>
          </a:p>
          <a:p>
            <a:r>
              <a:t>a positive pathogen flag, so absence carries no information and must never be stored as zero.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STATE - fast slide</a:t>
            </a:r>
          </a:p>
          <a:p/>
          <a:p>
            <a:r>
              <a:t>Where it stands today. 6,019 taxa, 159 diseases, 314 studies, 16,388 associations, 34,229</a:t>
            </a:r>
          </a:p>
          <a:p>
            <a:r>
              <a:t>samples, and 2.6 million abundance measurements across two taxonomic ranks. That last number</a:t>
            </a:r>
          </a:p>
          <a:p>
            <a:r>
              <a:t>more than doubled yesterday evening - I will come back to it. Integrity checks pass clean: no</a:t>
            </a:r>
          </a:p>
          <a:p>
            <a:r>
              <a:t>orphans, and every rank group sums to one.</a:t>
            </a:r>
          </a:p>
          <a:p/>
          <a:p>
            <a:r>
              <a:t>CUE: Flag the abundance number as the thing that changed, then move. Slide 12 pays it off.</a:t>
            </a:r>
          </a:p>
          <a:p/>
          <a:p>
            <a:r>
              <a:t>PLAIN VERSION of "taxa": a taxon is just a named group of organisms at some level of the</a:t>
            </a:r>
          </a:p>
          <a:p>
            <a:r>
              <a:t>biological hierarchy. Ours are genera (like Faecalibacterium) and species (like Escherichia</a:t>
            </a:r>
          </a:p>
          <a:p>
            <a:r>
              <a:t>coli) - 2,029 genera and 3,990 species.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ANNOTATION COVERAGE</a:t>
            </a:r>
          </a:p>
          <a:p/>
          <a:p>
            <a:r>
              <a:t>Identifiers hold up well - 95% of taxa carry an NCBI tax ID, so joins across sources stay</a:t>
            </a:r>
          </a:p>
          <a:p>
            <a:r>
              <a:t>reliable. Below that there are two different gaps, and they are not the same kind of problem.</a:t>
            </a:r>
          </a:p>
          <a:p>
            <a:r>
              <a:t>Phylum is missing for 1,479 taxa, almost all of them species that landed in yesterday's</a:t>
            </a:r>
          </a:p>
          <a:p>
            <a:r>
              <a:t>ingestion before the taxonomy enrichment caught up - one re-run closes that. The metabolic</a:t>
            </a:r>
          </a:p>
          <a:p>
            <a:r>
              <a:t>traits are much sparser, a sixth to a third, and that gap will not close, because MiMeDB simply</a:t>
            </a:r>
          </a:p>
          <a:p>
            <a:r>
              <a:t>does not describe most of these organisms.</a:t>
            </a:r>
          </a:p>
          <a:p/>
          <a:p>
            <a:r>
              <a:t>CUE: Say the "two different gaps" framing explicitly. It is the difference between a chore and</a:t>
            </a:r>
          </a:p>
          <a:p>
            <a:r>
              <a:t>a limit, and volunteering it reads as control rather than oversight.</a:t>
            </a:r>
          </a:p>
          <a:p/>
          <a:p>
            <a:r>
              <a:t>PLAIN VERSION of "phylum": the broad branch of the bacterial family tree a taxon sits on -</a:t>
            </a:r>
          </a:p>
          <a:p>
            <a:r>
              <a:t>Firmicutes, Bacteroidetes and so on. It is useful for grouping results, which is why the gap</a:t>
            </a:r>
          </a:p>
          <a:p>
            <a:r>
              <a:t>matters even though it is cosmetic for modelling.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[~55s]  EVIDENCE DEPTH - the main caveat</a:t>
            </a:r>
          </a:p>
          <a:p/>
          <a:p>
            <a:r>
              <a:t>This is the caveat I would most want a reader to see. There are 11,292 unique taxon-disease</a:t>
            </a:r>
          </a:p>
          <a:p>
            <a:r>
              <a:t>pairs, but 81% rest on a single study - the mean is 1.36. And 913 pairs have studies that</a:t>
            </a:r>
          </a:p>
          <a:p>
            <a:r>
              <a:t>disagree on direction. So the raw row count substantially overstates how much is actually</a:t>
            </a:r>
          </a:p>
          <a:p>
            <a:r>
              <a:t>established. That is why the evidence view exposes replication depth and an agreement ratio</a:t>
            </a:r>
          </a:p>
          <a:p>
            <a:r>
              <a:t>rather than just a direction.</a:t>
            </a:r>
          </a:p>
          <a:p/>
          <a:p>
            <a:r>
              <a:t>CUE: Be precise about the conflicts - this was corrected against the database. Two thirds of the</a:t>
            </a:r>
          </a:p>
          <a:p>
            <a:r>
              <a:t>913 involve three or fewer studies and 413 are an exact even split, so most are a small-sample</a:t>
            </a:r>
          </a:p>
          <a:p>
            <a:r>
              <a:t>artifact. But 172 disagree across five or more studies and those are real: Prevotella in</a:t>
            </a:r>
          </a:p>
          <a:p>
            <a:r>
              <a:t>ulcerative colitis is 3 versus 3 across six studies.</a:t>
            </a:r>
          </a:p>
          <a:p/>
          <a:p>
            <a:r>
              <a:t>IF ASKED "how do you resolve them?" - I do not. The view reports the ratio and the caller picks</a:t>
            </a:r>
          </a:p>
          <a:p>
            <a:r>
              <a:t>a threshold. Resolving them would invent a consensus the data does not support.</a:t>
            </a:r>
          </a:p>
          <a:p/>
          <a:p>
            <a:r>
              <a:t>PLAIN VERSION of "agreement ratio": of the studies that took a position on a taxon, the share</a:t>
            </a:r>
          </a:p>
          <a:p>
            <a:r>
              <a:t>that agreed with the majority direction. Sixteen studies enriched and one depleted gives 0.94.</a:t>
            </a:r>
          </a:p>
          <a:p>
            <a:r>
              <a:t>An even three-three split gives 0.5.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POSITIVE CONTROL - your credibility slide</a:t>
            </a:r>
          </a:p>
          <a:p/>
          <a:p>
            <a:r>
              <a:t>Sort by replication depth and the top of the list is the known colorectal-cancer oral-pathogen</a:t>
            </a:r>
          </a:p>
          <a:p>
            <a:r>
              <a:t>axis: Fusobacterium, Parvimonas, Peptostreptococcus, all enriched, near-perfect agreement across</a:t>
            </a:r>
          </a:p>
          <a:p>
            <a:r>
              <a:t>14 to 16 studies. Then Faecalibacterium depleted in Crohn's across 10 studies unanimously. I did</a:t>
            </a:r>
          </a:p>
          <a:p>
            <a:r>
              <a:t>not go looking for these - they fell out of the aggregate.</a:t>
            </a:r>
          </a:p>
          <a:p/>
          <a:p>
            <a:r>
              <a:t>CUE: Keep the claim narrow and defensible. It is a positive control that ingestion and direction</a:t>
            </a:r>
          </a:p>
          <a:p>
            <a:r>
              <a:t>logic are correct, which was the thing most likely to be silently wrong. Do NOT overclaim it as</a:t>
            </a:r>
          </a:p>
          <a:p>
            <a:r>
              <a:t>a discovery.</a:t>
            </a:r>
          </a:p>
          <a:p/>
          <a:p>
            <a:r>
              <a:t>BACKGROUND if he asks why that axis matters: those three are oral-cavity organisms that are</a:t>
            </a:r>
          </a:p>
          <a:p>
            <a:r>
              <a:t>repeatedly found enriched in colorectal tumour tissue. It is one of the most replicated findings</a:t>
            </a:r>
          </a:p>
          <a:p>
            <a:r>
              <a:t>in the field, which is exactly what makes it a good check on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SPECIFICITY - a modelling warning</a:t>
            </a:r>
          </a:p>
          <a:p/>
          <a:p>
            <a:r>
              <a:t>143 taxa are associated with more than 20 different diseases each. Faecalibacterium is depleted</a:t>
            </a:r>
          </a:p>
          <a:p>
            <a:r>
              <a:t>in 74. That is a general dysbiosis signal - a good disease-versus-health marker and a nearly</a:t>
            </a:r>
          </a:p>
          <a:p>
            <a:r>
              <a:t>useless disease-versus-disease one. The failure mode is nasty because it is silent: a taxon like</a:t>
            </a:r>
          </a:p>
          <a:p>
            <a:r>
              <a:t>that looks excellent to any univariate screen and will quietly degrade a multi-class model. So</a:t>
            </a:r>
          </a:p>
          <a:p>
            <a:r>
              <a:t>the specificity view surfaces it before modelling starts rather than after.</a:t>
            </a:r>
          </a:p>
          <a:p/>
          <a:p>
            <a:r>
              <a:t>PLAIN VERSION of "dysbiosis": a general shift away from a healthy microbial community - not a</a:t>
            </a:r>
          </a:p>
          <a:p>
            <a:r>
              <a:t>specific disease signature, just "something is off".</a:t>
            </a:r>
          </a:p>
          <a:p/>
          <a:p>
            <a:r>
              <a:t>IF ASKED "is that depletion real or an artifact?" - Plausibly both. Faecalibacterium is a</a:t>
            </a:r>
          </a:p>
          <a:p>
            <a:r>
              <a:t>dominant commensal, so it loses relative abundance whenever anything else blooms. That is a</a:t>
            </a:r>
          </a:p>
          <a:p>
            <a:r>
              <a:t>compositional effect as much as a biological one, and another reason to be careful with</a:t>
            </a:r>
          </a:p>
          <a:p>
            <a:r>
              <a:t>relative-abundance features.</a:t>
            </a:r>
          </a:p>
          <a:p/>
          <a:p>
            <a:r>
              <a:t>CUE: Tie it forward - this is why the feature question on slide 14 is not trivial.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THE PAYOFF - this is the headline</a:t>
            </a:r>
          </a:p>
          <a:p/>
          <a:p>
            <a:r>
              <a:t>This is what changed this week. To model per sample you need both covariates and a feature</a:t>
            </a:r>
          </a:p>
          <a:p>
            <a:r>
              <a:t>vector. Last week 135 samples had both. After the abundance ingestion runs, 29,863 samples carry</a:t>
            </a:r>
          </a:p>
          <a:p>
            <a:r>
              <a:t>taxonomic profiles and 11,708 have everything - roughly seven thousand cases and forty-seven</a:t>
            </a:r>
          </a:p>
          <a:p>
            <a:r>
              <a:t>hundred controls, spread across 97 cohorts with at least twenty usable samples each. So the</a:t>
            </a:r>
          </a:p>
          <a:p>
            <a:r>
              <a:t>bottleneck has moved: it is demographics now, not features. 169 studies report neither sex nor</a:t>
            </a:r>
          </a:p>
          <a:p>
            <a:r>
              <a:t>age.</a:t>
            </a:r>
          </a:p>
          <a:p/>
          <a:p>
            <a:r>
              <a:t>CUE: Pause after "135 to 11,708". That contrast is the single most important beat in the talk.</a:t>
            </a:r>
          </a:p>
          <a:p/>
          <a:p>
            <a:r>
              <a:t>THE RANK POINT, if he probes: 12,566 of those profiled samples now carry species as well as</a:t>
            </a:r>
          </a:p>
          <a:p>
            <a:r>
              <a:t>genus - those are the shotgun ones. The 16S samples cannot go below genus, so species coverage</a:t>
            </a:r>
          </a:p>
          <a:p>
            <a:r>
              <a:t>is a platform limit, not a pipeline gap. Abundances are proportions that sum to one WITHIN a</a:t>
            </a:r>
          </a:p>
          <a:p>
            <a:r>
              <a:t>rank, never across a sample, so on a dual-rank sample an unfiltered query returns a mixture</a:t>
            </a:r>
          </a:p>
          <a:p>
            <a:r>
              <a:t>summing to two. That is why v_abundance_genus and v_abundance_species exist - they make the</a:t>
            </a:r>
          </a:p>
          <a:p>
            <a:r>
              <a:t>rank-filtered path the default rather than something you have to remember.</a:t>
            </a:r>
          </a:p>
          <a:p/>
          <a:p>
            <a:r>
              <a:t>PLAIN VERSION of "covariate": the per-subject variables you need alongside the microbiome</a:t>
            </a:r>
          </a:p>
          <a:p>
            <a:r>
              <a:t>features - here sex and age. Without them you cannot adjust for the obvious confounders.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  LIMITATIONS</a:t>
            </a:r>
          </a:p>
          <a:p/>
          <a:p>
            <a:r>
              <a:t>Four things I would want stated before anyone uses this. Effect sizes come from different</a:t>
            </a:r>
          </a:p>
          <a:p>
            <a:r>
              <a:t>upstream pipelines and thresholds, so they rank taxa within a comparison but should not be</a:t>
            </a:r>
          </a:p>
          <a:p>
            <a:r>
              <a:t>pooled numerically across studies. Replication is thin, as we saw. Species coverage is</a:t>
            </a:r>
          </a:p>
          <a:p>
            <a:r>
              <a:t>shotgun-only - 12,566 of the 29,863 profiled samples - because 16S cannot resolve below genus.</a:t>
            </a:r>
          </a:p>
          <a:p>
            <a:r>
              <a:t>And phenotype is confounded with cohort: country, sequencing platform and study all travel with</a:t>
            </a:r>
          </a:p>
          <a:p>
            <a:r>
              <a:t>the disease label, so a between-study difference is not a biological one.</a:t>
            </a:r>
          </a:p>
          <a:p/>
          <a:p>
            <a:r>
              <a:t>CUE: End on the closing line - all of this is written into the schema as column comments and</a:t>
            </a:r>
          </a:p>
          <a:p>
            <a:r>
              <a:t>view headers, so it travels with the data instead of only living in this deck.</a:t>
            </a:r>
          </a:p>
          <a:p/>
          <a:p>
            <a:r>
              <a:t>PLAIN VERSION of "confounded with cohort": every sample from one study shares its country, its</a:t>
            </a:r>
          </a:p>
          <a:p>
            <a:r>
              <a:t>sequencing machine and its lab protocol. If the cases come from one study and the controls from</a:t>
            </a:r>
          </a:p>
          <a:p>
            <a:r>
              <a:t>another, any difference you find could be the lab rather than the disease.</a:t>
            </a:r>
          </a:p>
          <a:p/>
          <a:p>
            <a:r>
              <a:t>GAP TO RAISE YOURSELF if there is time: relative abundances are compositional - they are</a:t>
            </a:r>
          </a:p>
          <a:p>
            <a:r>
              <a:t>proportions forced to sum to one, so when one taxon rises every other must fall arithmetically,</a:t>
            </a:r>
          </a:p>
          <a:p>
            <a:r>
              <a:t>whether or not it changed biologically. The standard fix is a centred log-ratio transform before</a:t>
            </a:r>
          </a:p>
          <a:p>
            <a:r>
              <a:t>modelling. Not done yet; better you name it than he does.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  NEXT STEPS - end on the question</a:t>
            </a:r>
          </a:p>
          <a:p/>
          <a:p>
            <a:r>
              <a:t>Three things next. Close the demographic gap by extending the curatedMetagenomicData curation</a:t>
            </a:r>
          </a:p>
          <a:p>
            <a:r>
              <a:t>that already recovered 515 values. Design for the batch structure - study as a random effect,</a:t>
            </a:r>
          </a:p>
          <a:p>
            <a:r>
              <a:t>and hold out whole cohorts rather than random samples, since 156 subjects contribute more than</a:t>
            </a:r>
          </a:p>
          <a:p>
            <a:r>
              <a:t>one sample each. And handle compositionality before any modelling: a centred log-ratio transform</a:t>
            </a:r>
          </a:p>
          <a:p>
            <a:r>
              <a:t>on the abundance matrix, then a leave-one-cohort-out baseline.</a:t>
            </a:r>
          </a:p>
          <a:p/>
          <a:p>
            <a:r>
              <a:t>Then ask: the question I would most like your input on is which phenotype to take first for a</a:t>
            </a:r>
          </a:p>
          <a:p>
            <a:r>
              <a:t>modelling pass. Crohn's has 1,416 ready cases and ulcerative colitis 857, against 4,749</a:t>
            </a:r>
          </a:p>
          <a:p>
            <a:r>
              <a:t>controls. Those are the deepest, but deepest is not necessarily most useful.</a:t>
            </a:r>
          </a:p>
          <a:p/>
          <a:p>
            <a:r>
              <a:t>CUE: End on the question, not the list. Then stop talking and let him answer.</a:t>
            </a:r>
          </a:p>
          <a:p/>
          <a:p>
            <a:r>
              <a:t>PLAIN VERSION of "leave-one-cohort-out": train on all studies but one, test on the held-out</a:t>
            </a:r>
          </a:p>
          <a:p>
            <a:r>
              <a:t>study, rotate. It is the honest test here because a random split would put samples from the same</a:t>
            </a:r>
          </a:p>
          <a:p>
            <a:r>
              <a:t>study on both sides and flatter the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hyperlink" Target="https://brandcenter.med.nyu.edu/" TargetMode="External"/><Relationship Id="rId4" Type="http://schemas.openxmlformats.org/officeDocument/2006/relationships/hyperlink" Target="https://brandcenter.med.nyu.edu/use-the-brand/powerpoint-presentations/"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2"/>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D23DC7BA-05DD-C896-5262-37703314653E}"/>
              </a:ext>
            </a:extLst>
          </p:cNvPr>
          <p:cNvGrpSpPr>
            <a:grpSpLocks noChangeAspect="1"/>
          </p:cNvGrpSpPr>
          <p:nvPr userDrawn="1"/>
        </p:nvGrpSpPr>
        <p:grpSpPr>
          <a:xfrm>
            <a:off x="486872" y="385508"/>
            <a:ext cx="1496034" cy="649224"/>
            <a:chOff x="2138363" y="5326063"/>
            <a:chExt cx="1935162" cy="839788"/>
          </a:xfrm>
          <a:solidFill>
            <a:schemeClr val="bg1"/>
          </a:solidFill>
        </p:grpSpPr>
        <p:sp>
          <p:nvSpPr>
            <p:cNvPr id="6" name="Freeform 5">
              <a:extLst>
                <a:ext uri="{FF2B5EF4-FFF2-40B4-BE49-F238E27FC236}">
                  <a16:creationId xmlns:a16="http://schemas.microsoft.com/office/drawing/2014/main" id="{195BE840-3D72-22A7-AB5F-E97D6775A994}"/>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7E30D5D3-49A4-BB8C-7CF8-79A1E9AB1AB5}"/>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a:extLst>
                <a:ext uri="{FF2B5EF4-FFF2-40B4-BE49-F238E27FC236}">
                  <a16:creationId xmlns:a16="http://schemas.microsoft.com/office/drawing/2014/main" id="{FA969DAB-B68F-73C8-1D5A-A9D246382C28}"/>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Picture Placeholder 13">
            <a:extLst>
              <a:ext uri="{FF2B5EF4-FFF2-40B4-BE49-F238E27FC236}">
                <a16:creationId xmlns:a16="http://schemas.microsoft.com/office/drawing/2014/main" id="{7ECAB4B7-018A-0EBB-A58F-9FCA59C75D47}"/>
              </a:ext>
            </a:extLst>
          </p:cNvPr>
          <p:cNvSpPr>
            <a:spLocks noGrp="1"/>
          </p:cNvSpPr>
          <p:nvPr>
            <p:ph type="pic" sz="quarter" idx="10"/>
          </p:nvPr>
        </p:nvSpPr>
        <p:spPr>
          <a:xfrm>
            <a:off x="6103938" y="0"/>
            <a:ext cx="3040062" cy="5143500"/>
          </a:xfrm>
          <a:solidFill>
            <a:schemeClr val="bg1">
              <a:lumMod val="85000"/>
            </a:schemeClr>
          </a:solidFill>
        </p:spPr>
        <p:txBody>
          <a:bodyPr tIns="1005840"/>
          <a:lstStyle>
            <a:lvl1pPr algn="ctr">
              <a:defRPr>
                <a:solidFill>
                  <a:schemeClr val="tx2"/>
                </a:solidFill>
              </a:defRPr>
            </a:lvl1pPr>
          </a:lstStyle>
          <a:p>
            <a:r>
              <a:rPr lang="en-US"/>
              <a:t>Click icon to add picture</a:t>
            </a:r>
            <a:endParaRPr lang="en-US" dirty="0"/>
          </a:p>
        </p:txBody>
      </p:sp>
      <p:sp>
        <p:nvSpPr>
          <p:cNvPr id="9" name="Footer Placeholder 8">
            <a:extLst>
              <a:ext uri="{FF2B5EF4-FFF2-40B4-BE49-F238E27FC236}">
                <a16:creationId xmlns:a16="http://schemas.microsoft.com/office/drawing/2014/main" id="{4DC6EF85-3467-0339-FEE7-95DD7B8078A8}"/>
              </a:ext>
            </a:extLst>
          </p:cNvPr>
          <p:cNvSpPr>
            <a:spLocks noGrp="1"/>
          </p:cNvSpPr>
          <p:nvPr>
            <p:ph type="ftr" sz="quarter" idx="11"/>
          </p:nvPr>
        </p:nvSpPr>
        <p:spPr>
          <a:xfrm>
            <a:off x="495300" y="4593800"/>
            <a:ext cx="4084922" cy="232428"/>
          </a:xfrm>
        </p:spPr>
        <p:txBody>
          <a:bodyPr anchor="t" anchorCtr="0"/>
          <a:lstStyle>
            <a:lvl1pPr algn="l">
              <a:defRPr sz="1200" b="1">
                <a:solidFill>
                  <a:schemeClr val="bg1"/>
                </a:solidFill>
              </a:defRPr>
            </a:lvl1pPr>
          </a:lstStyle>
          <a:p>
            <a:r>
              <a:rPr lang="en-US"/>
              <a:t>Division/Department Name</a:t>
            </a:r>
            <a:endParaRPr lang="en-US" dirty="0"/>
          </a:p>
        </p:txBody>
      </p:sp>
      <p:sp>
        <p:nvSpPr>
          <p:cNvPr id="3" name="Subtitle 2"/>
          <p:cNvSpPr>
            <a:spLocks noGrp="1"/>
          </p:cNvSpPr>
          <p:nvPr>
            <p:ph type="subTitle" idx="1" hasCustomPrompt="1"/>
          </p:nvPr>
        </p:nvSpPr>
        <p:spPr>
          <a:xfrm>
            <a:off x="495300" y="3670570"/>
            <a:ext cx="4084922" cy="599777"/>
          </a:xfrm>
        </p:spPr>
        <p:txBody>
          <a:bodyPr anchor="b">
            <a:noAutofit/>
          </a:bodyPr>
          <a:lstStyle>
            <a:lvl1pPr marL="0" indent="0" algn="l">
              <a:lnSpc>
                <a:spcPct val="105000"/>
              </a:lnSpc>
              <a:buNone/>
              <a:defRPr sz="1800" b="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2" name="Title 1"/>
          <p:cNvSpPr>
            <a:spLocks noGrp="1"/>
          </p:cNvSpPr>
          <p:nvPr>
            <p:ph type="ctrTitle" hasCustomPrompt="1"/>
          </p:nvPr>
        </p:nvSpPr>
        <p:spPr>
          <a:xfrm>
            <a:off x="495300" y="1552575"/>
            <a:ext cx="5164836" cy="1751015"/>
          </a:xfrm>
        </p:spPr>
        <p:txBody>
          <a:bodyPr anchor="t" anchorCtr="0"/>
          <a:lstStyle>
            <a:lvl1pPr algn="l">
              <a:lnSpc>
                <a:spcPct val="83000"/>
              </a:lnSpc>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85061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p:bgPr>
        <a:solidFill>
          <a:schemeClr val="bg1"/>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D23DC7BA-05DD-C896-5262-37703314653E}"/>
              </a:ext>
            </a:extLst>
          </p:cNvPr>
          <p:cNvGrpSpPr>
            <a:grpSpLocks noChangeAspect="1"/>
          </p:cNvGrpSpPr>
          <p:nvPr userDrawn="1"/>
        </p:nvGrpSpPr>
        <p:grpSpPr>
          <a:xfrm>
            <a:off x="486872" y="385508"/>
            <a:ext cx="1496034" cy="649224"/>
            <a:chOff x="2138363" y="5326063"/>
            <a:chExt cx="1935162" cy="839788"/>
          </a:xfrm>
          <a:solidFill>
            <a:schemeClr val="tx2"/>
          </a:solidFill>
        </p:grpSpPr>
        <p:sp>
          <p:nvSpPr>
            <p:cNvPr id="6" name="Freeform 5">
              <a:extLst>
                <a:ext uri="{FF2B5EF4-FFF2-40B4-BE49-F238E27FC236}">
                  <a16:creationId xmlns:a16="http://schemas.microsoft.com/office/drawing/2014/main" id="{195BE840-3D72-22A7-AB5F-E97D6775A994}"/>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7E30D5D3-49A4-BB8C-7CF8-79A1E9AB1AB5}"/>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a:extLst>
                <a:ext uri="{FF2B5EF4-FFF2-40B4-BE49-F238E27FC236}">
                  <a16:creationId xmlns:a16="http://schemas.microsoft.com/office/drawing/2014/main" id="{FA969DAB-B68F-73C8-1D5A-A9D246382C28}"/>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Picture Placeholder 13">
            <a:extLst>
              <a:ext uri="{FF2B5EF4-FFF2-40B4-BE49-F238E27FC236}">
                <a16:creationId xmlns:a16="http://schemas.microsoft.com/office/drawing/2014/main" id="{7ECAB4B7-018A-0EBB-A58F-9FCA59C75D47}"/>
              </a:ext>
            </a:extLst>
          </p:cNvPr>
          <p:cNvSpPr>
            <a:spLocks noGrp="1"/>
          </p:cNvSpPr>
          <p:nvPr>
            <p:ph type="pic" sz="quarter" idx="10"/>
          </p:nvPr>
        </p:nvSpPr>
        <p:spPr>
          <a:xfrm>
            <a:off x="6103938" y="0"/>
            <a:ext cx="3040062" cy="5143500"/>
          </a:xfrm>
          <a:solidFill>
            <a:schemeClr val="bg1">
              <a:lumMod val="85000"/>
            </a:schemeClr>
          </a:solidFill>
        </p:spPr>
        <p:txBody>
          <a:bodyPr tIns="1005840"/>
          <a:lstStyle>
            <a:lvl1pPr algn="ctr">
              <a:defRPr>
                <a:solidFill>
                  <a:schemeClr val="tx2"/>
                </a:solidFill>
              </a:defRPr>
            </a:lvl1pPr>
          </a:lstStyle>
          <a:p>
            <a:r>
              <a:rPr lang="en-US"/>
              <a:t>Click icon to add picture</a:t>
            </a:r>
            <a:endParaRPr lang="en-US" dirty="0"/>
          </a:p>
        </p:txBody>
      </p:sp>
      <p:sp>
        <p:nvSpPr>
          <p:cNvPr id="9" name="Footer Placeholder 8">
            <a:extLst>
              <a:ext uri="{FF2B5EF4-FFF2-40B4-BE49-F238E27FC236}">
                <a16:creationId xmlns:a16="http://schemas.microsoft.com/office/drawing/2014/main" id="{A2006AE6-9538-1D18-17D3-DEE84CD46AE7}"/>
              </a:ext>
            </a:extLst>
          </p:cNvPr>
          <p:cNvSpPr>
            <a:spLocks noGrp="1"/>
          </p:cNvSpPr>
          <p:nvPr>
            <p:ph type="ftr" sz="quarter" idx="11"/>
          </p:nvPr>
        </p:nvSpPr>
        <p:spPr>
          <a:xfrm>
            <a:off x="495300" y="4596778"/>
            <a:ext cx="4084922" cy="221592"/>
          </a:xfrm>
        </p:spPr>
        <p:txBody>
          <a:bodyPr/>
          <a:lstStyle>
            <a:lvl1pPr algn="l">
              <a:defRPr sz="1200" b="1"/>
            </a:lvl1pPr>
          </a:lstStyle>
          <a:p>
            <a:r>
              <a:rPr lang="en-US"/>
              <a:t>Division/Department Name</a:t>
            </a:r>
            <a:endParaRPr lang="en-US" dirty="0"/>
          </a:p>
        </p:txBody>
      </p:sp>
      <p:sp>
        <p:nvSpPr>
          <p:cNvPr id="3" name="Subtitle 2"/>
          <p:cNvSpPr>
            <a:spLocks noGrp="1"/>
          </p:cNvSpPr>
          <p:nvPr>
            <p:ph type="subTitle" idx="1" hasCustomPrompt="1"/>
          </p:nvPr>
        </p:nvSpPr>
        <p:spPr>
          <a:xfrm>
            <a:off x="495300" y="3670570"/>
            <a:ext cx="4084922" cy="599777"/>
          </a:xfrm>
        </p:spPr>
        <p:txBody>
          <a:bodyPr anchor="b">
            <a:noAutofit/>
          </a:bodyPr>
          <a:lstStyle>
            <a:lvl1pPr marL="0" indent="0" algn="l">
              <a:lnSpc>
                <a:spcPct val="105000"/>
              </a:lnSpc>
              <a:buNone/>
              <a:defRPr sz="1800" b="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2" name="Title 1"/>
          <p:cNvSpPr>
            <a:spLocks noGrp="1"/>
          </p:cNvSpPr>
          <p:nvPr>
            <p:ph type="ctrTitle" hasCustomPrompt="1"/>
          </p:nvPr>
        </p:nvSpPr>
        <p:spPr>
          <a:xfrm>
            <a:off x="495300" y="1552575"/>
            <a:ext cx="5164836" cy="1751015"/>
          </a:xfrm>
        </p:spPr>
        <p:txBody>
          <a:bodyPr anchor="t" anchorCtr="0"/>
          <a:lstStyle>
            <a:lvl1pPr algn="l">
              <a:lnSpc>
                <a:spcPct val="83000"/>
              </a:lnSpc>
              <a:defRPr sz="36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275548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solidFill>
          <a:schemeClr val="tx2"/>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D23DC7BA-05DD-C896-5262-37703314653E}"/>
              </a:ext>
            </a:extLst>
          </p:cNvPr>
          <p:cNvGrpSpPr>
            <a:grpSpLocks noChangeAspect="1"/>
          </p:cNvGrpSpPr>
          <p:nvPr userDrawn="1"/>
        </p:nvGrpSpPr>
        <p:grpSpPr>
          <a:xfrm>
            <a:off x="486872" y="385508"/>
            <a:ext cx="1496034" cy="649224"/>
            <a:chOff x="2138363" y="5326063"/>
            <a:chExt cx="1935162" cy="839788"/>
          </a:xfrm>
          <a:solidFill>
            <a:schemeClr val="bg1"/>
          </a:solidFill>
        </p:grpSpPr>
        <p:sp>
          <p:nvSpPr>
            <p:cNvPr id="6" name="Freeform 5">
              <a:extLst>
                <a:ext uri="{FF2B5EF4-FFF2-40B4-BE49-F238E27FC236}">
                  <a16:creationId xmlns:a16="http://schemas.microsoft.com/office/drawing/2014/main" id="{195BE840-3D72-22A7-AB5F-E97D6775A994}"/>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7E30D5D3-49A4-BB8C-7CF8-79A1E9AB1AB5}"/>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a:extLst>
                <a:ext uri="{FF2B5EF4-FFF2-40B4-BE49-F238E27FC236}">
                  <a16:creationId xmlns:a16="http://schemas.microsoft.com/office/drawing/2014/main" id="{FA969DAB-B68F-73C8-1D5A-A9D246382C28}"/>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8">
            <a:extLst>
              <a:ext uri="{FF2B5EF4-FFF2-40B4-BE49-F238E27FC236}">
                <a16:creationId xmlns:a16="http://schemas.microsoft.com/office/drawing/2014/main" id="{38F23230-3DF8-DE8A-559D-BE0AB2D5FEAA}"/>
              </a:ext>
            </a:extLst>
          </p:cNvPr>
          <p:cNvSpPr>
            <a:spLocks noGrp="1"/>
          </p:cNvSpPr>
          <p:nvPr>
            <p:ph type="ftr" sz="quarter" idx="10"/>
          </p:nvPr>
        </p:nvSpPr>
        <p:spPr>
          <a:xfrm>
            <a:off x="495298" y="4600193"/>
            <a:ext cx="5912993" cy="229715"/>
          </a:xfrm>
        </p:spPr>
        <p:txBody>
          <a:bodyPr/>
          <a:lstStyle>
            <a:lvl1pPr algn="l">
              <a:defRPr sz="1200" b="1">
                <a:solidFill>
                  <a:schemeClr val="bg1"/>
                </a:solidFill>
              </a:defRPr>
            </a:lvl1pPr>
          </a:lstStyle>
          <a:p>
            <a:r>
              <a:rPr lang="en-US"/>
              <a:t>Division/Department Name</a:t>
            </a:r>
            <a:endParaRPr lang="en-US" dirty="0"/>
          </a:p>
        </p:txBody>
      </p:sp>
      <p:sp>
        <p:nvSpPr>
          <p:cNvPr id="3" name="Subtitle 2"/>
          <p:cNvSpPr>
            <a:spLocks noGrp="1"/>
          </p:cNvSpPr>
          <p:nvPr>
            <p:ph type="subTitle" idx="1" hasCustomPrompt="1"/>
          </p:nvPr>
        </p:nvSpPr>
        <p:spPr>
          <a:xfrm>
            <a:off x="495300" y="3670570"/>
            <a:ext cx="5912994" cy="599777"/>
          </a:xfrm>
        </p:spPr>
        <p:txBody>
          <a:bodyPr anchor="b">
            <a:noAutofit/>
          </a:bodyPr>
          <a:lstStyle>
            <a:lvl1pPr marL="0" indent="0" algn="l">
              <a:lnSpc>
                <a:spcPct val="105000"/>
              </a:lnSpc>
              <a:buNone/>
              <a:defRPr sz="1800" b="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2" name="Title 1"/>
          <p:cNvSpPr>
            <a:spLocks noGrp="1"/>
          </p:cNvSpPr>
          <p:nvPr>
            <p:ph type="ctrTitle" hasCustomPrompt="1"/>
          </p:nvPr>
        </p:nvSpPr>
        <p:spPr>
          <a:xfrm>
            <a:off x="495299" y="1552575"/>
            <a:ext cx="5912995" cy="1751015"/>
          </a:xfrm>
        </p:spPr>
        <p:txBody>
          <a:bodyPr anchor="t" anchorCtr="0"/>
          <a:lstStyle>
            <a:lvl1pPr algn="l">
              <a:lnSpc>
                <a:spcPct val="83000"/>
              </a:lnSpc>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49368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2"/>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FAF1F3C1-C16C-989D-EAE2-F2287A0F0663}"/>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6" name="Freeform 5">
              <a:extLst>
                <a:ext uri="{FF2B5EF4-FFF2-40B4-BE49-F238E27FC236}">
                  <a16:creationId xmlns:a16="http://schemas.microsoft.com/office/drawing/2014/main" id="{3CA3284D-F6E0-B56E-F1D6-E52750C2C68F}"/>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 name="Freeform 6">
              <a:extLst>
                <a:ext uri="{FF2B5EF4-FFF2-40B4-BE49-F238E27FC236}">
                  <a16:creationId xmlns:a16="http://schemas.microsoft.com/office/drawing/2014/main" id="{2CAB77D5-A190-E8B3-688E-C8332A3B532D}"/>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 name="Freeform 7">
              <a:extLst>
                <a:ext uri="{FF2B5EF4-FFF2-40B4-BE49-F238E27FC236}">
                  <a16:creationId xmlns:a16="http://schemas.microsoft.com/office/drawing/2014/main" id="{65819F30-5F3E-8B67-D458-D7A420D6C39D}"/>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3" name="Slide Number Placeholder 5">
            <a:extLst>
              <a:ext uri="{FF2B5EF4-FFF2-40B4-BE49-F238E27FC236}">
                <a16:creationId xmlns:a16="http://schemas.microsoft.com/office/drawing/2014/main" id="{72F7D3B8-F8F0-7738-693B-1FDED3B190DC}"/>
              </a:ext>
            </a:extLst>
          </p:cNvPr>
          <p:cNvSpPr>
            <a:spLocks noGrp="1"/>
          </p:cNvSpPr>
          <p:nvPr>
            <p:ph type="sldNum" sz="quarter" idx="4"/>
          </p:nvPr>
        </p:nvSpPr>
        <p:spPr>
          <a:xfrm>
            <a:off x="8326358" y="4514316"/>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9" name="Footer Placeholder 8">
            <a:extLst>
              <a:ext uri="{FF2B5EF4-FFF2-40B4-BE49-F238E27FC236}">
                <a16:creationId xmlns:a16="http://schemas.microsoft.com/office/drawing/2014/main" id="{4DB310CF-4BF3-06B1-7E0F-BD060268850B}"/>
              </a:ext>
            </a:extLst>
          </p:cNvPr>
          <p:cNvSpPr>
            <a:spLocks noGrp="1"/>
          </p:cNvSpPr>
          <p:nvPr>
            <p:ph type="ftr" sz="quarter" idx="10"/>
          </p:nvPr>
        </p:nvSpPr>
        <p:spPr/>
        <p:txBody>
          <a:bodyPr/>
          <a:lstStyle>
            <a:lvl1pPr>
              <a:defRPr>
                <a:solidFill>
                  <a:schemeClr val="bg1"/>
                </a:solidFill>
              </a:defRPr>
            </a:lvl1pPr>
          </a:lstStyle>
          <a:p>
            <a:r>
              <a:rPr lang="en-US" dirty="0"/>
              <a:t>Division/Department Name</a:t>
            </a:r>
          </a:p>
        </p:txBody>
      </p:sp>
      <p:sp>
        <p:nvSpPr>
          <p:cNvPr id="2" name="Title 1"/>
          <p:cNvSpPr>
            <a:spLocks noGrp="1"/>
          </p:cNvSpPr>
          <p:nvPr>
            <p:ph type="title" hasCustomPrompt="1"/>
          </p:nvPr>
        </p:nvSpPr>
        <p:spPr>
          <a:xfrm>
            <a:off x="495300" y="438149"/>
            <a:ext cx="5007312" cy="2174569"/>
          </a:xfrm>
        </p:spPr>
        <p:txBody>
          <a:bodyPr anchor="t" anchorCtr="0"/>
          <a:lstStyle>
            <a:lvl1pPr>
              <a:lnSpc>
                <a:spcPct val="85000"/>
              </a:lnSpc>
              <a:defRPr sz="45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4109047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18F5C714-8EA7-9E55-9977-F1AF1237AAFC}"/>
              </a:ext>
            </a:extLst>
          </p:cNvPr>
          <p:cNvSpPr>
            <a:spLocks noGrp="1"/>
          </p:cNvSpPr>
          <p:nvPr>
            <p:ph type="sldNum" sz="quarter" idx="4"/>
          </p:nvPr>
        </p:nvSpPr>
        <p:spPr>
          <a:xfrm>
            <a:off x="8345303" y="4512952"/>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5" name="Footer Placeholder 4">
            <a:extLst>
              <a:ext uri="{FF2B5EF4-FFF2-40B4-BE49-F238E27FC236}">
                <a16:creationId xmlns:a16="http://schemas.microsoft.com/office/drawing/2014/main" id="{CA2931FF-A3A8-84A4-6165-E18E40997951}"/>
              </a:ext>
            </a:extLst>
          </p:cNvPr>
          <p:cNvSpPr>
            <a:spLocks noGrp="1"/>
          </p:cNvSpPr>
          <p:nvPr>
            <p:ph type="ftr" sz="quarter" idx="11"/>
          </p:nvPr>
        </p:nvSpPr>
        <p:spPr/>
        <p:txBody>
          <a:bodyPr/>
          <a:lstStyle/>
          <a:p>
            <a:r>
              <a:rPr lang="en-US"/>
              <a:t>Division/Department Name</a:t>
            </a:r>
            <a:endParaRPr lang="en-US" dirty="0"/>
          </a:p>
        </p:txBody>
      </p:sp>
      <p:sp>
        <p:nvSpPr>
          <p:cNvPr id="7" name="Content Placeholder 6">
            <a:extLst>
              <a:ext uri="{FF2B5EF4-FFF2-40B4-BE49-F238E27FC236}">
                <a16:creationId xmlns:a16="http://schemas.microsoft.com/office/drawing/2014/main" id="{FB858942-9006-7DB7-7324-97FBE0354485}"/>
              </a:ext>
            </a:extLst>
          </p:cNvPr>
          <p:cNvSpPr>
            <a:spLocks noGrp="1"/>
          </p:cNvSpPr>
          <p:nvPr>
            <p:ph sz="quarter" idx="10" hasCustomPrompt="1"/>
          </p:nvPr>
        </p:nvSpPr>
        <p:spPr>
          <a:xfrm>
            <a:off x="495300" y="1554480"/>
            <a:ext cx="7277100" cy="2651760"/>
          </a:xfrm>
        </p:spPr>
        <p:txBody>
          <a:bodyPr/>
          <a:lstStyle>
            <a:lvl1pPr>
              <a:defRPr>
                <a:solidFill>
                  <a:schemeClr val="accent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53826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Purple">
    <p:bg>
      <p:bgPr>
        <a:solidFill>
          <a:schemeClr val="tx2"/>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76B21FAE-D45F-2C74-39A2-920DA35557EE}"/>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6" name="Freeform 5">
              <a:extLst>
                <a:ext uri="{FF2B5EF4-FFF2-40B4-BE49-F238E27FC236}">
                  <a16:creationId xmlns:a16="http://schemas.microsoft.com/office/drawing/2014/main" id="{1C29AC8D-E1E5-7A43-9525-CAF7944BADA6}"/>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B414E0D6-3E3B-D00E-1F78-6AB1871C7FAB}"/>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a:extLst>
                <a:ext uri="{FF2B5EF4-FFF2-40B4-BE49-F238E27FC236}">
                  <a16:creationId xmlns:a16="http://schemas.microsoft.com/office/drawing/2014/main" id="{CA43EE86-57BB-DEE5-7171-627D4A3C9B3A}"/>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5">
            <a:extLst>
              <a:ext uri="{FF2B5EF4-FFF2-40B4-BE49-F238E27FC236}">
                <a16:creationId xmlns:a16="http://schemas.microsoft.com/office/drawing/2014/main" id="{18F5C714-8EA7-9E55-9977-F1AF1237AAFC}"/>
              </a:ext>
            </a:extLst>
          </p:cNvPr>
          <p:cNvSpPr>
            <a:spLocks noGrp="1"/>
          </p:cNvSpPr>
          <p:nvPr>
            <p:ph type="sldNum" sz="quarter" idx="4"/>
          </p:nvPr>
        </p:nvSpPr>
        <p:spPr>
          <a:xfrm>
            <a:off x="8345303" y="4512952"/>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0" name="Footer Placeholder 9">
            <a:extLst>
              <a:ext uri="{FF2B5EF4-FFF2-40B4-BE49-F238E27FC236}">
                <a16:creationId xmlns:a16="http://schemas.microsoft.com/office/drawing/2014/main" id="{1FFD0DA0-B9FF-284A-77E3-576AA4283A20}"/>
              </a:ext>
            </a:extLst>
          </p:cNvPr>
          <p:cNvSpPr>
            <a:spLocks noGrp="1"/>
          </p:cNvSpPr>
          <p:nvPr>
            <p:ph type="ftr" sz="quarter" idx="11"/>
          </p:nvPr>
        </p:nvSpPr>
        <p:spPr/>
        <p:txBody>
          <a:bodyPr/>
          <a:lstStyle>
            <a:lvl1pPr>
              <a:defRPr>
                <a:solidFill>
                  <a:schemeClr val="bg1"/>
                </a:solidFill>
              </a:defRPr>
            </a:lvl1pPr>
          </a:lstStyle>
          <a:p>
            <a:r>
              <a:rPr lang="en-US" dirty="0"/>
              <a:t>Division/Department Name</a:t>
            </a:r>
          </a:p>
        </p:txBody>
      </p:sp>
      <p:sp>
        <p:nvSpPr>
          <p:cNvPr id="7" name="Content Placeholder 6">
            <a:extLst>
              <a:ext uri="{FF2B5EF4-FFF2-40B4-BE49-F238E27FC236}">
                <a16:creationId xmlns:a16="http://schemas.microsoft.com/office/drawing/2014/main" id="{FB858942-9006-7DB7-7324-97FBE0354485}"/>
              </a:ext>
            </a:extLst>
          </p:cNvPr>
          <p:cNvSpPr>
            <a:spLocks noGrp="1"/>
          </p:cNvSpPr>
          <p:nvPr>
            <p:ph sz="quarter" idx="10" hasCustomPrompt="1"/>
          </p:nvPr>
        </p:nvSpPr>
        <p:spPr>
          <a:xfrm>
            <a:off x="495300" y="1554480"/>
            <a:ext cx="7277100" cy="26517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671069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3FC6688-E25F-29B9-8DD2-7C7C3C4414E4}"/>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5" name="Footer Placeholder 4">
            <a:extLst>
              <a:ext uri="{FF2B5EF4-FFF2-40B4-BE49-F238E27FC236}">
                <a16:creationId xmlns:a16="http://schemas.microsoft.com/office/drawing/2014/main" id="{051AEF04-DE35-ACB4-664A-24D76B505A41}"/>
              </a:ext>
            </a:extLst>
          </p:cNvPr>
          <p:cNvSpPr>
            <a:spLocks noGrp="1"/>
          </p:cNvSpPr>
          <p:nvPr>
            <p:ph type="ftr" sz="quarter" idx="14"/>
          </p:nvPr>
        </p:nvSpPr>
        <p:spPr/>
        <p:txBody>
          <a:bodyPr/>
          <a:lstStyle/>
          <a:p>
            <a:r>
              <a:rPr lang="en-US"/>
              <a:t>Division/Department Name</a:t>
            </a:r>
            <a:endParaRPr lang="en-US" dirty="0"/>
          </a:p>
        </p:txBody>
      </p:sp>
      <p:sp>
        <p:nvSpPr>
          <p:cNvPr id="9" name="Content Placeholder 2">
            <a:extLst>
              <a:ext uri="{FF2B5EF4-FFF2-40B4-BE49-F238E27FC236}">
                <a16:creationId xmlns:a16="http://schemas.microsoft.com/office/drawing/2014/main" id="{07F52610-DBFC-9EDF-6011-28AA66529BA0}"/>
              </a:ext>
            </a:extLst>
          </p:cNvPr>
          <p:cNvSpPr>
            <a:spLocks noGrp="1"/>
          </p:cNvSpPr>
          <p:nvPr>
            <p:ph idx="13" hasCustomPrompt="1"/>
          </p:nvPr>
        </p:nvSpPr>
        <p:spPr>
          <a:xfrm>
            <a:off x="4838699" y="1554480"/>
            <a:ext cx="3771901" cy="2671244"/>
          </a:xfrm>
        </p:spPr>
        <p:txBody>
          <a:bodyPr/>
          <a:lstStyle>
            <a:lvl1pPr>
              <a:lnSpc>
                <a:spcPct val="112000"/>
              </a:lnSpc>
              <a:defRPr sz="1600"/>
            </a:lvl1pPr>
            <a:lvl2pPr>
              <a:lnSpc>
                <a:spcPct val="112000"/>
              </a:lnSpc>
              <a:defRPr sz="1600"/>
            </a:lvl2pPr>
            <a:lvl3pPr>
              <a:lnSpc>
                <a:spcPct val="112000"/>
              </a:lnSpc>
              <a:defRPr sz="1600"/>
            </a:lvl3pPr>
            <a:lvl4pPr>
              <a:lnSpc>
                <a:spcPct val="112000"/>
              </a:lnSpc>
              <a:defRPr sz="1600"/>
            </a:lvl4pPr>
            <a:lvl5pPr>
              <a:lnSpc>
                <a:spcPct val="11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idx="1" hasCustomPrompt="1"/>
          </p:nvPr>
        </p:nvSpPr>
        <p:spPr>
          <a:xfrm>
            <a:off x="495300" y="1554480"/>
            <a:ext cx="3810001" cy="2671245"/>
          </a:xfrm>
        </p:spPr>
        <p:txBody>
          <a:bodyPr/>
          <a:lstStyle>
            <a:lvl1pPr>
              <a:lnSpc>
                <a:spcPct val="112000"/>
              </a:lnSpc>
              <a:defRPr sz="1600"/>
            </a:lvl1pPr>
            <a:lvl2pPr>
              <a:lnSpc>
                <a:spcPct val="112000"/>
              </a:lnSpc>
              <a:defRPr sz="1600"/>
            </a:lvl2pPr>
            <a:lvl3pPr>
              <a:lnSpc>
                <a:spcPct val="112000"/>
              </a:lnSpc>
              <a:defRPr sz="1600"/>
            </a:lvl3pPr>
            <a:lvl4pPr>
              <a:lnSpc>
                <a:spcPct val="112000"/>
              </a:lnSpc>
              <a:defRPr sz="1600"/>
            </a:lvl4pPr>
            <a:lvl5pPr>
              <a:lnSpc>
                <a:spcPct val="11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456802864"/>
      </p:ext>
    </p:extLst>
  </p:cSld>
  <p:clrMapOvr>
    <a:masterClrMapping/>
  </p:clrMapOvr>
  <p:extLst>
    <p:ext uri="{DCECCB84-F9BA-43D5-87BE-67443E8EF086}">
      <p15:sldGuideLst xmlns:p15="http://schemas.microsoft.com/office/powerpoint/2012/main">
        <p15:guide id="2" pos="2712" userDrawn="1">
          <p15:clr>
            <a:srgbClr val="FBAE40"/>
          </p15:clr>
        </p15:guide>
        <p15:guide id="3" pos="30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Column Text - Purple">
    <p:bg>
      <p:bgPr>
        <a:solidFill>
          <a:schemeClr val="tx2"/>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AAE8EEEB-29E3-EDA3-1073-4EC90A4C432E}"/>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7" name="Freeform 6">
              <a:extLst>
                <a:ext uri="{FF2B5EF4-FFF2-40B4-BE49-F238E27FC236}">
                  <a16:creationId xmlns:a16="http://schemas.microsoft.com/office/drawing/2014/main" id="{E46C8F5D-D34C-8152-7D82-919C3530EA70}"/>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24F66CA7-2A56-D9EB-4CB8-EFBC06A66682}"/>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42D65B68-38F9-1830-1236-45E669ED07BD}"/>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Slide Number Placeholder 5">
            <a:extLst>
              <a:ext uri="{FF2B5EF4-FFF2-40B4-BE49-F238E27FC236}">
                <a16:creationId xmlns:a16="http://schemas.microsoft.com/office/drawing/2014/main" id="{33FC6688-E25F-29B9-8DD2-7C7C3C4414E4}"/>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1" name="Footer Placeholder 10">
            <a:extLst>
              <a:ext uri="{FF2B5EF4-FFF2-40B4-BE49-F238E27FC236}">
                <a16:creationId xmlns:a16="http://schemas.microsoft.com/office/drawing/2014/main" id="{B334A6DE-58D8-0387-D000-CC316F5C9954}"/>
              </a:ext>
            </a:extLst>
          </p:cNvPr>
          <p:cNvSpPr>
            <a:spLocks noGrp="1"/>
          </p:cNvSpPr>
          <p:nvPr>
            <p:ph type="ftr" sz="quarter" idx="14"/>
          </p:nvPr>
        </p:nvSpPr>
        <p:spPr/>
        <p:txBody>
          <a:bodyPr/>
          <a:lstStyle>
            <a:lvl1pPr>
              <a:defRPr>
                <a:solidFill>
                  <a:schemeClr val="bg1"/>
                </a:solidFill>
              </a:defRPr>
            </a:lvl1pPr>
          </a:lstStyle>
          <a:p>
            <a:r>
              <a:rPr lang="en-US"/>
              <a:t>Division/Department Name</a:t>
            </a:r>
            <a:endParaRPr lang="en-US" dirty="0"/>
          </a:p>
        </p:txBody>
      </p:sp>
      <p:sp>
        <p:nvSpPr>
          <p:cNvPr id="9" name="Content Placeholder 2">
            <a:extLst>
              <a:ext uri="{FF2B5EF4-FFF2-40B4-BE49-F238E27FC236}">
                <a16:creationId xmlns:a16="http://schemas.microsoft.com/office/drawing/2014/main" id="{07F52610-DBFC-9EDF-6011-28AA66529BA0}"/>
              </a:ext>
            </a:extLst>
          </p:cNvPr>
          <p:cNvSpPr>
            <a:spLocks noGrp="1"/>
          </p:cNvSpPr>
          <p:nvPr>
            <p:ph idx="13" hasCustomPrompt="1"/>
          </p:nvPr>
        </p:nvSpPr>
        <p:spPr>
          <a:xfrm>
            <a:off x="4838699" y="1554480"/>
            <a:ext cx="3771901" cy="2671244"/>
          </a:xfrm>
        </p:spPr>
        <p:txBody>
          <a:bodyPr/>
          <a:lstStyle>
            <a:lvl1pPr>
              <a:lnSpc>
                <a:spcPct val="112000"/>
              </a:lnSpc>
              <a:defRPr sz="1600">
                <a:solidFill>
                  <a:schemeClr val="bg1"/>
                </a:solidFill>
              </a:defRPr>
            </a:lvl1pPr>
            <a:lvl2pPr>
              <a:lnSpc>
                <a:spcPct val="112000"/>
              </a:lnSpc>
              <a:defRPr sz="1600">
                <a:solidFill>
                  <a:schemeClr val="bg1"/>
                </a:solidFill>
              </a:defRPr>
            </a:lvl2pPr>
            <a:lvl3pPr>
              <a:lnSpc>
                <a:spcPct val="112000"/>
              </a:lnSpc>
              <a:defRPr sz="1600">
                <a:solidFill>
                  <a:schemeClr val="bg1"/>
                </a:solidFill>
              </a:defRPr>
            </a:lvl3pPr>
            <a:lvl4pPr>
              <a:lnSpc>
                <a:spcPct val="112000"/>
              </a:lnSpc>
              <a:defRPr sz="1600">
                <a:solidFill>
                  <a:schemeClr val="bg1"/>
                </a:solidFill>
              </a:defRPr>
            </a:lvl4pPr>
            <a:lvl5pPr>
              <a:lnSpc>
                <a:spcPct val="112000"/>
              </a:lnSpc>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idx="1" hasCustomPrompt="1"/>
          </p:nvPr>
        </p:nvSpPr>
        <p:spPr>
          <a:xfrm>
            <a:off x="495300" y="1554480"/>
            <a:ext cx="3810001" cy="2671245"/>
          </a:xfrm>
        </p:spPr>
        <p:txBody>
          <a:bodyPr/>
          <a:lstStyle>
            <a:lvl1pPr>
              <a:lnSpc>
                <a:spcPct val="112000"/>
              </a:lnSpc>
              <a:defRPr sz="1600">
                <a:solidFill>
                  <a:schemeClr val="bg1"/>
                </a:solidFill>
              </a:defRPr>
            </a:lvl1pPr>
            <a:lvl2pPr>
              <a:lnSpc>
                <a:spcPct val="112000"/>
              </a:lnSpc>
              <a:defRPr sz="1600">
                <a:solidFill>
                  <a:schemeClr val="bg1"/>
                </a:solidFill>
              </a:defRPr>
            </a:lvl2pPr>
            <a:lvl3pPr>
              <a:lnSpc>
                <a:spcPct val="112000"/>
              </a:lnSpc>
              <a:defRPr sz="1600">
                <a:solidFill>
                  <a:schemeClr val="bg1"/>
                </a:solidFill>
              </a:defRPr>
            </a:lvl3pPr>
            <a:lvl4pPr>
              <a:lnSpc>
                <a:spcPct val="112000"/>
              </a:lnSpc>
              <a:defRPr sz="1600">
                <a:solidFill>
                  <a:schemeClr val="bg1"/>
                </a:solidFill>
              </a:defRPr>
            </a:lvl4pPr>
            <a:lvl5pPr>
              <a:lnSpc>
                <a:spcPct val="112000"/>
              </a:lnSpc>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289820476"/>
      </p:ext>
    </p:extLst>
  </p:cSld>
  <p:clrMapOvr>
    <a:masterClrMapping/>
  </p:clrMapOvr>
  <p:extLst>
    <p:ext uri="{DCECCB84-F9BA-43D5-87BE-67443E8EF086}">
      <p15:sldGuideLst xmlns:p15="http://schemas.microsoft.com/office/powerpoint/2012/main">
        <p15:guide id="2" pos="2712" userDrawn="1">
          <p15:clr>
            <a:srgbClr val="FBAE40"/>
          </p15:clr>
        </p15:guide>
        <p15:guide id="3" pos="30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and Quot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E45C75C-DC9C-1D59-2DE3-017E4E9C0BDE}"/>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5" name="Footer Placeholder 4">
            <a:extLst>
              <a:ext uri="{FF2B5EF4-FFF2-40B4-BE49-F238E27FC236}">
                <a16:creationId xmlns:a16="http://schemas.microsoft.com/office/drawing/2014/main" id="{4D126E19-C5C6-60E1-8D49-FE78D32B2E55}"/>
              </a:ext>
            </a:extLst>
          </p:cNvPr>
          <p:cNvSpPr>
            <a:spLocks noGrp="1"/>
          </p:cNvSpPr>
          <p:nvPr>
            <p:ph type="ftr" sz="quarter" idx="14"/>
          </p:nvPr>
        </p:nvSpPr>
        <p:spPr/>
        <p:txBody>
          <a:bodyPr/>
          <a:lstStyle/>
          <a:p>
            <a:r>
              <a:rPr lang="en-US"/>
              <a:t>Division/Department Name</a:t>
            </a:r>
            <a:endParaRPr lang="en-US" dirty="0"/>
          </a:p>
        </p:txBody>
      </p:sp>
      <p:sp>
        <p:nvSpPr>
          <p:cNvPr id="8" name="Content Placeholder 2">
            <a:extLst>
              <a:ext uri="{FF2B5EF4-FFF2-40B4-BE49-F238E27FC236}">
                <a16:creationId xmlns:a16="http://schemas.microsoft.com/office/drawing/2014/main" id="{B576F7DD-4DB1-0669-5356-62659CD9B9F3}"/>
              </a:ext>
            </a:extLst>
          </p:cNvPr>
          <p:cNvSpPr>
            <a:spLocks noGrp="1"/>
          </p:cNvSpPr>
          <p:nvPr>
            <p:ph idx="13" hasCustomPrompt="1"/>
          </p:nvPr>
        </p:nvSpPr>
        <p:spPr>
          <a:xfrm>
            <a:off x="4838701" y="1554480"/>
            <a:ext cx="3771900" cy="2667394"/>
          </a:xfrm>
        </p:spPr>
        <p:txBody>
          <a:bodyPr/>
          <a:lstStyle>
            <a:lvl1pPr>
              <a:lnSpc>
                <a:spcPct val="82000"/>
              </a:lnSpc>
              <a:defRPr sz="4500" b="0">
                <a:solidFill>
                  <a:schemeClr val="accent1"/>
                </a:solidFill>
              </a:defRPr>
            </a:lvl1pPr>
            <a:lvl2pPr>
              <a:lnSpc>
                <a:spcPct val="115000"/>
              </a:lnSpc>
              <a:defRPr/>
            </a:lvl2pPr>
            <a:lvl3pPr>
              <a:lnSpc>
                <a:spcPct val="115000"/>
              </a:lnSpc>
              <a:defRPr/>
            </a:lvl3pPr>
            <a:lvl4pPr>
              <a:lnSpc>
                <a:spcPct val="115000"/>
              </a:lnSpc>
              <a:defRPr/>
            </a:lvl4pPr>
            <a:lvl5pPr>
              <a:lnSpc>
                <a:spcPct val="115000"/>
              </a:lnSpc>
              <a:defRPr/>
            </a:lvl5pPr>
          </a:lstStyle>
          <a:p>
            <a:pPr lvl="0"/>
            <a:r>
              <a:rPr lang="en-US" dirty="0"/>
              <a:t>Click to edit master text styles</a:t>
            </a:r>
          </a:p>
        </p:txBody>
      </p:sp>
      <p:sp>
        <p:nvSpPr>
          <p:cNvPr id="3" name="Content Placeholder 2"/>
          <p:cNvSpPr>
            <a:spLocks noGrp="1"/>
          </p:cNvSpPr>
          <p:nvPr>
            <p:ph idx="1" hasCustomPrompt="1"/>
          </p:nvPr>
        </p:nvSpPr>
        <p:spPr>
          <a:xfrm>
            <a:off x="495300" y="1554480"/>
            <a:ext cx="3810000" cy="2676918"/>
          </a:xfrm>
        </p:spPr>
        <p:txBody>
          <a:bodyPr/>
          <a:lstStyle>
            <a:lvl1pPr>
              <a:lnSpc>
                <a:spcPct val="112000"/>
              </a:lnSpc>
              <a:defRPr sz="1600">
                <a:solidFill>
                  <a:schemeClr val="accent1"/>
                </a:solidFill>
              </a:defRPr>
            </a:lvl1pPr>
            <a:lvl2pPr>
              <a:lnSpc>
                <a:spcPct val="112000"/>
              </a:lnSpc>
              <a:defRPr sz="1600"/>
            </a:lvl2pPr>
            <a:lvl3pPr>
              <a:lnSpc>
                <a:spcPct val="112000"/>
              </a:lnSpc>
              <a:defRPr sz="1600"/>
            </a:lvl3pPr>
            <a:lvl4pPr>
              <a:lnSpc>
                <a:spcPct val="112000"/>
              </a:lnSpc>
              <a:defRPr sz="1600"/>
            </a:lvl4pPr>
            <a:lvl5pPr>
              <a:lnSpc>
                <a:spcPct val="11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590424832"/>
      </p:ext>
    </p:extLst>
  </p:cSld>
  <p:clrMapOvr>
    <a:masterClrMapping/>
  </p:clrMapOvr>
  <p:extLst>
    <p:ext uri="{DCECCB84-F9BA-43D5-87BE-67443E8EF086}">
      <p15:sldGuideLst xmlns:p15="http://schemas.microsoft.com/office/powerpoint/2012/main">
        <p15:guide id="3" pos="2712" userDrawn="1">
          <p15:clr>
            <a:srgbClr val="FBAE40"/>
          </p15:clr>
        </p15:guide>
        <p15:guide id="4" pos="304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and Quote - Purple">
    <p:bg>
      <p:bgPr>
        <a:solidFill>
          <a:schemeClr val="tx2"/>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375D36B3-9D30-63D1-E227-157F98B8F466}"/>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7" name="Freeform 6">
              <a:extLst>
                <a:ext uri="{FF2B5EF4-FFF2-40B4-BE49-F238E27FC236}">
                  <a16:creationId xmlns:a16="http://schemas.microsoft.com/office/drawing/2014/main" id="{5D99CEA3-1C73-EE7C-BCE3-FA910C1712B4}"/>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6">
              <a:extLst>
                <a:ext uri="{FF2B5EF4-FFF2-40B4-BE49-F238E27FC236}">
                  <a16:creationId xmlns:a16="http://schemas.microsoft.com/office/drawing/2014/main" id="{17E644CC-C5AC-9BAF-639A-4295B814B340}"/>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4477FA51-88CF-45CD-393F-3A76410AC029}"/>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Slide Number Placeholder 5">
            <a:extLst>
              <a:ext uri="{FF2B5EF4-FFF2-40B4-BE49-F238E27FC236}">
                <a16:creationId xmlns:a16="http://schemas.microsoft.com/office/drawing/2014/main" id="{BE45C75C-DC9C-1D59-2DE3-017E4E9C0BDE}"/>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1" name="Footer Placeholder 10">
            <a:extLst>
              <a:ext uri="{FF2B5EF4-FFF2-40B4-BE49-F238E27FC236}">
                <a16:creationId xmlns:a16="http://schemas.microsoft.com/office/drawing/2014/main" id="{83CE6D6A-2BD9-E7A4-B04F-B459D9657908}"/>
              </a:ext>
            </a:extLst>
          </p:cNvPr>
          <p:cNvSpPr>
            <a:spLocks noGrp="1"/>
          </p:cNvSpPr>
          <p:nvPr>
            <p:ph type="ftr" sz="quarter" idx="14"/>
          </p:nvPr>
        </p:nvSpPr>
        <p:spPr/>
        <p:txBody>
          <a:bodyPr/>
          <a:lstStyle>
            <a:lvl1pPr>
              <a:defRPr>
                <a:solidFill>
                  <a:schemeClr val="bg1"/>
                </a:solidFill>
              </a:defRPr>
            </a:lvl1pPr>
          </a:lstStyle>
          <a:p>
            <a:r>
              <a:rPr lang="en-US"/>
              <a:t>Division/Department Name</a:t>
            </a:r>
            <a:endParaRPr lang="en-US" dirty="0"/>
          </a:p>
        </p:txBody>
      </p:sp>
      <p:sp>
        <p:nvSpPr>
          <p:cNvPr id="8" name="Content Placeholder 2">
            <a:extLst>
              <a:ext uri="{FF2B5EF4-FFF2-40B4-BE49-F238E27FC236}">
                <a16:creationId xmlns:a16="http://schemas.microsoft.com/office/drawing/2014/main" id="{B576F7DD-4DB1-0669-5356-62659CD9B9F3}"/>
              </a:ext>
            </a:extLst>
          </p:cNvPr>
          <p:cNvSpPr>
            <a:spLocks noGrp="1"/>
          </p:cNvSpPr>
          <p:nvPr>
            <p:ph idx="13" hasCustomPrompt="1"/>
          </p:nvPr>
        </p:nvSpPr>
        <p:spPr>
          <a:xfrm>
            <a:off x="4838701" y="1554480"/>
            <a:ext cx="3771900" cy="2667394"/>
          </a:xfrm>
        </p:spPr>
        <p:txBody>
          <a:bodyPr/>
          <a:lstStyle>
            <a:lvl1pPr>
              <a:lnSpc>
                <a:spcPct val="82000"/>
              </a:lnSpc>
              <a:defRPr sz="4500" b="0">
                <a:solidFill>
                  <a:schemeClr val="bg1"/>
                </a:solidFill>
              </a:defRPr>
            </a:lvl1pPr>
            <a:lvl2pPr>
              <a:lnSpc>
                <a:spcPct val="115000"/>
              </a:lnSpc>
              <a:defRPr/>
            </a:lvl2pPr>
            <a:lvl3pPr>
              <a:lnSpc>
                <a:spcPct val="115000"/>
              </a:lnSpc>
              <a:defRPr/>
            </a:lvl3pPr>
            <a:lvl4pPr>
              <a:lnSpc>
                <a:spcPct val="115000"/>
              </a:lnSpc>
              <a:defRPr/>
            </a:lvl4pPr>
            <a:lvl5pPr>
              <a:lnSpc>
                <a:spcPct val="115000"/>
              </a:lnSpc>
              <a:defRPr/>
            </a:lvl5pPr>
          </a:lstStyle>
          <a:p>
            <a:pPr lvl="0"/>
            <a:r>
              <a:rPr lang="en-US" dirty="0"/>
              <a:t>Click to edit master text styles</a:t>
            </a:r>
          </a:p>
        </p:txBody>
      </p:sp>
      <p:sp>
        <p:nvSpPr>
          <p:cNvPr id="3" name="Content Placeholder 2"/>
          <p:cNvSpPr>
            <a:spLocks noGrp="1"/>
          </p:cNvSpPr>
          <p:nvPr>
            <p:ph idx="1" hasCustomPrompt="1"/>
          </p:nvPr>
        </p:nvSpPr>
        <p:spPr>
          <a:xfrm>
            <a:off x="495300" y="1554480"/>
            <a:ext cx="3810000" cy="2676918"/>
          </a:xfrm>
        </p:spPr>
        <p:txBody>
          <a:bodyPr/>
          <a:lstStyle>
            <a:lvl1pPr>
              <a:lnSpc>
                <a:spcPct val="112000"/>
              </a:lnSpc>
              <a:defRPr sz="1600">
                <a:solidFill>
                  <a:schemeClr val="bg1"/>
                </a:solidFill>
              </a:defRPr>
            </a:lvl1pPr>
            <a:lvl2pPr>
              <a:lnSpc>
                <a:spcPct val="112000"/>
              </a:lnSpc>
              <a:defRPr sz="1600">
                <a:solidFill>
                  <a:schemeClr val="bg1"/>
                </a:solidFill>
              </a:defRPr>
            </a:lvl2pPr>
            <a:lvl3pPr>
              <a:lnSpc>
                <a:spcPct val="112000"/>
              </a:lnSpc>
              <a:defRPr sz="1600">
                <a:solidFill>
                  <a:schemeClr val="bg1"/>
                </a:solidFill>
              </a:defRPr>
            </a:lvl3pPr>
            <a:lvl4pPr>
              <a:lnSpc>
                <a:spcPct val="112000"/>
              </a:lnSpc>
              <a:defRPr sz="1600">
                <a:solidFill>
                  <a:schemeClr val="bg1"/>
                </a:solidFill>
              </a:defRPr>
            </a:lvl4pPr>
            <a:lvl5pPr>
              <a:lnSpc>
                <a:spcPct val="112000"/>
              </a:lnSpc>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712455970"/>
      </p:ext>
    </p:extLst>
  </p:cSld>
  <p:clrMapOvr>
    <a:masterClrMapping/>
  </p:clrMapOvr>
  <p:extLst>
    <p:ext uri="{DCECCB84-F9BA-43D5-87BE-67443E8EF086}">
      <p15:sldGuideLst xmlns:p15="http://schemas.microsoft.com/office/powerpoint/2012/main">
        <p15:guide id="3" pos="2712" userDrawn="1">
          <p15:clr>
            <a:srgbClr val="FBAE40"/>
          </p15:clr>
        </p15:guide>
        <p15:guide id="4" pos="304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4838700" y="1"/>
            <a:ext cx="4305299" cy="5143499"/>
          </a:xfrm>
          <a:solidFill>
            <a:schemeClr val="bg1">
              <a:lumMod val="85000"/>
            </a:schemeClr>
          </a:solidFill>
        </p:spPr>
        <p:txBody>
          <a:bodyPr tIns="1005840"/>
          <a:lstStyle>
            <a:lvl1pPr algn="ctr">
              <a:defRPr>
                <a:solidFill>
                  <a:schemeClr val="tx2"/>
                </a:solidFill>
              </a:defRPr>
            </a:lvl1pPr>
          </a:lstStyle>
          <a:p>
            <a:r>
              <a:rPr lang="en-US"/>
              <a:t>Click icon to add picture</a:t>
            </a:r>
          </a:p>
        </p:txBody>
      </p:sp>
      <p:sp>
        <p:nvSpPr>
          <p:cNvPr id="3" name="Slide Number Placeholder 5">
            <a:extLst>
              <a:ext uri="{FF2B5EF4-FFF2-40B4-BE49-F238E27FC236}">
                <a16:creationId xmlns:a16="http://schemas.microsoft.com/office/drawing/2014/main" id="{4B7418D1-2207-3DA2-D401-BA061B484A23}"/>
              </a:ext>
            </a:extLst>
          </p:cNvPr>
          <p:cNvSpPr>
            <a:spLocks noGrp="1"/>
          </p:cNvSpPr>
          <p:nvPr>
            <p:ph type="sldNum" sz="quarter" idx="4"/>
          </p:nvPr>
        </p:nvSpPr>
        <p:spPr>
          <a:xfrm>
            <a:off x="8350421" y="4506295"/>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4" name="Footer Placeholder 3">
            <a:extLst>
              <a:ext uri="{FF2B5EF4-FFF2-40B4-BE49-F238E27FC236}">
                <a16:creationId xmlns:a16="http://schemas.microsoft.com/office/drawing/2014/main" id="{D37BE962-DC9D-579A-0FFD-7708AC8D74E9}"/>
              </a:ext>
            </a:extLst>
          </p:cNvPr>
          <p:cNvSpPr>
            <a:spLocks noGrp="1"/>
          </p:cNvSpPr>
          <p:nvPr>
            <p:ph type="ftr" sz="quarter" idx="11"/>
          </p:nvPr>
        </p:nvSpPr>
        <p:spPr/>
        <p:txBody>
          <a:bodyPr/>
          <a:lstStyle>
            <a:lvl1pPr>
              <a:defRPr>
                <a:solidFill>
                  <a:schemeClr val="bg1"/>
                </a:solidFill>
              </a:defRPr>
            </a:lvl1pPr>
          </a:lstStyle>
          <a:p>
            <a:r>
              <a:rPr lang="en-US"/>
              <a:t>Division/Department Name</a:t>
            </a:r>
            <a:endParaRPr lang="en-US" dirty="0"/>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9" y="1554480"/>
            <a:ext cx="3810002" cy="2669742"/>
          </a:xfrm>
        </p:spPr>
        <p:txBody>
          <a:bodyPr/>
          <a:lstStyle>
            <a:lvl1pPr>
              <a:lnSpc>
                <a:spcPct val="112000"/>
              </a:lnSpc>
              <a:defRPr sz="1600">
                <a:solidFill>
                  <a:schemeClr val="accent1"/>
                </a:solidFill>
              </a:defRPr>
            </a:lvl1pPr>
            <a:lvl2pPr>
              <a:lnSpc>
                <a:spcPct val="112000"/>
              </a:lnSpc>
              <a:defRPr sz="1600"/>
            </a:lvl2pPr>
            <a:lvl3pPr>
              <a:lnSpc>
                <a:spcPct val="112000"/>
              </a:lnSpc>
              <a:defRPr sz="1600"/>
            </a:lvl3pPr>
            <a:lvl4pPr>
              <a:lnSpc>
                <a:spcPct val="112000"/>
              </a:lnSpc>
              <a:defRPr sz="1600"/>
            </a:lvl4pPr>
            <a:lvl5pPr>
              <a:lnSpc>
                <a:spcPct val="11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3321" y="408071"/>
            <a:ext cx="3810002" cy="616644"/>
          </a:xfrm>
        </p:spPr>
        <p:txBody>
          <a:bodyPr/>
          <a:lstStyle/>
          <a:p>
            <a:r>
              <a:rPr lang="en-US" dirty="0"/>
              <a:t>Click to edit master title style</a:t>
            </a:r>
          </a:p>
        </p:txBody>
      </p:sp>
    </p:spTree>
    <p:extLst>
      <p:ext uri="{BB962C8B-B14F-4D97-AF65-F5344CB8AC3E}">
        <p14:creationId xmlns:p14="http://schemas.microsoft.com/office/powerpoint/2010/main" val="523460971"/>
      </p:ext>
    </p:extLst>
  </p:cSld>
  <p:clrMapOvr>
    <a:masterClrMapping/>
  </p:clrMapOvr>
  <p:extLst>
    <p:ext uri="{DCECCB84-F9BA-43D5-87BE-67443E8EF086}">
      <p15:sldGuideLst xmlns:p15="http://schemas.microsoft.com/office/powerpoint/2012/main">
        <p15:guide id="1" pos="2712" userDrawn="1">
          <p15:clr>
            <a:srgbClr val="FBAE40"/>
          </p15:clr>
        </p15:guide>
        <p15:guide id="2" pos="30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ext and Image - Purple">
    <p:bg>
      <p:bgPr>
        <a:solidFill>
          <a:schemeClr val="tx2"/>
        </a:solidFill>
        <a:effectLst/>
      </p:bgPr>
    </p:bg>
    <p:spTree>
      <p:nvGrpSpPr>
        <p:cNvPr id="1" name=""/>
        <p:cNvGrpSpPr/>
        <p:nvPr/>
      </p:nvGrpSpPr>
      <p:grpSpPr>
        <a:xfrm>
          <a:off x="0" y="0"/>
          <a:ext cx="0" cy="0"/>
          <a:chOff x="0" y="0"/>
          <a:chExt cx="0" cy="0"/>
        </a:xfrm>
      </p:grpSpPr>
      <p:grpSp>
        <p:nvGrpSpPr>
          <p:cNvPr id="4" name="NYU Langone Health Logo">
            <a:extLst>
              <a:ext uri="{FF2B5EF4-FFF2-40B4-BE49-F238E27FC236}">
                <a16:creationId xmlns:a16="http://schemas.microsoft.com/office/drawing/2014/main" id="{A5D7F226-0F89-2B0E-3EE0-91AB855FD407}"/>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6" name="Freeform 5">
              <a:extLst>
                <a:ext uri="{FF2B5EF4-FFF2-40B4-BE49-F238E27FC236}">
                  <a16:creationId xmlns:a16="http://schemas.microsoft.com/office/drawing/2014/main" id="{FFACC8AF-A463-C9B7-28FE-97FCF4C35876}"/>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6">
              <a:extLst>
                <a:ext uri="{FF2B5EF4-FFF2-40B4-BE49-F238E27FC236}">
                  <a16:creationId xmlns:a16="http://schemas.microsoft.com/office/drawing/2014/main" id="{2000C4D0-CAED-CE4A-D8E3-FF0C1F38D0AC}"/>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F56719C2-1779-CD8C-56FF-95FD796E6CD7}"/>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4838700" y="1"/>
            <a:ext cx="4305299" cy="5143499"/>
          </a:xfrm>
          <a:solidFill>
            <a:schemeClr val="bg1">
              <a:lumMod val="85000"/>
            </a:schemeClr>
          </a:solidFill>
        </p:spPr>
        <p:txBody>
          <a:bodyPr tIns="1005840"/>
          <a:lstStyle>
            <a:lvl1pPr algn="ctr">
              <a:defRPr>
                <a:solidFill>
                  <a:schemeClr val="tx2"/>
                </a:solidFill>
              </a:defRPr>
            </a:lvl1pPr>
          </a:lstStyle>
          <a:p>
            <a:r>
              <a:rPr lang="en-US"/>
              <a:t>Click icon to add picture</a:t>
            </a:r>
          </a:p>
        </p:txBody>
      </p:sp>
      <p:sp>
        <p:nvSpPr>
          <p:cNvPr id="3" name="Slide Number Placeholder 5">
            <a:extLst>
              <a:ext uri="{FF2B5EF4-FFF2-40B4-BE49-F238E27FC236}">
                <a16:creationId xmlns:a16="http://schemas.microsoft.com/office/drawing/2014/main" id="{4B7418D1-2207-3DA2-D401-BA061B484A23}"/>
              </a:ext>
            </a:extLst>
          </p:cNvPr>
          <p:cNvSpPr>
            <a:spLocks noGrp="1"/>
          </p:cNvSpPr>
          <p:nvPr>
            <p:ph type="sldNum" sz="quarter" idx="4"/>
          </p:nvPr>
        </p:nvSpPr>
        <p:spPr>
          <a:xfrm>
            <a:off x="8350421" y="4506295"/>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1" name="Footer Placeholder 10">
            <a:extLst>
              <a:ext uri="{FF2B5EF4-FFF2-40B4-BE49-F238E27FC236}">
                <a16:creationId xmlns:a16="http://schemas.microsoft.com/office/drawing/2014/main" id="{EFA0A1CB-D17E-31F8-DF8E-8289C2829564}"/>
              </a:ext>
            </a:extLst>
          </p:cNvPr>
          <p:cNvSpPr>
            <a:spLocks noGrp="1"/>
          </p:cNvSpPr>
          <p:nvPr>
            <p:ph type="ftr" sz="quarter" idx="11"/>
          </p:nvPr>
        </p:nvSpPr>
        <p:spPr/>
        <p:txBody>
          <a:bodyPr/>
          <a:lstStyle>
            <a:lvl1pPr>
              <a:defRPr>
                <a:solidFill>
                  <a:schemeClr val="bg1"/>
                </a:solidFill>
              </a:defRPr>
            </a:lvl1pPr>
          </a:lstStyle>
          <a:p>
            <a:r>
              <a:rPr lang="en-US"/>
              <a:t>Division/Department Name</a:t>
            </a:r>
            <a:endParaRPr lang="en-US" dirty="0"/>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9" y="1554480"/>
            <a:ext cx="3810002" cy="2669742"/>
          </a:xfrm>
        </p:spPr>
        <p:txBody>
          <a:bodyPr/>
          <a:lstStyle>
            <a:lvl1pPr>
              <a:lnSpc>
                <a:spcPct val="112000"/>
              </a:lnSpc>
              <a:defRPr sz="1600">
                <a:solidFill>
                  <a:schemeClr val="bg1"/>
                </a:solidFill>
              </a:defRPr>
            </a:lvl1pPr>
            <a:lvl2pPr>
              <a:lnSpc>
                <a:spcPct val="112000"/>
              </a:lnSpc>
              <a:defRPr sz="1600">
                <a:solidFill>
                  <a:schemeClr val="bg1"/>
                </a:solidFill>
              </a:defRPr>
            </a:lvl2pPr>
            <a:lvl3pPr>
              <a:lnSpc>
                <a:spcPct val="112000"/>
              </a:lnSpc>
              <a:defRPr sz="1600">
                <a:solidFill>
                  <a:schemeClr val="bg1"/>
                </a:solidFill>
              </a:defRPr>
            </a:lvl3pPr>
            <a:lvl4pPr>
              <a:lnSpc>
                <a:spcPct val="112000"/>
              </a:lnSpc>
              <a:defRPr sz="1600">
                <a:solidFill>
                  <a:schemeClr val="bg1"/>
                </a:solidFill>
              </a:defRPr>
            </a:lvl4pPr>
            <a:lvl5pPr>
              <a:lnSpc>
                <a:spcPct val="112000"/>
              </a:lnSpc>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3321" y="408071"/>
            <a:ext cx="3810002" cy="616644"/>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550129332"/>
      </p:ext>
    </p:extLst>
  </p:cSld>
  <p:clrMapOvr>
    <a:masterClrMapping/>
  </p:clrMapOvr>
  <p:extLst>
    <p:ext uri="{DCECCB84-F9BA-43D5-87BE-67443E8EF086}">
      <p15:sldGuideLst xmlns:p15="http://schemas.microsoft.com/office/powerpoint/2012/main">
        <p15:guide id="1" pos="2712" userDrawn="1">
          <p15:clr>
            <a:srgbClr val="FBAE40"/>
          </p15:clr>
        </p15:guide>
        <p15:guide id="2" pos="30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nd Image Narrow">
    <p:spTree>
      <p:nvGrpSpPr>
        <p:cNvPr id="1" name=""/>
        <p:cNvGrpSpPr/>
        <p:nvPr/>
      </p:nvGrpSpPr>
      <p:grpSpPr>
        <a:xfrm>
          <a:off x="0" y="0"/>
          <a:ext cx="0" cy="0"/>
          <a:chOff x="0" y="0"/>
          <a:chExt cx="0" cy="0"/>
        </a:xfrm>
      </p:grpSpPr>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6096000" y="1"/>
            <a:ext cx="3047999" cy="5143499"/>
          </a:xfrm>
          <a:solidFill>
            <a:schemeClr val="bg1">
              <a:lumMod val="85000"/>
            </a:schemeClr>
          </a:solidFill>
        </p:spPr>
        <p:txBody>
          <a:bodyPr tIns="1005840"/>
          <a:lstStyle>
            <a:lvl1pPr algn="ctr">
              <a:defRPr>
                <a:solidFill>
                  <a:schemeClr val="tx2"/>
                </a:solidFill>
              </a:defRPr>
            </a:lvl1pPr>
          </a:lstStyle>
          <a:p>
            <a:r>
              <a:rPr lang="en-US"/>
              <a:t>Click icon to add picture</a:t>
            </a:r>
          </a:p>
        </p:txBody>
      </p:sp>
      <p:sp>
        <p:nvSpPr>
          <p:cNvPr id="3" name="Slide Number Placeholder 5">
            <a:extLst>
              <a:ext uri="{FF2B5EF4-FFF2-40B4-BE49-F238E27FC236}">
                <a16:creationId xmlns:a16="http://schemas.microsoft.com/office/drawing/2014/main" id="{4B7418D1-2207-3DA2-D401-BA061B484A23}"/>
              </a:ext>
            </a:extLst>
          </p:cNvPr>
          <p:cNvSpPr>
            <a:spLocks noGrp="1"/>
          </p:cNvSpPr>
          <p:nvPr>
            <p:ph type="sldNum" sz="quarter" idx="4"/>
          </p:nvPr>
        </p:nvSpPr>
        <p:spPr>
          <a:xfrm>
            <a:off x="8350421" y="4506295"/>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4" name="Footer Placeholder 3">
            <a:extLst>
              <a:ext uri="{FF2B5EF4-FFF2-40B4-BE49-F238E27FC236}">
                <a16:creationId xmlns:a16="http://schemas.microsoft.com/office/drawing/2014/main" id="{1CAE2451-7F0A-9DB6-7819-117904A8DB9A}"/>
              </a:ext>
            </a:extLst>
          </p:cNvPr>
          <p:cNvSpPr>
            <a:spLocks noGrp="1"/>
          </p:cNvSpPr>
          <p:nvPr>
            <p:ph type="ftr" sz="quarter" idx="11"/>
          </p:nvPr>
        </p:nvSpPr>
        <p:spPr>
          <a:xfrm>
            <a:off x="6257284" y="4536400"/>
            <a:ext cx="1934216" cy="138499"/>
          </a:xfrm>
        </p:spPr>
        <p:txBody>
          <a:bodyPr/>
          <a:lstStyle>
            <a:lvl1pPr>
              <a:defRPr>
                <a:solidFill>
                  <a:schemeClr val="bg1"/>
                </a:solidFill>
              </a:defRPr>
            </a:lvl1pPr>
          </a:lstStyle>
          <a:p>
            <a:r>
              <a:rPr lang="en-US"/>
              <a:t>Division/Department Name</a:t>
            </a:r>
            <a:endParaRPr lang="en-US" dirty="0"/>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8" y="1554480"/>
            <a:ext cx="5067301" cy="2669742"/>
          </a:xfrm>
        </p:spPr>
        <p:txBody>
          <a:bodyPr/>
          <a:lstStyle>
            <a:lvl1pPr>
              <a:lnSpc>
                <a:spcPct val="112000"/>
              </a:lnSpc>
              <a:defRPr sz="1600">
                <a:solidFill>
                  <a:schemeClr val="accent1"/>
                </a:solidFill>
              </a:defRPr>
            </a:lvl1pPr>
            <a:lvl2pPr>
              <a:lnSpc>
                <a:spcPct val="112000"/>
              </a:lnSpc>
              <a:defRPr sz="1600"/>
            </a:lvl2pPr>
            <a:lvl3pPr>
              <a:lnSpc>
                <a:spcPct val="112000"/>
              </a:lnSpc>
              <a:defRPr sz="1600"/>
            </a:lvl3pPr>
            <a:lvl4pPr>
              <a:lnSpc>
                <a:spcPct val="112000"/>
              </a:lnSpc>
              <a:defRPr sz="1600"/>
            </a:lvl4pPr>
            <a:lvl5pPr>
              <a:lnSpc>
                <a:spcPct val="11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3320" y="408071"/>
            <a:ext cx="5067301" cy="616644"/>
          </a:xfrm>
        </p:spPr>
        <p:txBody>
          <a:bodyPr/>
          <a:lstStyle/>
          <a:p>
            <a:r>
              <a:rPr lang="en-US" dirty="0"/>
              <a:t>Click to edit master title style</a:t>
            </a:r>
          </a:p>
        </p:txBody>
      </p:sp>
    </p:spTree>
    <p:extLst>
      <p:ext uri="{BB962C8B-B14F-4D97-AF65-F5344CB8AC3E}">
        <p14:creationId xmlns:p14="http://schemas.microsoft.com/office/powerpoint/2010/main" val="2965380140"/>
      </p:ext>
    </p:extLst>
  </p:cSld>
  <p:clrMapOvr>
    <a:masterClrMapping/>
  </p:clrMapOvr>
  <p:extLst>
    <p:ext uri="{DCECCB84-F9BA-43D5-87BE-67443E8EF086}">
      <p15:sldGuideLst xmlns:p15="http://schemas.microsoft.com/office/powerpoint/2012/main">
        <p15:guide id="1" pos="3504" userDrawn="1">
          <p15:clr>
            <a:srgbClr val="FBAE40"/>
          </p15:clr>
        </p15:guide>
        <p15:guide id="3"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ext and Image Narrow - Purple">
    <p:bg>
      <p:bgPr>
        <a:solidFill>
          <a:schemeClr val="tx2"/>
        </a:solidFill>
        <a:effectLst/>
      </p:bgPr>
    </p:bg>
    <p:spTree>
      <p:nvGrpSpPr>
        <p:cNvPr id="1" name=""/>
        <p:cNvGrpSpPr/>
        <p:nvPr/>
      </p:nvGrpSpPr>
      <p:grpSpPr>
        <a:xfrm>
          <a:off x="0" y="0"/>
          <a:ext cx="0" cy="0"/>
          <a:chOff x="0" y="0"/>
          <a:chExt cx="0" cy="0"/>
        </a:xfrm>
      </p:grpSpPr>
      <p:grpSp>
        <p:nvGrpSpPr>
          <p:cNvPr id="4" name="NYU Langone Health Logo">
            <a:extLst>
              <a:ext uri="{FF2B5EF4-FFF2-40B4-BE49-F238E27FC236}">
                <a16:creationId xmlns:a16="http://schemas.microsoft.com/office/drawing/2014/main" id="{86F87CBD-C4A5-0E8A-C2B9-158EF620837B}"/>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6" name="Freeform 5">
              <a:extLst>
                <a:ext uri="{FF2B5EF4-FFF2-40B4-BE49-F238E27FC236}">
                  <a16:creationId xmlns:a16="http://schemas.microsoft.com/office/drawing/2014/main" id="{65FDBB51-7E99-49D2-7F3B-BBB9C0262480}"/>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6">
              <a:extLst>
                <a:ext uri="{FF2B5EF4-FFF2-40B4-BE49-F238E27FC236}">
                  <a16:creationId xmlns:a16="http://schemas.microsoft.com/office/drawing/2014/main" id="{E76C2DA4-E5E6-8783-0B8D-FB64C28E0C30}"/>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D9B093E7-E311-E54D-E524-1E5DB355CDB3}"/>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6096000" y="1"/>
            <a:ext cx="3047999" cy="5143499"/>
          </a:xfrm>
          <a:solidFill>
            <a:schemeClr val="bg1">
              <a:lumMod val="85000"/>
            </a:schemeClr>
          </a:solidFill>
        </p:spPr>
        <p:txBody>
          <a:bodyPr tIns="1005840"/>
          <a:lstStyle>
            <a:lvl1pPr algn="ctr">
              <a:defRPr>
                <a:solidFill>
                  <a:schemeClr val="tx2"/>
                </a:solidFill>
              </a:defRPr>
            </a:lvl1pPr>
          </a:lstStyle>
          <a:p>
            <a:r>
              <a:rPr lang="en-US"/>
              <a:t>Click icon to add picture</a:t>
            </a:r>
          </a:p>
        </p:txBody>
      </p:sp>
      <p:sp>
        <p:nvSpPr>
          <p:cNvPr id="3" name="Slide Number Placeholder 5">
            <a:extLst>
              <a:ext uri="{FF2B5EF4-FFF2-40B4-BE49-F238E27FC236}">
                <a16:creationId xmlns:a16="http://schemas.microsoft.com/office/drawing/2014/main" id="{4B7418D1-2207-3DA2-D401-BA061B484A23}"/>
              </a:ext>
            </a:extLst>
          </p:cNvPr>
          <p:cNvSpPr>
            <a:spLocks noGrp="1"/>
          </p:cNvSpPr>
          <p:nvPr>
            <p:ph type="sldNum" sz="quarter" idx="4"/>
          </p:nvPr>
        </p:nvSpPr>
        <p:spPr>
          <a:xfrm>
            <a:off x="8350421" y="4506295"/>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1" name="Footer Placeholder 10">
            <a:extLst>
              <a:ext uri="{FF2B5EF4-FFF2-40B4-BE49-F238E27FC236}">
                <a16:creationId xmlns:a16="http://schemas.microsoft.com/office/drawing/2014/main" id="{1DBBB99C-2F9F-DAB5-0121-D8AFA2E4C16A}"/>
              </a:ext>
            </a:extLst>
          </p:cNvPr>
          <p:cNvSpPr>
            <a:spLocks noGrp="1"/>
          </p:cNvSpPr>
          <p:nvPr>
            <p:ph type="ftr" sz="quarter" idx="11"/>
          </p:nvPr>
        </p:nvSpPr>
        <p:spPr>
          <a:xfrm>
            <a:off x="6249082" y="4536400"/>
            <a:ext cx="1942417" cy="138499"/>
          </a:xfrm>
        </p:spPr>
        <p:txBody>
          <a:bodyPr/>
          <a:lstStyle>
            <a:lvl1pPr>
              <a:defRPr>
                <a:solidFill>
                  <a:schemeClr val="bg1"/>
                </a:solidFill>
              </a:defRPr>
            </a:lvl1pPr>
          </a:lstStyle>
          <a:p>
            <a:r>
              <a:rPr lang="en-US"/>
              <a:t>Division/Department Name</a:t>
            </a:r>
            <a:endParaRPr lang="en-US" dirty="0"/>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8" y="1554480"/>
            <a:ext cx="5067301" cy="2669742"/>
          </a:xfrm>
        </p:spPr>
        <p:txBody>
          <a:bodyPr/>
          <a:lstStyle>
            <a:lvl1pPr>
              <a:lnSpc>
                <a:spcPct val="112000"/>
              </a:lnSpc>
              <a:defRPr sz="1600">
                <a:solidFill>
                  <a:schemeClr val="bg1"/>
                </a:solidFill>
              </a:defRPr>
            </a:lvl1pPr>
            <a:lvl2pPr>
              <a:lnSpc>
                <a:spcPct val="112000"/>
              </a:lnSpc>
              <a:defRPr sz="1600">
                <a:solidFill>
                  <a:schemeClr val="bg1"/>
                </a:solidFill>
              </a:defRPr>
            </a:lvl2pPr>
            <a:lvl3pPr>
              <a:lnSpc>
                <a:spcPct val="112000"/>
              </a:lnSpc>
              <a:defRPr sz="1600">
                <a:solidFill>
                  <a:schemeClr val="bg1"/>
                </a:solidFill>
              </a:defRPr>
            </a:lvl3pPr>
            <a:lvl4pPr>
              <a:lnSpc>
                <a:spcPct val="112000"/>
              </a:lnSpc>
              <a:defRPr sz="1600">
                <a:solidFill>
                  <a:schemeClr val="bg1"/>
                </a:solidFill>
              </a:defRPr>
            </a:lvl4pPr>
            <a:lvl5pPr>
              <a:lnSpc>
                <a:spcPct val="112000"/>
              </a:lnSpc>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3320" y="408071"/>
            <a:ext cx="5067301" cy="616644"/>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220297182"/>
      </p:ext>
    </p:extLst>
  </p:cSld>
  <p:clrMapOvr>
    <a:masterClrMapping/>
  </p:clrMapOvr>
  <p:extLst>
    <p:ext uri="{DCECCB84-F9BA-43D5-87BE-67443E8EF086}">
      <p15:sldGuideLst xmlns:p15="http://schemas.microsoft.com/office/powerpoint/2012/main">
        <p15:guide id="1" pos="3504" userDrawn="1">
          <p15:clr>
            <a:srgbClr val="FBAE40"/>
          </p15:clr>
        </p15:guide>
        <p15:guide id="3"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ext and Image Wide">
    <p:spTree>
      <p:nvGrpSpPr>
        <p:cNvPr id="1" name=""/>
        <p:cNvGrpSpPr/>
        <p:nvPr/>
      </p:nvGrpSpPr>
      <p:grpSpPr>
        <a:xfrm>
          <a:off x="0" y="0"/>
          <a:ext cx="0" cy="0"/>
          <a:chOff x="0" y="0"/>
          <a:chExt cx="0" cy="0"/>
        </a:xfrm>
      </p:grpSpPr>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1" y="3771900"/>
            <a:ext cx="9144000" cy="1371600"/>
          </a:xfrm>
          <a:solidFill>
            <a:schemeClr val="bg1">
              <a:lumMod val="85000"/>
            </a:schemeClr>
          </a:solidFill>
        </p:spPr>
        <p:txBody>
          <a:bodyPr tIns="182880"/>
          <a:lstStyle>
            <a:lvl1pPr algn="ctr">
              <a:defRPr>
                <a:solidFill>
                  <a:schemeClr val="tx2"/>
                </a:solidFill>
              </a:defRPr>
            </a:lvl1pPr>
          </a:lstStyle>
          <a:p>
            <a:r>
              <a:rPr lang="en-US"/>
              <a:t>Click icon to add picture</a:t>
            </a:r>
          </a:p>
        </p:txBody>
      </p:sp>
      <p:sp>
        <p:nvSpPr>
          <p:cNvPr id="7" name="NYU Langone Health Logo">
            <a:extLst>
              <a:ext uri="{FF2B5EF4-FFF2-40B4-BE49-F238E27FC236}">
                <a16:creationId xmlns:a16="http://schemas.microsoft.com/office/drawing/2014/main" id="{F611A463-0BD7-3ECD-268F-EE754B7914F1}"/>
              </a:ext>
            </a:extLst>
          </p:cNvPr>
          <p:cNvSpPr>
            <a:spLocks noGrp="1"/>
          </p:cNvSpPr>
          <p:nvPr>
            <p:ph type="body" sz="quarter" idx="14" hasCustomPrompt="1"/>
          </p:nvPr>
        </p:nvSpPr>
        <p:spPr>
          <a:xfrm>
            <a:off x="499309" y="4410243"/>
            <a:ext cx="838200" cy="352425"/>
          </a:xfrm>
          <a:blipFill>
            <a:blip>
              <a:extLst>
                <a:ext uri="{96DAC541-7B7A-43D3-8B79-37D633B846F1}">
                  <asvg:svgBlip xmlns:asvg="http://schemas.microsoft.com/office/drawing/2016/SVG/main" r:embed="rId2"/>
                </a:ext>
              </a:extLst>
            </a:blip>
            <a:stretch>
              <a:fillRect/>
            </a:stretch>
          </a:blipFill>
        </p:spPr>
        <p:txBody>
          <a:bodyPr/>
          <a:lstStyle/>
          <a:p>
            <a:pPr lvl="0"/>
            <a:r>
              <a:rPr lang="en-US" dirty="0"/>
              <a:t> </a:t>
            </a:r>
          </a:p>
        </p:txBody>
      </p:sp>
      <p:sp>
        <p:nvSpPr>
          <p:cNvPr id="3" name="Slide Number Placeholder 5">
            <a:extLst>
              <a:ext uri="{FF2B5EF4-FFF2-40B4-BE49-F238E27FC236}">
                <a16:creationId xmlns:a16="http://schemas.microsoft.com/office/drawing/2014/main" id="{4B7418D1-2207-3DA2-D401-BA061B484A23}"/>
              </a:ext>
            </a:extLst>
          </p:cNvPr>
          <p:cNvSpPr>
            <a:spLocks noGrp="1"/>
          </p:cNvSpPr>
          <p:nvPr>
            <p:ph type="sldNum" sz="quarter" idx="4"/>
          </p:nvPr>
        </p:nvSpPr>
        <p:spPr>
          <a:xfrm>
            <a:off x="8350421" y="4506295"/>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6" name="Footer Placeholder 5">
            <a:extLst>
              <a:ext uri="{FF2B5EF4-FFF2-40B4-BE49-F238E27FC236}">
                <a16:creationId xmlns:a16="http://schemas.microsoft.com/office/drawing/2014/main" id="{57E7DC31-F4C4-365C-3C4C-774909AA928E}"/>
              </a:ext>
            </a:extLst>
          </p:cNvPr>
          <p:cNvSpPr>
            <a:spLocks noGrp="1"/>
          </p:cNvSpPr>
          <p:nvPr>
            <p:ph type="ftr" sz="quarter" idx="15"/>
          </p:nvPr>
        </p:nvSpPr>
        <p:spPr/>
        <p:txBody>
          <a:bodyPr/>
          <a:lstStyle>
            <a:lvl1pPr>
              <a:defRPr>
                <a:solidFill>
                  <a:schemeClr val="bg1"/>
                </a:solidFill>
              </a:defRPr>
            </a:lvl1pPr>
          </a:lstStyle>
          <a:p>
            <a:r>
              <a:rPr lang="en-US"/>
              <a:t>Division/Department Name</a:t>
            </a:r>
            <a:endParaRPr lang="en-US" dirty="0"/>
          </a:p>
        </p:txBody>
      </p:sp>
      <p:sp>
        <p:nvSpPr>
          <p:cNvPr id="4" name="Content Placeholder 6">
            <a:extLst>
              <a:ext uri="{FF2B5EF4-FFF2-40B4-BE49-F238E27FC236}">
                <a16:creationId xmlns:a16="http://schemas.microsoft.com/office/drawing/2014/main" id="{16DF9D62-DA62-3653-DD38-9C9FB11C7698}"/>
              </a:ext>
            </a:extLst>
          </p:cNvPr>
          <p:cNvSpPr>
            <a:spLocks noGrp="1"/>
          </p:cNvSpPr>
          <p:nvPr>
            <p:ph sz="quarter" idx="11" hasCustomPrompt="1"/>
          </p:nvPr>
        </p:nvSpPr>
        <p:spPr>
          <a:xfrm>
            <a:off x="495300" y="1554481"/>
            <a:ext cx="7277100" cy="2057778"/>
          </a:xfrm>
        </p:spPr>
        <p:txBody>
          <a:bodyPr/>
          <a:lstStyle>
            <a:lvl1pPr>
              <a:defRPr>
                <a:solidFill>
                  <a:schemeClr val="accent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932931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ext and Image Wide - Purple">
    <p:bg>
      <p:bgPr>
        <a:solidFill>
          <a:schemeClr val="tx2"/>
        </a:solidFill>
        <a:effectLst/>
      </p:bgPr>
    </p:bg>
    <p:spTree>
      <p:nvGrpSpPr>
        <p:cNvPr id="1" name=""/>
        <p:cNvGrpSpPr/>
        <p:nvPr/>
      </p:nvGrpSpPr>
      <p:grpSpPr>
        <a:xfrm>
          <a:off x="0" y="0"/>
          <a:ext cx="0" cy="0"/>
          <a:chOff x="0" y="0"/>
          <a:chExt cx="0" cy="0"/>
        </a:xfrm>
      </p:grpSpPr>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1" y="3771900"/>
            <a:ext cx="9144000" cy="1371600"/>
          </a:xfrm>
          <a:solidFill>
            <a:schemeClr val="bg1">
              <a:lumMod val="85000"/>
            </a:schemeClr>
          </a:solidFill>
        </p:spPr>
        <p:txBody>
          <a:bodyPr tIns="182880"/>
          <a:lstStyle>
            <a:lvl1pPr algn="ctr">
              <a:defRPr>
                <a:solidFill>
                  <a:schemeClr val="tx2"/>
                </a:solidFill>
              </a:defRPr>
            </a:lvl1pPr>
          </a:lstStyle>
          <a:p>
            <a:r>
              <a:rPr lang="en-US"/>
              <a:t>Click icon to add picture</a:t>
            </a:r>
          </a:p>
        </p:txBody>
      </p:sp>
      <p:sp>
        <p:nvSpPr>
          <p:cNvPr id="7" name="NYU Langone Health Logo">
            <a:extLst>
              <a:ext uri="{FF2B5EF4-FFF2-40B4-BE49-F238E27FC236}">
                <a16:creationId xmlns:a16="http://schemas.microsoft.com/office/drawing/2014/main" id="{F611A463-0BD7-3ECD-268F-EE754B7914F1}"/>
              </a:ext>
            </a:extLst>
          </p:cNvPr>
          <p:cNvSpPr>
            <a:spLocks noGrp="1"/>
          </p:cNvSpPr>
          <p:nvPr>
            <p:ph type="body" sz="quarter" idx="14" hasCustomPrompt="1"/>
          </p:nvPr>
        </p:nvSpPr>
        <p:spPr>
          <a:xfrm>
            <a:off x="499309" y="4410243"/>
            <a:ext cx="838200" cy="352425"/>
          </a:xfrm>
          <a:blipFill>
            <a:blip>
              <a:extLst>
                <a:ext uri="{96DAC541-7B7A-43D3-8B79-37D633B846F1}">
                  <asvg:svgBlip xmlns:asvg="http://schemas.microsoft.com/office/drawing/2016/SVG/main" r:embed="rId2"/>
                </a:ext>
              </a:extLst>
            </a:blip>
            <a:stretch>
              <a:fillRect/>
            </a:stretch>
          </a:blipFill>
        </p:spPr>
        <p:txBody>
          <a:bodyPr/>
          <a:lstStyle/>
          <a:p>
            <a:pPr lvl="0"/>
            <a:r>
              <a:rPr lang="en-US" dirty="0"/>
              <a:t> </a:t>
            </a:r>
          </a:p>
        </p:txBody>
      </p:sp>
      <p:sp>
        <p:nvSpPr>
          <p:cNvPr id="3" name="Slide Number Placeholder 5">
            <a:extLst>
              <a:ext uri="{FF2B5EF4-FFF2-40B4-BE49-F238E27FC236}">
                <a16:creationId xmlns:a16="http://schemas.microsoft.com/office/drawing/2014/main" id="{4B7418D1-2207-3DA2-D401-BA061B484A23}"/>
              </a:ext>
            </a:extLst>
          </p:cNvPr>
          <p:cNvSpPr>
            <a:spLocks noGrp="1"/>
          </p:cNvSpPr>
          <p:nvPr>
            <p:ph type="sldNum" sz="quarter" idx="4"/>
          </p:nvPr>
        </p:nvSpPr>
        <p:spPr>
          <a:xfrm>
            <a:off x="8350421" y="4506295"/>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6" name="Footer Placeholder 5">
            <a:extLst>
              <a:ext uri="{FF2B5EF4-FFF2-40B4-BE49-F238E27FC236}">
                <a16:creationId xmlns:a16="http://schemas.microsoft.com/office/drawing/2014/main" id="{92224726-864F-99C6-2E39-4E71822B03E1}"/>
              </a:ext>
            </a:extLst>
          </p:cNvPr>
          <p:cNvSpPr>
            <a:spLocks noGrp="1"/>
          </p:cNvSpPr>
          <p:nvPr>
            <p:ph type="ftr" sz="quarter" idx="15"/>
          </p:nvPr>
        </p:nvSpPr>
        <p:spPr/>
        <p:txBody>
          <a:bodyPr/>
          <a:lstStyle>
            <a:lvl1pPr>
              <a:defRPr>
                <a:solidFill>
                  <a:schemeClr val="bg1"/>
                </a:solidFill>
              </a:defRPr>
            </a:lvl1pPr>
          </a:lstStyle>
          <a:p>
            <a:r>
              <a:rPr lang="en-US"/>
              <a:t>Division/Department Name</a:t>
            </a:r>
            <a:endParaRPr lang="en-US" dirty="0"/>
          </a:p>
        </p:txBody>
      </p:sp>
      <p:sp>
        <p:nvSpPr>
          <p:cNvPr id="4" name="Content Placeholder 6">
            <a:extLst>
              <a:ext uri="{FF2B5EF4-FFF2-40B4-BE49-F238E27FC236}">
                <a16:creationId xmlns:a16="http://schemas.microsoft.com/office/drawing/2014/main" id="{16DF9D62-DA62-3653-DD38-9C9FB11C7698}"/>
              </a:ext>
            </a:extLst>
          </p:cNvPr>
          <p:cNvSpPr>
            <a:spLocks noGrp="1"/>
          </p:cNvSpPr>
          <p:nvPr>
            <p:ph sz="quarter" idx="11" hasCustomPrompt="1"/>
          </p:nvPr>
        </p:nvSpPr>
        <p:spPr>
          <a:xfrm>
            <a:off x="495300" y="1554481"/>
            <a:ext cx="7277100" cy="205777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649266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and Large Image">
    <p:spTree>
      <p:nvGrpSpPr>
        <p:cNvPr id="1" name=""/>
        <p:cNvGrpSpPr/>
        <p:nvPr/>
      </p:nvGrpSpPr>
      <p:grpSpPr>
        <a:xfrm>
          <a:off x="0" y="0"/>
          <a:ext cx="0" cy="0"/>
          <a:chOff x="0" y="0"/>
          <a:chExt cx="0" cy="0"/>
        </a:xfrm>
      </p:grpSpPr>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3036367" y="0"/>
            <a:ext cx="6107634" cy="5143501"/>
          </a:xfrm>
          <a:solidFill>
            <a:schemeClr val="bg1">
              <a:lumMod val="85000"/>
            </a:schemeClr>
          </a:solidFill>
        </p:spPr>
        <p:txBody>
          <a:bodyPr tIns="1005840"/>
          <a:lstStyle>
            <a:lvl1pPr algn="ctr">
              <a:defRPr>
                <a:solidFill>
                  <a:schemeClr val="tx2"/>
                </a:solidFill>
              </a:defRPr>
            </a:lvl1pPr>
          </a:lstStyle>
          <a:p>
            <a:r>
              <a:rPr lang="en-US"/>
              <a:t>Click icon to add picture</a:t>
            </a:r>
          </a:p>
        </p:txBody>
      </p:sp>
      <p:sp>
        <p:nvSpPr>
          <p:cNvPr id="3" name="Slide Number Placeholder 5">
            <a:extLst>
              <a:ext uri="{FF2B5EF4-FFF2-40B4-BE49-F238E27FC236}">
                <a16:creationId xmlns:a16="http://schemas.microsoft.com/office/drawing/2014/main" id="{7ED6687E-E66B-5294-8095-3A1F08C6B870}"/>
              </a:ext>
            </a:extLst>
          </p:cNvPr>
          <p:cNvSpPr>
            <a:spLocks noGrp="1"/>
          </p:cNvSpPr>
          <p:nvPr>
            <p:ph type="sldNum" sz="quarter" idx="4"/>
          </p:nvPr>
        </p:nvSpPr>
        <p:spPr>
          <a:xfrm>
            <a:off x="8346924" y="4509793"/>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5" name="Footer Placeholder 4">
            <a:extLst>
              <a:ext uri="{FF2B5EF4-FFF2-40B4-BE49-F238E27FC236}">
                <a16:creationId xmlns:a16="http://schemas.microsoft.com/office/drawing/2014/main" id="{E4E82167-816F-0330-5594-30CE0FD38D7F}"/>
              </a:ext>
            </a:extLst>
          </p:cNvPr>
          <p:cNvSpPr>
            <a:spLocks noGrp="1"/>
          </p:cNvSpPr>
          <p:nvPr>
            <p:ph type="ftr" sz="quarter" idx="11"/>
          </p:nvPr>
        </p:nvSpPr>
        <p:spPr/>
        <p:txBody>
          <a:bodyPr/>
          <a:lstStyle>
            <a:lvl1pPr>
              <a:defRPr>
                <a:solidFill>
                  <a:schemeClr val="bg1"/>
                </a:solidFill>
              </a:defRPr>
            </a:lvl1pPr>
          </a:lstStyle>
          <a:p>
            <a:r>
              <a:rPr lang="en-US"/>
              <a:t>Division/Department Name</a:t>
            </a:r>
            <a:endParaRPr lang="en-US" dirty="0"/>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9" y="1554480"/>
            <a:ext cx="2240921" cy="2647182"/>
          </a:xfrm>
        </p:spPr>
        <p:txBody>
          <a:bodyPr/>
          <a:lstStyle>
            <a:lvl1pPr>
              <a:lnSpc>
                <a:spcPct val="112000"/>
              </a:lnSpc>
              <a:defRPr sz="1600">
                <a:solidFill>
                  <a:schemeClr val="accent1"/>
                </a:solidFill>
              </a:defRPr>
            </a:lvl1pPr>
            <a:lvl2pPr>
              <a:lnSpc>
                <a:spcPct val="112000"/>
              </a:lnSpc>
              <a:defRPr sz="1600"/>
            </a:lvl2pPr>
            <a:lvl3pPr>
              <a:lnSpc>
                <a:spcPct val="112000"/>
              </a:lnSpc>
              <a:defRPr sz="1600"/>
            </a:lvl3pPr>
            <a:lvl4pPr>
              <a:lnSpc>
                <a:spcPct val="112000"/>
              </a:lnSpc>
              <a:defRPr sz="1600"/>
            </a:lvl4pPr>
            <a:lvl5pPr>
              <a:lnSpc>
                <a:spcPct val="11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495299" y="400050"/>
            <a:ext cx="2240921" cy="920750"/>
          </a:xfrm>
        </p:spPr>
        <p:txBody>
          <a:bodyPr/>
          <a:lstStyle>
            <a:lvl1pPr>
              <a:defRPr>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22071310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ext and Large Image - Purple">
    <p:bg>
      <p:bgPr>
        <a:solidFill>
          <a:schemeClr val="tx2"/>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C23C1952-12E9-27F2-6FF0-AEC01151289E}"/>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6" name="Freeform 5">
              <a:extLst>
                <a:ext uri="{FF2B5EF4-FFF2-40B4-BE49-F238E27FC236}">
                  <a16:creationId xmlns:a16="http://schemas.microsoft.com/office/drawing/2014/main" id="{9FBC0409-1906-7166-E733-B5FE52251507}"/>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6">
              <a:extLst>
                <a:ext uri="{FF2B5EF4-FFF2-40B4-BE49-F238E27FC236}">
                  <a16:creationId xmlns:a16="http://schemas.microsoft.com/office/drawing/2014/main" id="{F5FDA380-19E7-A0E8-D0D3-C14B99D1FA1B}"/>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F0F2E238-0568-9EE2-91CF-B975CABA5EBC}"/>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3036367" y="0"/>
            <a:ext cx="6107634" cy="5143501"/>
          </a:xfrm>
          <a:solidFill>
            <a:schemeClr val="bg1">
              <a:lumMod val="85000"/>
            </a:schemeClr>
          </a:solidFill>
        </p:spPr>
        <p:txBody>
          <a:bodyPr tIns="1005840"/>
          <a:lstStyle>
            <a:lvl1pPr algn="ctr">
              <a:defRPr>
                <a:solidFill>
                  <a:schemeClr val="tx2"/>
                </a:solidFill>
              </a:defRPr>
            </a:lvl1pPr>
          </a:lstStyle>
          <a:p>
            <a:r>
              <a:rPr lang="en-US"/>
              <a:t>Click icon to add picture</a:t>
            </a:r>
          </a:p>
        </p:txBody>
      </p:sp>
      <p:sp>
        <p:nvSpPr>
          <p:cNvPr id="3" name="Slide Number Placeholder 5">
            <a:extLst>
              <a:ext uri="{FF2B5EF4-FFF2-40B4-BE49-F238E27FC236}">
                <a16:creationId xmlns:a16="http://schemas.microsoft.com/office/drawing/2014/main" id="{7ED6687E-E66B-5294-8095-3A1F08C6B870}"/>
              </a:ext>
            </a:extLst>
          </p:cNvPr>
          <p:cNvSpPr>
            <a:spLocks noGrp="1"/>
          </p:cNvSpPr>
          <p:nvPr>
            <p:ph type="sldNum" sz="quarter" idx="4"/>
          </p:nvPr>
        </p:nvSpPr>
        <p:spPr>
          <a:xfrm>
            <a:off x="8346924" y="4509793"/>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1" name="Footer Placeholder 10">
            <a:extLst>
              <a:ext uri="{FF2B5EF4-FFF2-40B4-BE49-F238E27FC236}">
                <a16:creationId xmlns:a16="http://schemas.microsoft.com/office/drawing/2014/main" id="{5BDEAB25-CCC6-CD27-0A99-13A1DCE7F6F0}"/>
              </a:ext>
            </a:extLst>
          </p:cNvPr>
          <p:cNvSpPr>
            <a:spLocks noGrp="1"/>
          </p:cNvSpPr>
          <p:nvPr>
            <p:ph type="ftr" sz="quarter" idx="11"/>
          </p:nvPr>
        </p:nvSpPr>
        <p:spPr/>
        <p:txBody>
          <a:bodyPr/>
          <a:lstStyle>
            <a:lvl1pPr>
              <a:defRPr>
                <a:solidFill>
                  <a:schemeClr val="bg1"/>
                </a:solidFill>
              </a:defRPr>
            </a:lvl1pPr>
          </a:lstStyle>
          <a:p>
            <a:r>
              <a:rPr lang="en-US"/>
              <a:t>Division/Department Name</a:t>
            </a:r>
            <a:endParaRPr lang="en-US" dirty="0"/>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9" y="1554480"/>
            <a:ext cx="2240921" cy="2647182"/>
          </a:xfrm>
        </p:spPr>
        <p:txBody>
          <a:bodyPr/>
          <a:lstStyle>
            <a:lvl1pPr>
              <a:lnSpc>
                <a:spcPct val="112000"/>
              </a:lnSpc>
              <a:defRPr sz="1600">
                <a:solidFill>
                  <a:schemeClr val="bg1"/>
                </a:solidFill>
              </a:defRPr>
            </a:lvl1pPr>
            <a:lvl2pPr>
              <a:lnSpc>
                <a:spcPct val="112000"/>
              </a:lnSpc>
              <a:defRPr sz="1600">
                <a:solidFill>
                  <a:schemeClr val="bg1"/>
                </a:solidFill>
              </a:defRPr>
            </a:lvl2pPr>
            <a:lvl3pPr>
              <a:lnSpc>
                <a:spcPct val="112000"/>
              </a:lnSpc>
              <a:defRPr sz="1600">
                <a:solidFill>
                  <a:schemeClr val="bg1"/>
                </a:solidFill>
              </a:defRPr>
            </a:lvl3pPr>
            <a:lvl4pPr>
              <a:lnSpc>
                <a:spcPct val="112000"/>
              </a:lnSpc>
              <a:defRPr sz="1600">
                <a:solidFill>
                  <a:schemeClr val="bg1"/>
                </a:solidFill>
              </a:defRPr>
            </a:lvl4pPr>
            <a:lvl5pPr>
              <a:lnSpc>
                <a:spcPct val="112000"/>
              </a:lnSpc>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495299" y="400050"/>
            <a:ext cx="2240921" cy="920750"/>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274399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ext and Full Page Image">
    <p:spTree>
      <p:nvGrpSpPr>
        <p:cNvPr id="1" name=""/>
        <p:cNvGrpSpPr/>
        <p:nvPr/>
      </p:nvGrpSpPr>
      <p:grpSpPr>
        <a:xfrm>
          <a:off x="0" y="0"/>
          <a:ext cx="0" cy="0"/>
          <a:chOff x="0" y="0"/>
          <a:chExt cx="0" cy="0"/>
        </a:xfrm>
      </p:grpSpPr>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0" y="0"/>
            <a:ext cx="9144001" cy="5143501"/>
          </a:xfrm>
          <a:solidFill>
            <a:schemeClr val="bg1">
              <a:lumMod val="85000"/>
            </a:schemeClr>
          </a:solidFill>
        </p:spPr>
        <p:txBody>
          <a:bodyPr tIns="1005840"/>
          <a:lstStyle>
            <a:lvl1pPr algn="ctr">
              <a:defRPr>
                <a:solidFill>
                  <a:schemeClr val="tx2"/>
                </a:solidFill>
              </a:defRPr>
            </a:lvl1pPr>
          </a:lstStyle>
          <a:p>
            <a:r>
              <a:rPr lang="en-US"/>
              <a:t>Click icon to add picture</a:t>
            </a:r>
            <a:endParaRPr lang="en-US" dirty="0"/>
          </a:p>
        </p:txBody>
      </p:sp>
      <p:sp>
        <p:nvSpPr>
          <p:cNvPr id="3" name="NYU Langone Health Logo">
            <a:extLst>
              <a:ext uri="{FF2B5EF4-FFF2-40B4-BE49-F238E27FC236}">
                <a16:creationId xmlns:a16="http://schemas.microsoft.com/office/drawing/2014/main" id="{76799307-424C-8A97-EDE0-544A13555A70}"/>
              </a:ext>
            </a:extLst>
          </p:cNvPr>
          <p:cNvSpPr>
            <a:spLocks noGrp="1"/>
          </p:cNvSpPr>
          <p:nvPr>
            <p:ph type="body" sz="quarter" idx="14" hasCustomPrompt="1"/>
          </p:nvPr>
        </p:nvSpPr>
        <p:spPr>
          <a:xfrm>
            <a:off x="507330" y="4410243"/>
            <a:ext cx="838200" cy="352425"/>
          </a:xfrm>
          <a:blipFill>
            <a:blip>
              <a:extLst>
                <a:ext uri="{96DAC541-7B7A-43D3-8B79-37D633B846F1}">
                  <asvg:svgBlip xmlns:asvg="http://schemas.microsoft.com/office/drawing/2016/SVG/main" r:embed="rId2"/>
                </a:ext>
              </a:extLst>
            </a:blip>
            <a:stretch>
              <a:fillRect/>
            </a:stretch>
          </a:blipFill>
        </p:spPr>
        <p:txBody>
          <a:bodyPr/>
          <a:lstStyle/>
          <a:p>
            <a:pPr lvl="0"/>
            <a:r>
              <a:rPr lang="en-US" dirty="0"/>
              <a:t> </a:t>
            </a:r>
          </a:p>
        </p:txBody>
      </p:sp>
      <p:sp>
        <p:nvSpPr>
          <p:cNvPr id="5" name="Slide Number Placeholder 5">
            <a:extLst>
              <a:ext uri="{FF2B5EF4-FFF2-40B4-BE49-F238E27FC236}">
                <a16:creationId xmlns:a16="http://schemas.microsoft.com/office/drawing/2014/main" id="{2182874F-C92B-945D-B692-C1B9B8C5B79A}"/>
              </a:ext>
            </a:extLst>
          </p:cNvPr>
          <p:cNvSpPr>
            <a:spLocks noGrp="1"/>
          </p:cNvSpPr>
          <p:nvPr>
            <p:ph type="sldNum" sz="quarter" idx="4"/>
          </p:nvPr>
        </p:nvSpPr>
        <p:spPr>
          <a:xfrm>
            <a:off x="8350421" y="4506295"/>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4" name="Footer Placeholder 3">
            <a:extLst>
              <a:ext uri="{FF2B5EF4-FFF2-40B4-BE49-F238E27FC236}">
                <a16:creationId xmlns:a16="http://schemas.microsoft.com/office/drawing/2014/main" id="{08FBBF81-8C89-DF23-78CA-8B0FAB4530F0}"/>
              </a:ext>
            </a:extLst>
          </p:cNvPr>
          <p:cNvSpPr>
            <a:spLocks noGrp="1"/>
          </p:cNvSpPr>
          <p:nvPr>
            <p:ph type="ftr" sz="quarter" idx="15"/>
          </p:nvPr>
        </p:nvSpPr>
        <p:spPr/>
        <p:txBody>
          <a:bodyPr/>
          <a:lstStyle>
            <a:lvl1pPr>
              <a:defRPr>
                <a:solidFill>
                  <a:schemeClr val="bg1"/>
                </a:solidFill>
              </a:defRPr>
            </a:lvl1pPr>
          </a:lstStyle>
          <a:p>
            <a:r>
              <a:rPr lang="en-US"/>
              <a:t>Division/Department Name</a:t>
            </a:r>
            <a:endParaRPr lang="en-US" dirty="0"/>
          </a:p>
        </p:txBody>
      </p:sp>
      <p:sp>
        <p:nvSpPr>
          <p:cNvPr id="13" name="Content Placeholder 2">
            <a:extLst>
              <a:ext uri="{FF2B5EF4-FFF2-40B4-BE49-F238E27FC236}">
                <a16:creationId xmlns:a16="http://schemas.microsoft.com/office/drawing/2014/main" id="{313CFE71-3F3A-F8D9-8EE4-516B6E1B2C9D}"/>
              </a:ext>
            </a:extLst>
          </p:cNvPr>
          <p:cNvSpPr>
            <a:spLocks noGrp="1"/>
          </p:cNvSpPr>
          <p:nvPr>
            <p:ph idx="13" hasCustomPrompt="1"/>
          </p:nvPr>
        </p:nvSpPr>
        <p:spPr>
          <a:xfrm>
            <a:off x="495300" y="1554480"/>
            <a:ext cx="5448300" cy="2676918"/>
          </a:xfrm>
        </p:spPr>
        <p:txBody>
          <a:bodyPr/>
          <a:lstStyle>
            <a:lvl1pPr>
              <a:lnSpc>
                <a:spcPct val="82000"/>
              </a:lnSpc>
              <a:defRPr sz="4500" b="0">
                <a:solidFill>
                  <a:schemeClr val="bg1"/>
                </a:solidFill>
              </a:defRPr>
            </a:lvl1pPr>
            <a:lvl2pPr>
              <a:lnSpc>
                <a:spcPct val="115000"/>
              </a:lnSpc>
              <a:defRPr/>
            </a:lvl2pPr>
            <a:lvl3pPr>
              <a:lnSpc>
                <a:spcPct val="115000"/>
              </a:lnSpc>
              <a:defRPr/>
            </a:lvl3pPr>
            <a:lvl4pPr>
              <a:lnSpc>
                <a:spcPct val="115000"/>
              </a:lnSpc>
              <a:defRPr/>
            </a:lvl4pPr>
            <a:lvl5pPr>
              <a:lnSpc>
                <a:spcPct val="115000"/>
              </a:lnSpc>
              <a:defRPr/>
            </a:lvl5pPr>
          </a:lstStyle>
          <a:p>
            <a:pPr lvl="0"/>
            <a:r>
              <a:rPr lang="en-US" dirty="0"/>
              <a:t>Click to edit master text styles</a:t>
            </a:r>
          </a:p>
        </p:txBody>
      </p:sp>
      <p:sp>
        <p:nvSpPr>
          <p:cNvPr id="2" name="Title 1"/>
          <p:cNvSpPr>
            <a:spLocks noGrp="1"/>
          </p:cNvSpPr>
          <p:nvPr>
            <p:ph type="title" hasCustomPrompt="1"/>
          </p:nvPr>
        </p:nvSpPr>
        <p:spPr>
          <a:xfrm>
            <a:off x="495299" y="400050"/>
            <a:ext cx="7066789" cy="815580"/>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670781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Two Images">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4645FEE-0D66-8F6B-F262-51EC62F50AB8}"/>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5" name="Footer Placeholder 4">
            <a:extLst>
              <a:ext uri="{FF2B5EF4-FFF2-40B4-BE49-F238E27FC236}">
                <a16:creationId xmlns:a16="http://schemas.microsoft.com/office/drawing/2014/main" id="{56250348-974D-18B5-6E6F-24FA7F9F5613}"/>
              </a:ext>
            </a:extLst>
          </p:cNvPr>
          <p:cNvSpPr>
            <a:spLocks noGrp="1"/>
          </p:cNvSpPr>
          <p:nvPr>
            <p:ph type="ftr" sz="quarter" idx="15"/>
          </p:nvPr>
        </p:nvSpPr>
        <p:spPr/>
        <p:txBody>
          <a:bodyPr/>
          <a:lstStyle/>
          <a:p>
            <a:r>
              <a:rPr lang="en-US"/>
              <a:t>Division/Department Name</a:t>
            </a:r>
            <a:endParaRPr lang="en-US" dirty="0"/>
          </a:p>
        </p:txBody>
      </p:sp>
      <p:sp>
        <p:nvSpPr>
          <p:cNvPr id="10" name="Content Placeholder 2">
            <a:extLst>
              <a:ext uri="{FF2B5EF4-FFF2-40B4-BE49-F238E27FC236}">
                <a16:creationId xmlns:a16="http://schemas.microsoft.com/office/drawing/2014/main" id="{0D18C1C8-D8FB-BD07-A65C-92605D1A9036}"/>
              </a:ext>
            </a:extLst>
          </p:cNvPr>
          <p:cNvSpPr>
            <a:spLocks noGrp="1"/>
          </p:cNvSpPr>
          <p:nvPr>
            <p:ph idx="14" hasCustomPrompt="1"/>
          </p:nvPr>
        </p:nvSpPr>
        <p:spPr>
          <a:xfrm>
            <a:off x="4838701" y="3587183"/>
            <a:ext cx="3771900" cy="622867"/>
          </a:xfrm>
        </p:spPr>
        <p:txBody>
          <a:bodyPr/>
          <a:lstStyle>
            <a:lvl1pPr>
              <a:lnSpc>
                <a:spcPct val="112000"/>
              </a:lnSpc>
              <a:defRPr sz="1400">
                <a:solidFill>
                  <a:schemeClr val="accent1"/>
                </a:solidFill>
              </a:defRPr>
            </a:lvl1pPr>
            <a:lvl2pPr>
              <a:lnSpc>
                <a:spcPct val="112000"/>
              </a:lnSpc>
              <a:defRPr sz="1400"/>
            </a:lvl2pPr>
            <a:lvl3pPr marL="109728" indent="-109728">
              <a:lnSpc>
                <a:spcPct val="112000"/>
              </a:lnSpc>
              <a:defRPr sz="1400"/>
            </a:lvl3pPr>
            <a:lvl4pPr marL="292608" indent="-109728">
              <a:lnSpc>
                <a:spcPct val="112000"/>
              </a:lnSpc>
              <a:defRPr sz="1400"/>
            </a:lvl4pPr>
            <a:lvl5pPr marL="475488" indent="-109728">
              <a:lnSpc>
                <a:spcPct val="11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3">
            <a:extLst>
              <a:ext uri="{FF2B5EF4-FFF2-40B4-BE49-F238E27FC236}">
                <a16:creationId xmlns:a16="http://schemas.microsoft.com/office/drawing/2014/main" id="{32AB9D3B-A168-5E4F-54A4-969E9494DB3C}"/>
              </a:ext>
            </a:extLst>
          </p:cNvPr>
          <p:cNvSpPr>
            <a:spLocks noGrp="1"/>
          </p:cNvSpPr>
          <p:nvPr>
            <p:ph type="pic" sz="quarter" idx="13"/>
          </p:nvPr>
        </p:nvSpPr>
        <p:spPr>
          <a:xfrm>
            <a:off x="4838700" y="1427981"/>
            <a:ext cx="3771900" cy="1965960"/>
          </a:xfrm>
          <a:solidFill>
            <a:schemeClr val="bg1">
              <a:lumMod val="85000"/>
            </a:schemeClr>
          </a:solidFill>
        </p:spPr>
        <p:txBody>
          <a:bodyPr tIns="731520"/>
          <a:lstStyle>
            <a:lvl1pPr algn="ctr">
              <a:defRPr>
                <a:solidFill>
                  <a:schemeClr val="tx2"/>
                </a:solidFill>
              </a:defRPr>
            </a:lvl1pPr>
          </a:lstStyle>
          <a:p>
            <a:r>
              <a:rPr lang="en-US"/>
              <a:t>Click icon to add picture</a:t>
            </a:r>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300" y="3587183"/>
            <a:ext cx="3810000" cy="622867"/>
          </a:xfrm>
        </p:spPr>
        <p:txBody>
          <a:bodyPr/>
          <a:lstStyle>
            <a:lvl1pPr>
              <a:lnSpc>
                <a:spcPct val="112000"/>
              </a:lnSpc>
              <a:defRPr sz="1400">
                <a:solidFill>
                  <a:schemeClr val="accent1"/>
                </a:solidFill>
              </a:defRPr>
            </a:lvl1pPr>
            <a:lvl2pPr>
              <a:lnSpc>
                <a:spcPct val="112000"/>
              </a:lnSpc>
              <a:defRPr sz="1400"/>
            </a:lvl2pPr>
            <a:lvl3pPr marL="109728" indent="-109728">
              <a:lnSpc>
                <a:spcPct val="112000"/>
              </a:lnSpc>
              <a:defRPr sz="1400"/>
            </a:lvl3pPr>
            <a:lvl4pPr marL="292608" indent="-109728">
              <a:lnSpc>
                <a:spcPct val="112000"/>
              </a:lnSpc>
              <a:defRPr sz="1400"/>
            </a:lvl4pPr>
            <a:lvl5pPr marL="475488" indent="-109728">
              <a:lnSpc>
                <a:spcPct val="11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495299" y="1427981"/>
            <a:ext cx="3810001" cy="1965960"/>
          </a:xfrm>
          <a:solidFill>
            <a:schemeClr val="bg1">
              <a:lumMod val="85000"/>
            </a:schemeClr>
          </a:solidFill>
        </p:spPr>
        <p:txBody>
          <a:bodyPr tIns="731520"/>
          <a:lstStyle>
            <a:lvl1pPr algn="ctr">
              <a:defRPr>
                <a:solidFill>
                  <a:schemeClr val="tx2"/>
                </a:solidFill>
              </a:defRPr>
            </a:lvl1pPr>
          </a:lstStyle>
          <a:p>
            <a:r>
              <a:rPr lang="en-US"/>
              <a:t>Click icon to add picture</a:t>
            </a:r>
          </a:p>
        </p:txBody>
      </p:sp>
      <p:sp>
        <p:nvSpPr>
          <p:cNvPr id="2" name="Title 1"/>
          <p:cNvSpPr>
            <a:spLocks noGrp="1"/>
          </p:cNvSpPr>
          <p:nvPr>
            <p:ph type="title" hasCustomPrompt="1"/>
          </p:nvPr>
        </p:nvSpPr>
        <p:spPr/>
        <p:txBody>
          <a:bodyPr/>
          <a:lstStyle>
            <a:lvl1pPr>
              <a:defRPr>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3240590763"/>
      </p:ext>
    </p:extLst>
  </p:cSld>
  <p:clrMapOvr>
    <a:masterClrMapping/>
  </p:clrMapOvr>
  <p:extLst>
    <p:ext uri="{DCECCB84-F9BA-43D5-87BE-67443E8EF086}">
      <p15:sldGuideLst xmlns:p15="http://schemas.microsoft.com/office/powerpoint/2012/main">
        <p15:guide id="1" pos="2712" userDrawn="1">
          <p15:clr>
            <a:srgbClr val="FBAE40"/>
          </p15:clr>
        </p15:guide>
        <p15:guide id="2" pos="304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ext and Two Images - Purple">
    <p:bg>
      <p:bgPr>
        <a:solidFill>
          <a:schemeClr val="tx2"/>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7AB60D01-24B7-A43D-083C-92C2FEF554A6}"/>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6" name="Freeform 5">
              <a:extLst>
                <a:ext uri="{FF2B5EF4-FFF2-40B4-BE49-F238E27FC236}">
                  <a16:creationId xmlns:a16="http://schemas.microsoft.com/office/drawing/2014/main" id="{664C890F-1137-9304-EB64-07B52030DC2F}"/>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DCA53D7D-31B4-175F-357F-CF1193687009}"/>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8E595A2-3ACE-F573-725B-4A57FBCC01CA}"/>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5">
            <a:extLst>
              <a:ext uri="{FF2B5EF4-FFF2-40B4-BE49-F238E27FC236}">
                <a16:creationId xmlns:a16="http://schemas.microsoft.com/office/drawing/2014/main" id="{B4645FEE-0D66-8F6B-F262-51EC62F50AB8}"/>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3" name="Footer Placeholder 12">
            <a:extLst>
              <a:ext uri="{FF2B5EF4-FFF2-40B4-BE49-F238E27FC236}">
                <a16:creationId xmlns:a16="http://schemas.microsoft.com/office/drawing/2014/main" id="{702EAAF8-908B-87A4-8FF7-8E0EB50FA8D2}"/>
              </a:ext>
            </a:extLst>
          </p:cNvPr>
          <p:cNvSpPr>
            <a:spLocks noGrp="1"/>
          </p:cNvSpPr>
          <p:nvPr>
            <p:ph type="ftr" sz="quarter" idx="15"/>
          </p:nvPr>
        </p:nvSpPr>
        <p:spPr/>
        <p:txBody>
          <a:bodyPr/>
          <a:lstStyle>
            <a:lvl1pPr>
              <a:defRPr>
                <a:solidFill>
                  <a:schemeClr val="bg1"/>
                </a:solidFill>
              </a:defRPr>
            </a:lvl1pPr>
          </a:lstStyle>
          <a:p>
            <a:r>
              <a:rPr lang="en-US"/>
              <a:t>Division/Department Name</a:t>
            </a:r>
            <a:endParaRPr lang="en-US" dirty="0"/>
          </a:p>
        </p:txBody>
      </p:sp>
      <p:sp>
        <p:nvSpPr>
          <p:cNvPr id="10" name="Content Placeholder 2">
            <a:extLst>
              <a:ext uri="{FF2B5EF4-FFF2-40B4-BE49-F238E27FC236}">
                <a16:creationId xmlns:a16="http://schemas.microsoft.com/office/drawing/2014/main" id="{0D18C1C8-D8FB-BD07-A65C-92605D1A9036}"/>
              </a:ext>
            </a:extLst>
          </p:cNvPr>
          <p:cNvSpPr>
            <a:spLocks noGrp="1"/>
          </p:cNvSpPr>
          <p:nvPr>
            <p:ph idx="14" hasCustomPrompt="1"/>
          </p:nvPr>
        </p:nvSpPr>
        <p:spPr>
          <a:xfrm>
            <a:off x="4838701" y="3587183"/>
            <a:ext cx="3771900" cy="622867"/>
          </a:xfrm>
        </p:spPr>
        <p:txBody>
          <a:bodyPr/>
          <a:lstStyle>
            <a:lvl1pPr>
              <a:lnSpc>
                <a:spcPct val="112000"/>
              </a:lnSpc>
              <a:defRPr sz="1400">
                <a:solidFill>
                  <a:schemeClr val="bg1"/>
                </a:solidFill>
              </a:defRPr>
            </a:lvl1pPr>
            <a:lvl2pPr>
              <a:lnSpc>
                <a:spcPct val="112000"/>
              </a:lnSpc>
              <a:defRPr sz="1400">
                <a:solidFill>
                  <a:schemeClr val="bg1"/>
                </a:solidFill>
              </a:defRPr>
            </a:lvl2pPr>
            <a:lvl3pPr marL="109728" indent="-109728">
              <a:lnSpc>
                <a:spcPct val="112000"/>
              </a:lnSpc>
              <a:defRPr sz="1400">
                <a:solidFill>
                  <a:schemeClr val="bg1"/>
                </a:solidFill>
              </a:defRPr>
            </a:lvl3pPr>
            <a:lvl4pPr marL="292608" indent="-109728">
              <a:lnSpc>
                <a:spcPct val="112000"/>
              </a:lnSpc>
              <a:defRPr sz="1400">
                <a:solidFill>
                  <a:schemeClr val="bg1"/>
                </a:solidFill>
              </a:defRPr>
            </a:lvl4pPr>
            <a:lvl5pPr marL="475488" indent="-109728">
              <a:lnSpc>
                <a:spcPct val="112000"/>
              </a:lnSpc>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3">
            <a:extLst>
              <a:ext uri="{FF2B5EF4-FFF2-40B4-BE49-F238E27FC236}">
                <a16:creationId xmlns:a16="http://schemas.microsoft.com/office/drawing/2014/main" id="{32AB9D3B-A168-5E4F-54A4-969E9494DB3C}"/>
              </a:ext>
            </a:extLst>
          </p:cNvPr>
          <p:cNvSpPr>
            <a:spLocks noGrp="1"/>
          </p:cNvSpPr>
          <p:nvPr>
            <p:ph type="pic" sz="quarter" idx="13"/>
          </p:nvPr>
        </p:nvSpPr>
        <p:spPr>
          <a:xfrm>
            <a:off x="4838700" y="1427981"/>
            <a:ext cx="3771900" cy="1965960"/>
          </a:xfrm>
          <a:solidFill>
            <a:schemeClr val="bg1">
              <a:lumMod val="85000"/>
            </a:schemeClr>
          </a:solidFill>
        </p:spPr>
        <p:txBody>
          <a:bodyPr tIns="731520"/>
          <a:lstStyle>
            <a:lvl1pPr algn="ctr">
              <a:defRPr>
                <a:solidFill>
                  <a:schemeClr val="tx2"/>
                </a:solidFill>
              </a:defRPr>
            </a:lvl1pPr>
          </a:lstStyle>
          <a:p>
            <a:r>
              <a:rPr lang="en-US"/>
              <a:t>Click icon to add picture</a:t>
            </a:r>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300" y="3587183"/>
            <a:ext cx="3810000" cy="622867"/>
          </a:xfrm>
        </p:spPr>
        <p:txBody>
          <a:bodyPr/>
          <a:lstStyle>
            <a:lvl1pPr>
              <a:lnSpc>
                <a:spcPct val="112000"/>
              </a:lnSpc>
              <a:defRPr sz="1400">
                <a:solidFill>
                  <a:schemeClr val="bg1"/>
                </a:solidFill>
              </a:defRPr>
            </a:lvl1pPr>
            <a:lvl2pPr>
              <a:lnSpc>
                <a:spcPct val="112000"/>
              </a:lnSpc>
              <a:defRPr sz="1400">
                <a:solidFill>
                  <a:schemeClr val="bg1"/>
                </a:solidFill>
              </a:defRPr>
            </a:lvl2pPr>
            <a:lvl3pPr marL="109728" indent="-109728">
              <a:lnSpc>
                <a:spcPct val="112000"/>
              </a:lnSpc>
              <a:defRPr sz="1400">
                <a:solidFill>
                  <a:schemeClr val="bg1"/>
                </a:solidFill>
              </a:defRPr>
            </a:lvl3pPr>
            <a:lvl4pPr marL="292608" indent="-109728">
              <a:lnSpc>
                <a:spcPct val="112000"/>
              </a:lnSpc>
              <a:defRPr sz="1400">
                <a:solidFill>
                  <a:schemeClr val="bg1"/>
                </a:solidFill>
              </a:defRPr>
            </a:lvl4pPr>
            <a:lvl5pPr marL="475488" indent="-109728">
              <a:lnSpc>
                <a:spcPct val="112000"/>
              </a:lnSpc>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495299" y="1427981"/>
            <a:ext cx="3810001" cy="1965960"/>
          </a:xfrm>
          <a:solidFill>
            <a:schemeClr val="bg1">
              <a:lumMod val="85000"/>
            </a:schemeClr>
          </a:solidFill>
        </p:spPr>
        <p:txBody>
          <a:bodyPr tIns="731520"/>
          <a:lstStyle>
            <a:lvl1pPr algn="ctr">
              <a:defRPr>
                <a:solidFill>
                  <a:schemeClr val="tx2"/>
                </a:solidFill>
              </a:defRPr>
            </a:lvl1pPr>
          </a:lstStyle>
          <a:p>
            <a:r>
              <a:rPr lang="en-US"/>
              <a:t>Click icon to add picture</a:t>
            </a:r>
            <a:endParaRPr lang="en-US" dirty="0"/>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284347164"/>
      </p:ext>
    </p:extLst>
  </p:cSld>
  <p:clrMapOvr>
    <a:masterClrMapping/>
  </p:clrMapOvr>
  <p:extLst>
    <p:ext uri="{DCECCB84-F9BA-43D5-87BE-67443E8EF086}">
      <p15:sldGuideLst xmlns:p15="http://schemas.microsoft.com/office/powerpoint/2012/main">
        <p15:guide id="1" pos="2712" userDrawn="1">
          <p15:clr>
            <a:srgbClr val="FBAE40"/>
          </p15:clr>
        </p15:guide>
        <p15:guide id="2" pos="304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Three Images">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4645FEE-0D66-8F6B-F262-51EC62F50AB8}"/>
              </a:ext>
            </a:extLst>
          </p:cNvPr>
          <p:cNvSpPr>
            <a:spLocks noGrp="1"/>
          </p:cNvSpPr>
          <p:nvPr>
            <p:ph type="sldNum" sz="quarter" idx="4"/>
          </p:nvPr>
        </p:nvSpPr>
        <p:spPr>
          <a:xfrm>
            <a:off x="8346924" y="4517608"/>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11" name="Footer Placeholder 10">
            <a:extLst>
              <a:ext uri="{FF2B5EF4-FFF2-40B4-BE49-F238E27FC236}">
                <a16:creationId xmlns:a16="http://schemas.microsoft.com/office/drawing/2014/main" id="{3A25C9B9-E8CF-7442-A5BA-65B7E96FACF7}"/>
              </a:ext>
            </a:extLst>
          </p:cNvPr>
          <p:cNvSpPr>
            <a:spLocks noGrp="1"/>
          </p:cNvSpPr>
          <p:nvPr>
            <p:ph type="ftr" sz="quarter" idx="17"/>
          </p:nvPr>
        </p:nvSpPr>
        <p:spPr/>
        <p:txBody>
          <a:bodyPr/>
          <a:lstStyle/>
          <a:p>
            <a:r>
              <a:rPr lang="en-US"/>
              <a:t>Division/Department Name</a:t>
            </a:r>
            <a:endParaRPr lang="en-US" dirty="0"/>
          </a:p>
        </p:txBody>
      </p:sp>
      <p:sp>
        <p:nvSpPr>
          <p:cNvPr id="6" name="Content Placeholder 2">
            <a:extLst>
              <a:ext uri="{FF2B5EF4-FFF2-40B4-BE49-F238E27FC236}">
                <a16:creationId xmlns:a16="http://schemas.microsoft.com/office/drawing/2014/main" id="{C9B4B917-387E-4074-A52F-4A3842B75A72}"/>
              </a:ext>
            </a:extLst>
          </p:cNvPr>
          <p:cNvSpPr>
            <a:spLocks noGrp="1"/>
          </p:cNvSpPr>
          <p:nvPr>
            <p:ph idx="16" hasCustomPrompt="1"/>
          </p:nvPr>
        </p:nvSpPr>
        <p:spPr>
          <a:xfrm>
            <a:off x="6077712" y="3587183"/>
            <a:ext cx="2532889" cy="632393"/>
          </a:xfrm>
        </p:spPr>
        <p:txBody>
          <a:bodyPr/>
          <a:lstStyle>
            <a:lvl1pPr>
              <a:lnSpc>
                <a:spcPct val="112000"/>
              </a:lnSpc>
              <a:defRPr sz="1400">
                <a:solidFill>
                  <a:schemeClr val="accent1"/>
                </a:solidFill>
              </a:defRPr>
            </a:lvl1pPr>
            <a:lvl2pPr>
              <a:lnSpc>
                <a:spcPct val="112000"/>
              </a:lnSpc>
              <a:defRPr sz="1400"/>
            </a:lvl2pPr>
            <a:lvl3pPr marL="91440" indent="-91440">
              <a:lnSpc>
                <a:spcPct val="112000"/>
              </a:lnSpc>
              <a:defRPr sz="1400"/>
            </a:lvl3pPr>
            <a:lvl4pPr marL="228600" indent="-91440">
              <a:lnSpc>
                <a:spcPct val="112000"/>
              </a:lnSpc>
              <a:defRPr sz="1400"/>
            </a:lvl4pPr>
            <a:lvl5pPr marL="411480" indent="-91440">
              <a:lnSpc>
                <a:spcPct val="11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3">
            <a:extLst>
              <a:ext uri="{FF2B5EF4-FFF2-40B4-BE49-F238E27FC236}">
                <a16:creationId xmlns:a16="http://schemas.microsoft.com/office/drawing/2014/main" id="{F1BDD536-E6BE-8F75-8E09-7164FBB4612B}"/>
              </a:ext>
            </a:extLst>
          </p:cNvPr>
          <p:cNvSpPr>
            <a:spLocks noGrp="1"/>
          </p:cNvSpPr>
          <p:nvPr>
            <p:ph type="pic" sz="quarter" idx="15"/>
          </p:nvPr>
        </p:nvSpPr>
        <p:spPr>
          <a:xfrm>
            <a:off x="6077712" y="1427981"/>
            <a:ext cx="2532888" cy="1965960"/>
          </a:xfrm>
          <a:solidFill>
            <a:schemeClr val="bg1">
              <a:lumMod val="85000"/>
            </a:schemeClr>
          </a:solidFill>
        </p:spPr>
        <p:txBody>
          <a:bodyPr tIns="731520"/>
          <a:lstStyle>
            <a:lvl1pPr algn="ctr">
              <a:defRPr>
                <a:solidFill>
                  <a:schemeClr val="tx2"/>
                </a:solidFill>
              </a:defRPr>
            </a:lvl1pPr>
          </a:lstStyle>
          <a:p>
            <a:r>
              <a:rPr lang="en-US"/>
              <a:t>Click icon to add picture</a:t>
            </a:r>
          </a:p>
        </p:txBody>
      </p:sp>
      <p:sp>
        <p:nvSpPr>
          <p:cNvPr id="10" name="Content Placeholder 2">
            <a:extLst>
              <a:ext uri="{FF2B5EF4-FFF2-40B4-BE49-F238E27FC236}">
                <a16:creationId xmlns:a16="http://schemas.microsoft.com/office/drawing/2014/main" id="{0D18C1C8-D8FB-BD07-A65C-92605D1A9036}"/>
              </a:ext>
            </a:extLst>
          </p:cNvPr>
          <p:cNvSpPr>
            <a:spLocks noGrp="1"/>
          </p:cNvSpPr>
          <p:nvPr>
            <p:ph idx="14" hasCustomPrompt="1"/>
          </p:nvPr>
        </p:nvSpPr>
        <p:spPr>
          <a:xfrm>
            <a:off x="3286506" y="3587183"/>
            <a:ext cx="2532888" cy="632393"/>
          </a:xfrm>
        </p:spPr>
        <p:txBody>
          <a:bodyPr/>
          <a:lstStyle>
            <a:lvl1pPr>
              <a:lnSpc>
                <a:spcPct val="112000"/>
              </a:lnSpc>
              <a:defRPr sz="1400">
                <a:solidFill>
                  <a:schemeClr val="accent1"/>
                </a:solidFill>
              </a:defRPr>
            </a:lvl1pPr>
            <a:lvl2pPr>
              <a:lnSpc>
                <a:spcPct val="112000"/>
              </a:lnSpc>
              <a:defRPr sz="1400"/>
            </a:lvl2pPr>
            <a:lvl3pPr marL="91440" indent="-91440">
              <a:lnSpc>
                <a:spcPct val="112000"/>
              </a:lnSpc>
              <a:defRPr sz="1400"/>
            </a:lvl3pPr>
            <a:lvl4pPr marL="228600" indent="-91440">
              <a:lnSpc>
                <a:spcPct val="112000"/>
              </a:lnSpc>
              <a:defRPr sz="1400"/>
            </a:lvl4pPr>
            <a:lvl5pPr marL="411480" indent="-91440">
              <a:lnSpc>
                <a:spcPct val="11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3">
            <a:extLst>
              <a:ext uri="{FF2B5EF4-FFF2-40B4-BE49-F238E27FC236}">
                <a16:creationId xmlns:a16="http://schemas.microsoft.com/office/drawing/2014/main" id="{32AB9D3B-A168-5E4F-54A4-969E9494DB3C}"/>
              </a:ext>
            </a:extLst>
          </p:cNvPr>
          <p:cNvSpPr>
            <a:spLocks noGrp="1"/>
          </p:cNvSpPr>
          <p:nvPr>
            <p:ph type="pic" sz="quarter" idx="13"/>
          </p:nvPr>
        </p:nvSpPr>
        <p:spPr>
          <a:xfrm>
            <a:off x="3286506" y="1427981"/>
            <a:ext cx="2532888" cy="1965960"/>
          </a:xfrm>
          <a:solidFill>
            <a:schemeClr val="bg1">
              <a:lumMod val="85000"/>
            </a:schemeClr>
          </a:solidFill>
        </p:spPr>
        <p:txBody>
          <a:bodyPr tIns="731520"/>
          <a:lstStyle>
            <a:lvl1pPr algn="ctr">
              <a:defRPr>
                <a:solidFill>
                  <a:schemeClr val="tx2"/>
                </a:solidFill>
              </a:defRPr>
            </a:lvl1pPr>
          </a:lstStyle>
          <a:p>
            <a:r>
              <a:rPr lang="en-US"/>
              <a:t>Click icon to add picture</a:t>
            </a:r>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9" y="3587183"/>
            <a:ext cx="2532887" cy="632393"/>
          </a:xfrm>
        </p:spPr>
        <p:txBody>
          <a:bodyPr/>
          <a:lstStyle>
            <a:lvl1pPr>
              <a:lnSpc>
                <a:spcPct val="112000"/>
              </a:lnSpc>
              <a:defRPr sz="1400">
                <a:solidFill>
                  <a:schemeClr val="accent1"/>
                </a:solidFill>
              </a:defRPr>
            </a:lvl1pPr>
            <a:lvl2pPr>
              <a:lnSpc>
                <a:spcPct val="112000"/>
              </a:lnSpc>
              <a:defRPr sz="1400"/>
            </a:lvl2pPr>
            <a:lvl3pPr marL="91440" indent="-91440">
              <a:lnSpc>
                <a:spcPct val="112000"/>
              </a:lnSpc>
              <a:defRPr sz="1400"/>
            </a:lvl3pPr>
            <a:lvl4pPr marL="228600" indent="-91440">
              <a:lnSpc>
                <a:spcPct val="112000"/>
              </a:lnSpc>
              <a:defRPr sz="1400"/>
            </a:lvl4pPr>
            <a:lvl5pPr marL="411480" indent="-91440">
              <a:lnSpc>
                <a:spcPct val="11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495299" y="1427981"/>
            <a:ext cx="2532888" cy="1965960"/>
          </a:xfrm>
          <a:solidFill>
            <a:schemeClr val="bg1">
              <a:lumMod val="85000"/>
            </a:schemeClr>
          </a:solidFill>
        </p:spPr>
        <p:txBody>
          <a:bodyPr tIns="731520"/>
          <a:lstStyle>
            <a:lvl1pPr algn="ctr">
              <a:defRPr>
                <a:solidFill>
                  <a:schemeClr val="tx2"/>
                </a:solidFill>
              </a:defRPr>
            </a:lvl1pPr>
          </a:lstStyle>
          <a:p>
            <a:r>
              <a:rPr lang="en-US"/>
              <a:t>Click icon to add picture</a:t>
            </a:r>
          </a:p>
        </p:txBody>
      </p:sp>
      <p:sp>
        <p:nvSpPr>
          <p:cNvPr id="2" name="Title 1"/>
          <p:cNvSpPr>
            <a:spLocks noGrp="1"/>
          </p:cNvSpPr>
          <p:nvPr>
            <p:ph type="title" hasCustomPrompt="1"/>
          </p:nvPr>
        </p:nvSpPr>
        <p:spPr/>
        <p:txBody>
          <a:bodyPr/>
          <a:lstStyle>
            <a:lvl1pPr>
              <a:defRPr>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897719659"/>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ext and Three Images - Purple">
    <p:bg>
      <p:bgPr>
        <a:solidFill>
          <a:schemeClr val="tx2"/>
        </a:solidFill>
        <a:effectLst/>
      </p:bgPr>
    </p:bg>
    <p:spTree>
      <p:nvGrpSpPr>
        <p:cNvPr id="1" name=""/>
        <p:cNvGrpSpPr/>
        <p:nvPr/>
      </p:nvGrpSpPr>
      <p:grpSpPr>
        <a:xfrm>
          <a:off x="0" y="0"/>
          <a:ext cx="0" cy="0"/>
          <a:chOff x="0" y="0"/>
          <a:chExt cx="0" cy="0"/>
        </a:xfrm>
      </p:grpSpPr>
      <p:grpSp>
        <p:nvGrpSpPr>
          <p:cNvPr id="11" name="NYU Langone Health Logo">
            <a:extLst>
              <a:ext uri="{FF2B5EF4-FFF2-40B4-BE49-F238E27FC236}">
                <a16:creationId xmlns:a16="http://schemas.microsoft.com/office/drawing/2014/main" id="{D48A709C-42EB-3A80-4BE3-FE539475024D}"/>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12" name="Freeform 11">
              <a:extLst>
                <a:ext uri="{FF2B5EF4-FFF2-40B4-BE49-F238E27FC236}">
                  <a16:creationId xmlns:a16="http://schemas.microsoft.com/office/drawing/2014/main" id="{41E13725-E0A8-91CD-AD0F-73455DBC3440}"/>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3DA59458-9833-7CDD-18C4-4C8327AD0F7F}"/>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7AB20AB4-03B1-A914-0B86-E686C037FC02}"/>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5">
            <a:extLst>
              <a:ext uri="{FF2B5EF4-FFF2-40B4-BE49-F238E27FC236}">
                <a16:creationId xmlns:a16="http://schemas.microsoft.com/office/drawing/2014/main" id="{B4645FEE-0D66-8F6B-F262-51EC62F50AB8}"/>
              </a:ext>
            </a:extLst>
          </p:cNvPr>
          <p:cNvSpPr>
            <a:spLocks noGrp="1"/>
          </p:cNvSpPr>
          <p:nvPr>
            <p:ph type="sldNum" sz="quarter" idx="4"/>
          </p:nvPr>
        </p:nvSpPr>
        <p:spPr>
          <a:xfrm>
            <a:off x="8346924" y="4517608"/>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5" name="Footer Placeholder 14">
            <a:extLst>
              <a:ext uri="{FF2B5EF4-FFF2-40B4-BE49-F238E27FC236}">
                <a16:creationId xmlns:a16="http://schemas.microsoft.com/office/drawing/2014/main" id="{97012119-4654-432D-B44C-7C2252FC054D}"/>
              </a:ext>
            </a:extLst>
          </p:cNvPr>
          <p:cNvSpPr>
            <a:spLocks noGrp="1"/>
          </p:cNvSpPr>
          <p:nvPr>
            <p:ph type="ftr" sz="quarter" idx="17"/>
          </p:nvPr>
        </p:nvSpPr>
        <p:spPr/>
        <p:txBody>
          <a:bodyPr/>
          <a:lstStyle>
            <a:lvl1pPr>
              <a:defRPr>
                <a:solidFill>
                  <a:schemeClr val="bg1"/>
                </a:solidFill>
              </a:defRPr>
            </a:lvl1pPr>
          </a:lstStyle>
          <a:p>
            <a:r>
              <a:rPr lang="en-US"/>
              <a:t>Division/Department Name</a:t>
            </a:r>
            <a:endParaRPr lang="en-US" dirty="0"/>
          </a:p>
        </p:txBody>
      </p:sp>
      <p:sp>
        <p:nvSpPr>
          <p:cNvPr id="6" name="Content Placeholder 2">
            <a:extLst>
              <a:ext uri="{FF2B5EF4-FFF2-40B4-BE49-F238E27FC236}">
                <a16:creationId xmlns:a16="http://schemas.microsoft.com/office/drawing/2014/main" id="{C9B4B917-387E-4074-A52F-4A3842B75A72}"/>
              </a:ext>
            </a:extLst>
          </p:cNvPr>
          <p:cNvSpPr>
            <a:spLocks noGrp="1"/>
          </p:cNvSpPr>
          <p:nvPr>
            <p:ph idx="16" hasCustomPrompt="1"/>
          </p:nvPr>
        </p:nvSpPr>
        <p:spPr>
          <a:xfrm>
            <a:off x="6077712" y="3587183"/>
            <a:ext cx="2532889" cy="632393"/>
          </a:xfrm>
        </p:spPr>
        <p:txBody>
          <a:bodyPr/>
          <a:lstStyle>
            <a:lvl1pPr>
              <a:lnSpc>
                <a:spcPct val="112000"/>
              </a:lnSpc>
              <a:defRPr sz="1400">
                <a:solidFill>
                  <a:schemeClr val="bg1"/>
                </a:solidFill>
              </a:defRPr>
            </a:lvl1pPr>
            <a:lvl2pPr>
              <a:lnSpc>
                <a:spcPct val="112000"/>
              </a:lnSpc>
              <a:defRPr sz="1400">
                <a:solidFill>
                  <a:schemeClr val="bg1"/>
                </a:solidFill>
              </a:defRPr>
            </a:lvl2pPr>
            <a:lvl3pPr marL="91440" indent="-91440">
              <a:lnSpc>
                <a:spcPct val="112000"/>
              </a:lnSpc>
              <a:defRPr sz="1400">
                <a:solidFill>
                  <a:schemeClr val="bg1"/>
                </a:solidFill>
              </a:defRPr>
            </a:lvl3pPr>
            <a:lvl4pPr marL="228600" indent="-91440">
              <a:lnSpc>
                <a:spcPct val="112000"/>
              </a:lnSpc>
              <a:defRPr sz="1400">
                <a:solidFill>
                  <a:schemeClr val="bg1"/>
                </a:solidFill>
              </a:defRPr>
            </a:lvl4pPr>
            <a:lvl5pPr marL="411480" indent="-91440">
              <a:lnSpc>
                <a:spcPct val="112000"/>
              </a:lnSpc>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3">
            <a:extLst>
              <a:ext uri="{FF2B5EF4-FFF2-40B4-BE49-F238E27FC236}">
                <a16:creationId xmlns:a16="http://schemas.microsoft.com/office/drawing/2014/main" id="{F1BDD536-E6BE-8F75-8E09-7164FBB4612B}"/>
              </a:ext>
            </a:extLst>
          </p:cNvPr>
          <p:cNvSpPr>
            <a:spLocks noGrp="1"/>
          </p:cNvSpPr>
          <p:nvPr>
            <p:ph type="pic" sz="quarter" idx="15"/>
          </p:nvPr>
        </p:nvSpPr>
        <p:spPr>
          <a:xfrm>
            <a:off x="6077712" y="1427981"/>
            <a:ext cx="2532888" cy="1965960"/>
          </a:xfrm>
          <a:solidFill>
            <a:schemeClr val="bg1">
              <a:lumMod val="85000"/>
            </a:schemeClr>
          </a:solidFill>
        </p:spPr>
        <p:txBody>
          <a:bodyPr tIns="731520"/>
          <a:lstStyle>
            <a:lvl1pPr algn="ctr">
              <a:defRPr>
                <a:solidFill>
                  <a:schemeClr val="tx2"/>
                </a:solidFill>
              </a:defRPr>
            </a:lvl1pPr>
          </a:lstStyle>
          <a:p>
            <a:r>
              <a:rPr lang="en-US"/>
              <a:t>Click icon to add picture</a:t>
            </a:r>
          </a:p>
        </p:txBody>
      </p:sp>
      <p:sp>
        <p:nvSpPr>
          <p:cNvPr id="10" name="Content Placeholder 2">
            <a:extLst>
              <a:ext uri="{FF2B5EF4-FFF2-40B4-BE49-F238E27FC236}">
                <a16:creationId xmlns:a16="http://schemas.microsoft.com/office/drawing/2014/main" id="{0D18C1C8-D8FB-BD07-A65C-92605D1A9036}"/>
              </a:ext>
            </a:extLst>
          </p:cNvPr>
          <p:cNvSpPr>
            <a:spLocks noGrp="1"/>
          </p:cNvSpPr>
          <p:nvPr>
            <p:ph idx="14" hasCustomPrompt="1"/>
          </p:nvPr>
        </p:nvSpPr>
        <p:spPr>
          <a:xfrm>
            <a:off x="3286506" y="3587183"/>
            <a:ext cx="2532888" cy="632393"/>
          </a:xfrm>
        </p:spPr>
        <p:txBody>
          <a:bodyPr/>
          <a:lstStyle>
            <a:lvl1pPr>
              <a:lnSpc>
                <a:spcPct val="112000"/>
              </a:lnSpc>
              <a:defRPr sz="1400">
                <a:solidFill>
                  <a:schemeClr val="bg1"/>
                </a:solidFill>
              </a:defRPr>
            </a:lvl1pPr>
            <a:lvl2pPr>
              <a:lnSpc>
                <a:spcPct val="112000"/>
              </a:lnSpc>
              <a:defRPr sz="1400">
                <a:solidFill>
                  <a:schemeClr val="bg1"/>
                </a:solidFill>
              </a:defRPr>
            </a:lvl2pPr>
            <a:lvl3pPr marL="91440" indent="-91440">
              <a:lnSpc>
                <a:spcPct val="112000"/>
              </a:lnSpc>
              <a:defRPr sz="1400">
                <a:solidFill>
                  <a:schemeClr val="bg1"/>
                </a:solidFill>
              </a:defRPr>
            </a:lvl3pPr>
            <a:lvl4pPr marL="228600" indent="-91440">
              <a:lnSpc>
                <a:spcPct val="112000"/>
              </a:lnSpc>
              <a:defRPr sz="1400">
                <a:solidFill>
                  <a:schemeClr val="bg1"/>
                </a:solidFill>
              </a:defRPr>
            </a:lvl4pPr>
            <a:lvl5pPr marL="411480" indent="-91440">
              <a:lnSpc>
                <a:spcPct val="112000"/>
              </a:lnSpc>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3">
            <a:extLst>
              <a:ext uri="{FF2B5EF4-FFF2-40B4-BE49-F238E27FC236}">
                <a16:creationId xmlns:a16="http://schemas.microsoft.com/office/drawing/2014/main" id="{32AB9D3B-A168-5E4F-54A4-969E9494DB3C}"/>
              </a:ext>
            </a:extLst>
          </p:cNvPr>
          <p:cNvSpPr>
            <a:spLocks noGrp="1"/>
          </p:cNvSpPr>
          <p:nvPr>
            <p:ph type="pic" sz="quarter" idx="13"/>
          </p:nvPr>
        </p:nvSpPr>
        <p:spPr>
          <a:xfrm>
            <a:off x="3286506" y="1427981"/>
            <a:ext cx="2532888" cy="1965960"/>
          </a:xfrm>
          <a:solidFill>
            <a:schemeClr val="bg1">
              <a:lumMod val="85000"/>
            </a:schemeClr>
          </a:solidFill>
        </p:spPr>
        <p:txBody>
          <a:bodyPr tIns="731520"/>
          <a:lstStyle>
            <a:lvl1pPr algn="ctr">
              <a:defRPr>
                <a:solidFill>
                  <a:schemeClr val="tx2"/>
                </a:solidFill>
              </a:defRPr>
            </a:lvl1pPr>
          </a:lstStyle>
          <a:p>
            <a:r>
              <a:rPr lang="en-US"/>
              <a:t>Click icon to add picture</a:t>
            </a:r>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9" y="3587183"/>
            <a:ext cx="2532887" cy="632393"/>
          </a:xfrm>
        </p:spPr>
        <p:txBody>
          <a:bodyPr/>
          <a:lstStyle>
            <a:lvl1pPr>
              <a:lnSpc>
                <a:spcPct val="112000"/>
              </a:lnSpc>
              <a:defRPr sz="1400">
                <a:solidFill>
                  <a:schemeClr val="bg1"/>
                </a:solidFill>
              </a:defRPr>
            </a:lvl1pPr>
            <a:lvl2pPr>
              <a:lnSpc>
                <a:spcPct val="112000"/>
              </a:lnSpc>
              <a:defRPr sz="1400">
                <a:solidFill>
                  <a:schemeClr val="bg1"/>
                </a:solidFill>
              </a:defRPr>
            </a:lvl2pPr>
            <a:lvl3pPr marL="91440" indent="-91440">
              <a:lnSpc>
                <a:spcPct val="112000"/>
              </a:lnSpc>
              <a:defRPr sz="1400">
                <a:solidFill>
                  <a:schemeClr val="bg1"/>
                </a:solidFill>
              </a:defRPr>
            </a:lvl3pPr>
            <a:lvl4pPr marL="228600" indent="-91440">
              <a:lnSpc>
                <a:spcPct val="112000"/>
              </a:lnSpc>
              <a:defRPr sz="1400">
                <a:solidFill>
                  <a:schemeClr val="bg1"/>
                </a:solidFill>
              </a:defRPr>
            </a:lvl4pPr>
            <a:lvl5pPr marL="411480" indent="-91440">
              <a:lnSpc>
                <a:spcPct val="112000"/>
              </a:lnSpc>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495299" y="1427981"/>
            <a:ext cx="2532888" cy="1965960"/>
          </a:xfrm>
          <a:solidFill>
            <a:schemeClr val="bg1">
              <a:lumMod val="85000"/>
            </a:schemeClr>
          </a:solidFill>
        </p:spPr>
        <p:txBody>
          <a:bodyPr tIns="731520"/>
          <a:lstStyle>
            <a:lvl1pPr algn="ctr">
              <a:defRPr>
                <a:solidFill>
                  <a:schemeClr val="tx2"/>
                </a:solidFill>
              </a:defRPr>
            </a:lvl1pPr>
          </a:lstStyle>
          <a:p>
            <a:r>
              <a:rPr lang="en-US"/>
              <a:t>Click icon to add picture</a:t>
            </a:r>
            <a:endParaRPr lang="en-US" dirty="0"/>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772671249"/>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and Four Images">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E003EF9-3D7B-6B28-CFE9-B03186353ED1}"/>
              </a:ext>
            </a:extLst>
          </p:cNvPr>
          <p:cNvSpPr>
            <a:spLocks noGrp="1"/>
          </p:cNvSpPr>
          <p:nvPr>
            <p:ph type="sldNum" sz="quarter" idx="4"/>
          </p:nvPr>
        </p:nvSpPr>
        <p:spPr>
          <a:xfrm>
            <a:off x="8346922" y="4517607"/>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3" name="Footer Placeholder 2">
            <a:extLst>
              <a:ext uri="{FF2B5EF4-FFF2-40B4-BE49-F238E27FC236}">
                <a16:creationId xmlns:a16="http://schemas.microsoft.com/office/drawing/2014/main" id="{5D807D47-AE70-B2A6-AA00-07691081AE46}"/>
              </a:ext>
            </a:extLst>
          </p:cNvPr>
          <p:cNvSpPr>
            <a:spLocks noGrp="1"/>
          </p:cNvSpPr>
          <p:nvPr>
            <p:ph type="ftr" sz="quarter" idx="21"/>
          </p:nvPr>
        </p:nvSpPr>
        <p:spPr/>
        <p:txBody>
          <a:bodyPr/>
          <a:lstStyle/>
          <a:p>
            <a:r>
              <a:rPr lang="en-US"/>
              <a:t>Division/Department Name</a:t>
            </a:r>
            <a:endParaRPr lang="en-US" dirty="0"/>
          </a:p>
        </p:txBody>
      </p:sp>
      <p:sp>
        <p:nvSpPr>
          <p:cNvPr id="16" name="Content Placeholder 2">
            <a:extLst>
              <a:ext uri="{FF2B5EF4-FFF2-40B4-BE49-F238E27FC236}">
                <a16:creationId xmlns:a16="http://schemas.microsoft.com/office/drawing/2014/main" id="{3BCA7B80-B75F-A050-86EB-5459E1FFF963}"/>
              </a:ext>
            </a:extLst>
          </p:cNvPr>
          <p:cNvSpPr>
            <a:spLocks noGrp="1"/>
          </p:cNvSpPr>
          <p:nvPr>
            <p:ph idx="20" hasCustomPrompt="1"/>
          </p:nvPr>
        </p:nvSpPr>
        <p:spPr>
          <a:xfrm>
            <a:off x="6781800" y="2764992"/>
            <a:ext cx="1828800" cy="1445058"/>
          </a:xfrm>
        </p:spPr>
        <p:txBody>
          <a:bodyPr/>
          <a:lstStyle>
            <a:lvl1pPr>
              <a:lnSpc>
                <a:spcPct val="112000"/>
              </a:lnSpc>
              <a:defRPr sz="1400"/>
            </a:lvl1pPr>
            <a:lvl2pPr>
              <a:lnSpc>
                <a:spcPct val="112000"/>
              </a:lnSpc>
              <a:defRPr sz="1400"/>
            </a:lvl2pPr>
            <a:lvl3pPr marL="91440" indent="-91440">
              <a:lnSpc>
                <a:spcPct val="112000"/>
              </a:lnSpc>
              <a:defRPr sz="1400"/>
            </a:lvl3pPr>
            <a:lvl4pPr marL="228600" indent="-91440">
              <a:lnSpc>
                <a:spcPct val="112000"/>
              </a:lnSpc>
              <a:defRPr sz="1400"/>
            </a:lvl4pPr>
            <a:lvl5pPr marL="411480" indent="-91440">
              <a:lnSpc>
                <a:spcPct val="11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13">
            <a:extLst>
              <a:ext uri="{FF2B5EF4-FFF2-40B4-BE49-F238E27FC236}">
                <a16:creationId xmlns:a16="http://schemas.microsoft.com/office/drawing/2014/main" id="{1B733EA3-1907-BCFF-411F-10B15B638E03}"/>
              </a:ext>
            </a:extLst>
          </p:cNvPr>
          <p:cNvSpPr>
            <a:spLocks noGrp="1"/>
          </p:cNvSpPr>
          <p:nvPr>
            <p:ph type="pic" sz="quarter" idx="17"/>
          </p:nvPr>
        </p:nvSpPr>
        <p:spPr>
          <a:xfrm>
            <a:off x="6781800" y="1428750"/>
            <a:ext cx="1828800" cy="1143000"/>
          </a:xfrm>
          <a:solidFill>
            <a:schemeClr val="bg1">
              <a:lumMod val="85000"/>
            </a:schemeClr>
          </a:solidFill>
        </p:spPr>
        <p:txBody>
          <a:bodyPr tIns="91440"/>
          <a:lstStyle>
            <a:lvl1pPr algn="ctr">
              <a:defRPr>
                <a:solidFill>
                  <a:schemeClr val="tx2"/>
                </a:solidFill>
              </a:defRPr>
            </a:lvl1pPr>
          </a:lstStyle>
          <a:p>
            <a:r>
              <a:rPr lang="en-US"/>
              <a:t>Click icon to add picture</a:t>
            </a:r>
            <a:endParaRPr lang="en-US" dirty="0"/>
          </a:p>
        </p:txBody>
      </p:sp>
      <p:sp>
        <p:nvSpPr>
          <p:cNvPr id="15" name="Content Placeholder 2">
            <a:extLst>
              <a:ext uri="{FF2B5EF4-FFF2-40B4-BE49-F238E27FC236}">
                <a16:creationId xmlns:a16="http://schemas.microsoft.com/office/drawing/2014/main" id="{113EDF18-D2BC-07DE-A7F8-CEA49F7C8A8F}"/>
              </a:ext>
            </a:extLst>
          </p:cNvPr>
          <p:cNvSpPr>
            <a:spLocks noGrp="1"/>
          </p:cNvSpPr>
          <p:nvPr>
            <p:ph idx="19" hasCustomPrompt="1"/>
          </p:nvPr>
        </p:nvSpPr>
        <p:spPr>
          <a:xfrm>
            <a:off x="4686301" y="2764992"/>
            <a:ext cx="1828800" cy="1445058"/>
          </a:xfrm>
        </p:spPr>
        <p:txBody>
          <a:bodyPr/>
          <a:lstStyle>
            <a:lvl1pPr>
              <a:lnSpc>
                <a:spcPct val="112000"/>
              </a:lnSpc>
              <a:defRPr sz="1400"/>
            </a:lvl1pPr>
            <a:lvl2pPr>
              <a:lnSpc>
                <a:spcPct val="112000"/>
              </a:lnSpc>
              <a:defRPr sz="1400"/>
            </a:lvl2pPr>
            <a:lvl3pPr marL="91440" indent="-91440">
              <a:lnSpc>
                <a:spcPct val="112000"/>
              </a:lnSpc>
              <a:defRPr sz="1400"/>
            </a:lvl3pPr>
            <a:lvl4pPr marL="228600" indent="-91440">
              <a:lnSpc>
                <a:spcPct val="112000"/>
              </a:lnSpc>
              <a:defRPr sz="1400"/>
            </a:lvl4pPr>
            <a:lvl5pPr marL="411480" indent="-91440">
              <a:lnSpc>
                <a:spcPct val="11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3">
            <a:extLst>
              <a:ext uri="{FF2B5EF4-FFF2-40B4-BE49-F238E27FC236}">
                <a16:creationId xmlns:a16="http://schemas.microsoft.com/office/drawing/2014/main" id="{6B9052FE-07F2-2318-FAED-8F93C55BB715}"/>
              </a:ext>
            </a:extLst>
          </p:cNvPr>
          <p:cNvSpPr>
            <a:spLocks noGrp="1"/>
          </p:cNvSpPr>
          <p:nvPr>
            <p:ph type="pic" sz="quarter" idx="16"/>
          </p:nvPr>
        </p:nvSpPr>
        <p:spPr>
          <a:xfrm>
            <a:off x="4686300" y="1428750"/>
            <a:ext cx="1828800" cy="1143000"/>
          </a:xfrm>
          <a:solidFill>
            <a:schemeClr val="bg1">
              <a:lumMod val="85000"/>
            </a:schemeClr>
          </a:solidFill>
        </p:spPr>
        <p:txBody>
          <a:bodyPr tIns="91440"/>
          <a:lstStyle>
            <a:lvl1pPr algn="ctr">
              <a:defRPr>
                <a:solidFill>
                  <a:schemeClr val="tx2"/>
                </a:solidFill>
              </a:defRPr>
            </a:lvl1pPr>
          </a:lstStyle>
          <a:p>
            <a:r>
              <a:rPr lang="en-US"/>
              <a:t>Click icon to add picture</a:t>
            </a:r>
          </a:p>
        </p:txBody>
      </p:sp>
      <p:sp>
        <p:nvSpPr>
          <p:cNvPr id="14" name="Content Placeholder 2">
            <a:extLst>
              <a:ext uri="{FF2B5EF4-FFF2-40B4-BE49-F238E27FC236}">
                <a16:creationId xmlns:a16="http://schemas.microsoft.com/office/drawing/2014/main" id="{F1B4BB71-3293-6CFC-9E86-D40C6FB8E839}"/>
              </a:ext>
            </a:extLst>
          </p:cNvPr>
          <p:cNvSpPr>
            <a:spLocks noGrp="1"/>
          </p:cNvSpPr>
          <p:nvPr>
            <p:ph idx="18" hasCustomPrompt="1"/>
          </p:nvPr>
        </p:nvSpPr>
        <p:spPr>
          <a:xfrm>
            <a:off x="2590800" y="2764992"/>
            <a:ext cx="1828800" cy="1445058"/>
          </a:xfrm>
        </p:spPr>
        <p:txBody>
          <a:bodyPr/>
          <a:lstStyle>
            <a:lvl1pPr>
              <a:lnSpc>
                <a:spcPct val="112000"/>
              </a:lnSpc>
              <a:defRPr sz="1400"/>
            </a:lvl1pPr>
            <a:lvl2pPr>
              <a:lnSpc>
                <a:spcPct val="112000"/>
              </a:lnSpc>
              <a:defRPr sz="1400"/>
            </a:lvl2pPr>
            <a:lvl3pPr marL="91440" indent="-91440">
              <a:lnSpc>
                <a:spcPct val="112000"/>
              </a:lnSpc>
              <a:defRPr sz="1400"/>
            </a:lvl3pPr>
            <a:lvl4pPr marL="228600" indent="-91440">
              <a:lnSpc>
                <a:spcPct val="112000"/>
              </a:lnSpc>
              <a:defRPr sz="1400"/>
            </a:lvl4pPr>
            <a:lvl5pPr marL="411480" indent="-91440">
              <a:lnSpc>
                <a:spcPct val="11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3">
            <a:extLst>
              <a:ext uri="{FF2B5EF4-FFF2-40B4-BE49-F238E27FC236}">
                <a16:creationId xmlns:a16="http://schemas.microsoft.com/office/drawing/2014/main" id="{798FC0FE-33D3-F2F7-29D8-BFB66F8FB500}"/>
              </a:ext>
            </a:extLst>
          </p:cNvPr>
          <p:cNvSpPr>
            <a:spLocks noGrp="1"/>
          </p:cNvSpPr>
          <p:nvPr>
            <p:ph type="pic" sz="quarter" idx="15"/>
          </p:nvPr>
        </p:nvSpPr>
        <p:spPr>
          <a:xfrm>
            <a:off x="2590800" y="1428750"/>
            <a:ext cx="1828800" cy="1143000"/>
          </a:xfrm>
          <a:solidFill>
            <a:schemeClr val="bg1">
              <a:lumMod val="85000"/>
            </a:schemeClr>
          </a:solidFill>
        </p:spPr>
        <p:txBody>
          <a:bodyPr tIns="91440"/>
          <a:lstStyle>
            <a:lvl1pPr algn="ctr">
              <a:defRPr>
                <a:solidFill>
                  <a:schemeClr val="tx2"/>
                </a:solidFill>
              </a:defRPr>
            </a:lvl1pPr>
          </a:lstStyle>
          <a:p>
            <a:r>
              <a:rPr lang="en-US"/>
              <a:t>Click icon to add picture</a:t>
            </a:r>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9" y="2764992"/>
            <a:ext cx="1828799" cy="1445058"/>
          </a:xfrm>
        </p:spPr>
        <p:txBody>
          <a:bodyPr/>
          <a:lstStyle>
            <a:lvl1pPr>
              <a:lnSpc>
                <a:spcPct val="112000"/>
              </a:lnSpc>
              <a:defRPr sz="1400"/>
            </a:lvl1pPr>
            <a:lvl2pPr>
              <a:lnSpc>
                <a:spcPct val="112000"/>
              </a:lnSpc>
              <a:defRPr sz="1400"/>
            </a:lvl2pPr>
            <a:lvl3pPr marL="91440" indent="-91440">
              <a:lnSpc>
                <a:spcPct val="112000"/>
              </a:lnSpc>
              <a:defRPr sz="1400"/>
            </a:lvl3pPr>
            <a:lvl4pPr marL="228600" indent="-91440">
              <a:lnSpc>
                <a:spcPct val="112000"/>
              </a:lnSpc>
              <a:defRPr sz="1400"/>
            </a:lvl4pPr>
            <a:lvl5pPr marL="411480" indent="-91440">
              <a:lnSpc>
                <a:spcPct val="11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495300" y="1427982"/>
            <a:ext cx="1828800" cy="1143768"/>
          </a:xfrm>
          <a:solidFill>
            <a:schemeClr val="bg1">
              <a:lumMod val="85000"/>
            </a:schemeClr>
          </a:solidFill>
        </p:spPr>
        <p:txBody>
          <a:bodyPr tIns="91440"/>
          <a:lstStyle>
            <a:lvl1pPr algn="ctr">
              <a:defRPr>
                <a:solidFill>
                  <a:schemeClr val="tx2"/>
                </a:solidFill>
              </a:defRPr>
            </a:lvl1pPr>
          </a:lstStyle>
          <a:p>
            <a:r>
              <a:rPr lang="en-US"/>
              <a:t>Click icon to add picture</a:t>
            </a:r>
            <a:endParaRPr lang="en-US" dirty="0"/>
          </a:p>
        </p:txBody>
      </p:sp>
      <p:sp>
        <p:nvSpPr>
          <p:cNvPr id="2" name="Title 1"/>
          <p:cNvSpPr>
            <a:spLocks noGrp="1"/>
          </p:cNvSpPr>
          <p:nvPr>
            <p:ph type="title" hasCustomPrompt="1"/>
          </p:nvPr>
        </p:nvSpPr>
        <p:spPr/>
        <p:txBody>
          <a:bodyPr/>
          <a:lstStyle>
            <a:lvl1pPr>
              <a:defRPr>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2908559130"/>
      </p:ext>
    </p:extLst>
  </p:cSld>
  <p:clrMapOvr>
    <a:masterClrMapping/>
  </p:clrMapOvr>
  <p:extLst>
    <p:ext uri="{DCECCB84-F9BA-43D5-87BE-67443E8EF086}">
      <p15:sldGuideLst xmlns:p15="http://schemas.microsoft.com/office/powerpoint/2012/main">
        <p15:guide id="1" orient="horz" pos="162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ext and Four Images - Purple">
    <p:bg>
      <p:bgPr>
        <a:solidFill>
          <a:schemeClr val="tx2"/>
        </a:solidFill>
        <a:effectLst/>
      </p:bgPr>
    </p:bg>
    <p:spTree>
      <p:nvGrpSpPr>
        <p:cNvPr id="1" name=""/>
        <p:cNvGrpSpPr/>
        <p:nvPr/>
      </p:nvGrpSpPr>
      <p:grpSpPr>
        <a:xfrm>
          <a:off x="0" y="0"/>
          <a:ext cx="0" cy="0"/>
          <a:chOff x="0" y="0"/>
          <a:chExt cx="0" cy="0"/>
        </a:xfrm>
      </p:grpSpPr>
      <p:grpSp>
        <p:nvGrpSpPr>
          <p:cNvPr id="3" name="NYU Langone Health Logo">
            <a:extLst>
              <a:ext uri="{FF2B5EF4-FFF2-40B4-BE49-F238E27FC236}">
                <a16:creationId xmlns:a16="http://schemas.microsoft.com/office/drawing/2014/main" id="{9E1EE3A3-70F7-ADCA-D0FD-4578C4C4116E}"/>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4" name="Freeform 3">
              <a:extLst>
                <a:ext uri="{FF2B5EF4-FFF2-40B4-BE49-F238E27FC236}">
                  <a16:creationId xmlns:a16="http://schemas.microsoft.com/office/drawing/2014/main" id="{00CCA7B1-30B0-A866-F5BE-7EEF2CF5147A}"/>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6">
              <a:extLst>
                <a:ext uri="{FF2B5EF4-FFF2-40B4-BE49-F238E27FC236}">
                  <a16:creationId xmlns:a16="http://schemas.microsoft.com/office/drawing/2014/main" id="{A51FEC2F-8696-6500-D5C9-A19244BB584B}"/>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70B293C7-E657-8331-A1D0-1B42E2AF68F8}"/>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 name="Slide Number Placeholder 5">
            <a:extLst>
              <a:ext uri="{FF2B5EF4-FFF2-40B4-BE49-F238E27FC236}">
                <a16:creationId xmlns:a16="http://schemas.microsoft.com/office/drawing/2014/main" id="{6E003EF9-3D7B-6B28-CFE9-B03186353ED1}"/>
              </a:ext>
            </a:extLst>
          </p:cNvPr>
          <p:cNvSpPr>
            <a:spLocks noGrp="1"/>
          </p:cNvSpPr>
          <p:nvPr>
            <p:ph type="sldNum" sz="quarter" idx="4"/>
          </p:nvPr>
        </p:nvSpPr>
        <p:spPr>
          <a:xfrm>
            <a:off x="8346922" y="4517607"/>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7" name="Footer Placeholder 16">
            <a:extLst>
              <a:ext uri="{FF2B5EF4-FFF2-40B4-BE49-F238E27FC236}">
                <a16:creationId xmlns:a16="http://schemas.microsoft.com/office/drawing/2014/main" id="{7D3BCF80-9982-792C-53F3-31482DF59D09}"/>
              </a:ext>
            </a:extLst>
          </p:cNvPr>
          <p:cNvSpPr>
            <a:spLocks noGrp="1"/>
          </p:cNvSpPr>
          <p:nvPr>
            <p:ph type="ftr" sz="quarter" idx="21"/>
          </p:nvPr>
        </p:nvSpPr>
        <p:spPr/>
        <p:txBody>
          <a:bodyPr/>
          <a:lstStyle>
            <a:lvl1pPr>
              <a:defRPr>
                <a:solidFill>
                  <a:schemeClr val="bg1"/>
                </a:solidFill>
              </a:defRPr>
            </a:lvl1pPr>
          </a:lstStyle>
          <a:p>
            <a:r>
              <a:rPr lang="en-US"/>
              <a:t>Division/Department Name</a:t>
            </a:r>
            <a:endParaRPr lang="en-US" dirty="0"/>
          </a:p>
        </p:txBody>
      </p:sp>
      <p:sp>
        <p:nvSpPr>
          <p:cNvPr id="16" name="Content Placeholder 2">
            <a:extLst>
              <a:ext uri="{FF2B5EF4-FFF2-40B4-BE49-F238E27FC236}">
                <a16:creationId xmlns:a16="http://schemas.microsoft.com/office/drawing/2014/main" id="{3BCA7B80-B75F-A050-86EB-5459E1FFF963}"/>
              </a:ext>
            </a:extLst>
          </p:cNvPr>
          <p:cNvSpPr>
            <a:spLocks noGrp="1"/>
          </p:cNvSpPr>
          <p:nvPr>
            <p:ph idx="20" hasCustomPrompt="1"/>
          </p:nvPr>
        </p:nvSpPr>
        <p:spPr>
          <a:xfrm>
            <a:off x="6781800" y="2764992"/>
            <a:ext cx="1828800" cy="1445058"/>
          </a:xfrm>
        </p:spPr>
        <p:txBody>
          <a:bodyPr/>
          <a:lstStyle>
            <a:lvl1pPr>
              <a:lnSpc>
                <a:spcPct val="112000"/>
              </a:lnSpc>
              <a:defRPr sz="1400">
                <a:solidFill>
                  <a:schemeClr val="bg1"/>
                </a:solidFill>
              </a:defRPr>
            </a:lvl1pPr>
            <a:lvl2pPr>
              <a:lnSpc>
                <a:spcPct val="112000"/>
              </a:lnSpc>
              <a:defRPr sz="1400">
                <a:solidFill>
                  <a:schemeClr val="bg1"/>
                </a:solidFill>
              </a:defRPr>
            </a:lvl2pPr>
            <a:lvl3pPr marL="91440" indent="-91440">
              <a:lnSpc>
                <a:spcPct val="112000"/>
              </a:lnSpc>
              <a:defRPr sz="1400">
                <a:solidFill>
                  <a:schemeClr val="bg1"/>
                </a:solidFill>
              </a:defRPr>
            </a:lvl3pPr>
            <a:lvl4pPr marL="228600" indent="-91440">
              <a:lnSpc>
                <a:spcPct val="112000"/>
              </a:lnSpc>
              <a:defRPr sz="1400">
                <a:solidFill>
                  <a:schemeClr val="bg1"/>
                </a:solidFill>
              </a:defRPr>
            </a:lvl4pPr>
            <a:lvl5pPr marL="411480" indent="-91440">
              <a:lnSpc>
                <a:spcPct val="112000"/>
              </a:lnSpc>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13">
            <a:extLst>
              <a:ext uri="{FF2B5EF4-FFF2-40B4-BE49-F238E27FC236}">
                <a16:creationId xmlns:a16="http://schemas.microsoft.com/office/drawing/2014/main" id="{1B733EA3-1907-BCFF-411F-10B15B638E03}"/>
              </a:ext>
            </a:extLst>
          </p:cNvPr>
          <p:cNvSpPr>
            <a:spLocks noGrp="1"/>
          </p:cNvSpPr>
          <p:nvPr>
            <p:ph type="pic" sz="quarter" idx="17"/>
          </p:nvPr>
        </p:nvSpPr>
        <p:spPr>
          <a:xfrm>
            <a:off x="6781800" y="1428750"/>
            <a:ext cx="1828800" cy="1143000"/>
          </a:xfrm>
          <a:solidFill>
            <a:schemeClr val="bg1">
              <a:lumMod val="85000"/>
            </a:schemeClr>
          </a:solidFill>
        </p:spPr>
        <p:txBody>
          <a:bodyPr tIns="91440"/>
          <a:lstStyle>
            <a:lvl1pPr algn="ctr">
              <a:defRPr>
                <a:solidFill>
                  <a:schemeClr val="tx2"/>
                </a:solidFill>
              </a:defRPr>
            </a:lvl1pPr>
          </a:lstStyle>
          <a:p>
            <a:r>
              <a:rPr lang="en-US"/>
              <a:t>Click icon to add picture</a:t>
            </a:r>
            <a:endParaRPr lang="en-US" dirty="0"/>
          </a:p>
        </p:txBody>
      </p:sp>
      <p:sp>
        <p:nvSpPr>
          <p:cNvPr id="15" name="Content Placeholder 2">
            <a:extLst>
              <a:ext uri="{FF2B5EF4-FFF2-40B4-BE49-F238E27FC236}">
                <a16:creationId xmlns:a16="http://schemas.microsoft.com/office/drawing/2014/main" id="{113EDF18-D2BC-07DE-A7F8-CEA49F7C8A8F}"/>
              </a:ext>
            </a:extLst>
          </p:cNvPr>
          <p:cNvSpPr>
            <a:spLocks noGrp="1"/>
          </p:cNvSpPr>
          <p:nvPr>
            <p:ph idx="19" hasCustomPrompt="1"/>
          </p:nvPr>
        </p:nvSpPr>
        <p:spPr>
          <a:xfrm>
            <a:off x="4686301" y="2764992"/>
            <a:ext cx="1828800" cy="1445058"/>
          </a:xfrm>
        </p:spPr>
        <p:txBody>
          <a:bodyPr/>
          <a:lstStyle>
            <a:lvl1pPr>
              <a:lnSpc>
                <a:spcPct val="112000"/>
              </a:lnSpc>
              <a:defRPr sz="1400">
                <a:solidFill>
                  <a:schemeClr val="bg1"/>
                </a:solidFill>
              </a:defRPr>
            </a:lvl1pPr>
            <a:lvl2pPr>
              <a:lnSpc>
                <a:spcPct val="112000"/>
              </a:lnSpc>
              <a:defRPr sz="1400">
                <a:solidFill>
                  <a:schemeClr val="bg1"/>
                </a:solidFill>
              </a:defRPr>
            </a:lvl2pPr>
            <a:lvl3pPr marL="91440" indent="-91440">
              <a:lnSpc>
                <a:spcPct val="112000"/>
              </a:lnSpc>
              <a:defRPr sz="1400">
                <a:solidFill>
                  <a:schemeClr val="bg1"/>
                </a:solidFill>
              </a:defRPr>
            </a:lvl3pPr>
            <a:lvl4pPr marL="228600" indent="-91440">
              <a:lnSpc>
                <a:spcPct val="112000"/>
              </a:lnSpc>
              <a:defRPr sz="1400">
                <a:solidFill>
                  <a:schemeClr val="bg1"/>
                </a:solidFill>
              </a:defRPr>
            </a:lvl4pPr>
            <a:lvl5pPr marL="411480" indent="-91440">
              <a:lnSpc>
                <a:spcPct val="112000"/>
              </a:lnSpc>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3">
            <a:extLst>
              <a:ext uri="{FF2B5EF4-FFF2-40B4-BE49-F238E27FC236}">
                <a16:creationId xmlns:a16="http://schemas.microsoft.com/office/drawing/2014/main" id="{6B9052FE-07F2-2318-FAED-8F93C55BB715}"/>
              </a:ext>
            </a:extLst>
          </p:cNvPr>
          <p:cNvSpPr>
            <a:spLocks noGrp="1"/>
          </p:cNvSpPr>
          <p:nvPr>
            <p:ph type="pic" sz="quarter" idx="16"/>
          </p:nvPr>
        </p:nvSpPr>
        <p:spPr>
          <a:xfrm>
            <a:off x="4686300" y="1428750"/>
            <a:ext cx="1828800" cy="1143000"/>
          </a:xfrm>
          <a:solidFill>
            <a:schemeClr val="bg1">
              <a:lumMod val="85000"/>
            </a:schemeClr>
          </a:solidFill>
        </p:spPr>
        <p:txBody>
          <a:bodyPr tIns="91440"/>
          <a:lstStyle>
            <a:lvl1pPr algn="ctr">
              <a:defRPr>
                <a:solidFill>
                  <a:schemeClr val="tx2"/>
                </a:solidFill>
              </a:defRPr>
            </a:lvl1pPr>
          </a:lstStyle>
          <a:p>
            <a:r>
              <a:rPr lang="en-US"/>
              <a:t>Click icon to add picture</a:t>
            </a:r>
          </a:p>
        </p:txBody>
      </p:sp>
      <p:sp>
        <p:nvSpPr>
          <p:cNvPr id="14" name="Content Placeholder 2">
            <a:extLst>
              <a:ext uri="{FF2B5EF4-FFF2-40B4-BE49-F238E27FC236}">
                <a16:creationId xmlns:a16="http://schemas.microsoft.com/office/drawing/2014/main" id="{F1B4BB71-3293-6CFC-9E86-D40C6FB8E839}"/>
              </a:ext>
            </a:extLst>
          </p:cNvPr>
          <p:cNvSpPr>
            <a:spLocks noGrp="1"/>
          </p:cNvSpPr>
          <p:nvPr>
            <p:ph idx="18" hasCustomPrompt="1"/>
          </p:nvPr>
        </p:nvSpPr>
        <p:spPr>
          <a:xfrm>
            <a:off x="2590800" y="2764992"/>
            <a:ext cx="1828800" cy="1445058"/>
          </a:xfrm>
        </p:spPr>
        <p:txBody>
          <a:bodyPr/>
          <a:lstStyle>
            <a:lvl1pPr>
              <a:lnSpc>
                <a:spcPct val="112000"/>
              </a:lnSpc>
              <a:defRPr sz="1400">
                <a:solidFill>
                  <a:schemeClr val="bg1"/>
                </a:solidFill>
              </a:defRPr>
            </a:lvl1pPr>
            <a:lvl2pPr>
              <a:lnSpc>
                <a:spcPct val="112000"/>
              </a:lnSpc>
              <a:defRPr sz="1400">
                <a:solidFill>
                  <a:schemeClr val="bg1"/>
                </a:solidFill>
              </a:defRPr>
            </a:lvl2pPr>
            <a:lvl3pPr marL="91440" indent="-91440">
              <a:lnSpc>
                <a:spcPct val="112000"/>
              </a:lnSpc>
              <a:defRPr sz="1400">
                <a:solidFill>
                  <a:schemeClr val="bg1"/>
                </a:solidFill>
              </a:defRPr>
            </a:lvl3pPr>
            <a:lvl4pPr marL="228600" indent="-91440">
              <a:lnSpc>
                <a:spcPct val="112000"/>
              </a:lnSpc>
              <a:defRPr sz="1400">
                <a:solidFill>
                  <a:schemeClr val="bg1"/>
                </a:solidFill>
              </a:defRPr>
            </a:lvl4pPr>
            <a:lvl5pPr marL="411480" indent="-91440">
              <a:lnSpc>
                <a:spcPct val="112000"/>
              </a:lnSpc>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3">
            <a:extLst>
              <a:ext uri="{FF2B5EF4-FFF2-40B4-BE49-F238E27FC236}">
                <a16:creationId xmlns:a16="http://schemas.microsoft.com/office/drawing/2014/main" id="{798FC0FE-33D3-F2F7-29D8-BFB66F8FB500}"/>
              </a:ext>
            </a:extLst>
          </p:cNvPr>
          <p:cNvSpPr>
            <a:spLocks noGrp="1"/>
          </p:cNvSpPr>
          <p:nvPr>
            <p:ph type="pic" sz="quarter" idx="15"/>
          </p:nvPr>
        </p:nvSpPr>
        <p:spPr>
          <a:xfrm>
            <a:off x="2590800" y="1428750"/>
            <a:ext cx="1828800" cy="1143000"/>
          </a:xfrm>
          <a:solidFill>
            <a:schemeClr val="bg1">
              <a:lumMod val="85000"/>
            </a:schemeClr>
          </a:solidFill>
        </p:spPr>
        <p:txBody>
          <a:bodyPr tIns="91440"/>
          <a:lstStyle>
            <a:lvl1pPr algn="ctr">
              <a:defRPr>
                <a:solidFill>
                  <a:schemeClr val="tx2"/>
                </a:solidFill>
              </a:defRPr>
            </a:lvl1pPr>
          </a:lstStyle>
          <a:p>
            <a:r>
              <a:rPr lang="en-US"/>
              <a:t>Click icon to add picture</a:t>
            </a:r>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5299" y="2764992"/>
            <a:ext cx="1828799" cy="1445058"/>
          </a:xfrm>
        </p:spPr>
        <p:txBody>
          <a:bodyPr/>
          <a:lstStyle>
            <a:lvl1pPr>
              <a:lnSpc>
                <a:spcPct val="112000"/>
              </a:lnSpc>
              <a:defRPr sz="1400">
                <a:solidFill>
                  <a:schemeClr val="bg1"/>
                </a:solidFill>
              </a:defRPr>
            </a:lvl1pPr>
            <a:lvl2pPr>
              <a:lnSpc>
                <a:spcPct val="112000"/>
              </a:lnSpc>
              <a:defRPr sz="1400">
                <a:solidFill>
                  <a:schemeClr val="bg1"/>
                </a:solidFill>
              </a:defRPr>
            </a:lvl2pPr>
            <a:lvl3pPr marL="91440" indent="-91440">
              <a:lnSpc>
                <a:spcPct val="112000"/>
              </a:lnSpc>
              <a:defRPr sz="1400">
                <a:solidFill>
                  <a:schemeClr val="bg1"/>
                </a:solidFill>
              </a:defRPr>
            </a:lvl3pPr>
            <a:lvl4pPr marL="228600" indent="-91440">
              <a:lnSpc>
                <a:spcPct val="112000"/>
              </a:lnSpc>
              <a:defRPr sz="1400">
                <a:solidFill>
                  <a:schemeClr val="bg1"/>
                </a:solidFill>
              </a:defRPr>
            </a:lvl4pPr>
            <a:lvl5pPr marL="411480" indent="-91440">
              <a:lnSpc>
                <a:spcPct val="112000"/>
              </a:lnSpc>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495300" y="1427982"/>
            <a:ext cx="1828800" cy="1143768"/>
          </a:xfrm>
          <a:solidFill>
            <a:schemeClr val="bg1">
              <a:lumMod val="85000"/>
            </a:schemeClr>
          </a:solidFill>
        </p:spPr>
        <p:txBody>
          <a:bodyPr tIns="91440"/>
          <a:lstStyle>
            <a:lvl1pPr algn="ctr">
              <a:defRPr>
                <a:solidFill>
                  <a:schemeClr val="tx2"/>
                </a:solidFill>
              </a:defRPr>
            </a:lvl1pPr>
          </a:lstStyle>
          <a:p>
            <a:r>
              <a:rPr lang="en-US"/>
              <a:t>Click icon to add picture</a:t>
            </a:r>
            <a:endParaRPr lang="en-US" dirty="0"/>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836749033"/>
      </p:ext>
    </p:extLst>
  </p:cSld>
  <p:clrMapOvr>
    <a:masterClrMapping/>
  </p:clrMapOvr>
  <p:extLst>
    <p:ext uri="{DCECCB84-F9BA-43D5-87BE-67443E8EF086}">
      <p15:sldGuideLst xmlns:p15="http://schemas.microsoft.com/office/powerpoint/2012/main">
        <p15:guide id="1" orient="horz" pos="162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Large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2D57F39-02AA-089A-80FD-60D144D0644A}"/>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4" name="Footer Placeholder 3">
            <a:extLst>
              <a:ext uri="{FF2B5EF4-FFF2-40B4-BE49-F238E27FC236}">
                <a16:creationId xmlns:a16="http://schemas.microsoft.com/office/drawing/2014/main" id="{6043DC9F-2744-7188-1DCD-23C5484CA212}"/>
              </a:ext>
            </a:extLst>
          </p:cNvPr>
          <p:cNvSpPr>
            <a:spLocks noGrp="1"/>
          </p:cNvSpPr>
          <p:nvPr>
            <p:ph type="ftr" sz="quarter" idx="10"/>
          </p:nvPr>
        </p:nvSpPr>
        <p:spPr/>
        <p:txBody>
          <a:bodyPr/>
          <a:lstStyle/>
          <a:p>
            <a:r>
              <a:rPr lang="en-US"/>
              <a:t>Division/Department Name</a:t>
            </a:r>
            <a:endParaRPr lang="en-US" dirty="0"/>
          </a:p>
        </p:txBody>
      </p:sp>
      <p:sp>
        <p:nvSpPr>
          <p:cNvPr id="3" name="Content Placeholder 2"/>
          <p:cNvSpPr>
            <a:spLocks noGrp="1"/>
          </p:cNvSpPr>
          <p:nvPr>
            <p:ph idx="1" hasCustomPrompt="1"/>
          </p:nvPr>
        </p:nvSpPr>
        <p:spPr>
          <a:xfrm>
            <a:off x="495300" y="1552575"/>
            <a:ext cx="7274034" cy="2657475"/>
          </a:xfrm>
        </p:spPr>
        <p:txBody>
          <a:bodyPr/>
          <a:lstStyle>
            <a:lvl1pPr>
              <a:lnSpc>
                <a:spcPct val="85000"/>
              </a:lnSpc>
              <a:defRPr sz="5600" b="0">
                <a:solidFill>
                  <a:schemeClr val="accent1"/>
                </a:solidFill>
              </a:defRPr>
            </a:lvl1pPr>
            <a:lvl2pPr>
              <a:lnSpc>
                <a:spcPct val="112000"/>
              </a:lnSpc>
              <a:defRPr/>
            </a:lvl2pPr>
            <a:lvl3pPr>
              <a:lnSpc>
                <a:spcPct val="112000"/>
              </a:lnSpc>
              <a:defRPr/>
            </a:lvl3pPr>
            <a:lvl4pPr>
              <a:lnSpc>
                <a:spcPct val="112000"/>
              </a:lnSpc>
              <a:defRPr/>
            </a:lvl4pPr>
            <a:lvl5pPr>
              <a:lnSpc>
                <a:spcPct val="112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1987981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Title and Large Text - Purple">
    <p:bg>
      <p:bgPr>
        <a:solidFill>
          <a:schemeClr val="tx2"/>
        </a:solidFill>
        <a:effectLst/>
      </p:bgPr>
    </p:bg>
    <p:spTree>
      <p:nvGrpSpPr>
        <p:cNvPr id="1" name=""/>
        <p:cNvGrpSpPr/>
        <p:nvPr/>
      </p:nvGrpSpPr>
      <p:grpSpPr>
        <a:xfrm>
          <a:off x="0" y="0"/>
          <a:ext cx="0" cy="0"/>
          <a:chOff x="0" y="0"/>
          <a:chExt cx="0" cy="0"/>
        </a:xfrm>
      </p:grpSpPr>
      <p:grpSp>
        <p:nvGrpSpPr>
          <p:cNvPr id="4" name="NYU Langone Health Logo">
            <a:extLst>
              <a:ext uri="{FF2B5EF4-FFF2-40B4-BE49-F238E27FC236}">
                <a16:creationId xmlns:a16="http://schemas.microsoft.com/office/drawing/2014/main" id="{2FFDBD34-B9AC-61FE-A14F-E28B8F23EB15}"/>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5" name="Freeform 4">
              <a:extLst>
                <a:ext uri="{FF2B5EF4-FFF2-40B4-BE49-F238E27FC236}">
                  <a16:creationId xmlns:a16="http://schemas.microsoft.com/office/drawing/2014/main" id="{8D8EE8ED-9033-9A52-0512-68BF3FC45EB1}"/>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F7F489C8-8FF9-F11C-9489-1EC4D6B04C51}"/>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a:extLst>
                <a:ext uri="{FF2B5EF4-FFF2-40B4-BE49-F238E27FC236}">
                  <a16:creationId xmlns:a16="http://schemas.microsoft.com/office/drawing/2014/main" id="{E5E29BCA-DED1-D94E-ACF3-4873634EC1A0}"/>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 name="Slide Number Placeholder 5">
            <a:extLst>
              <a:ext uri="{FF2B5EF4-FFF2-40B4-BE49-F238E27FC236}">
                <a16:creationId xmlns:a16="http://schemas.microsoft.com/office/drawing/2014/main" id="{F2D57F39-02AA-089A-80FD-60D144D0644A}"/>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0" name="Footer Placeholder 9">
            <a:extLst>
              <a:ext uri="{FF2B5EF4-FFF2-40B4-BE49-F238E27FC236}">
                <a16:creationId xmlns:a16="http://schemas.microsoft.com/office/drawing/2014/main" id="{AE7CABB0-4AE2-F660-74B5-3FC74447506C}"/>
              </a:ext>
            </a:extLst>
          </p:cNvPr>
          <p:cNvSpPr>
            <a:spLocks noGrp="1"/>
          </p:cNvSpPr>
          <p:nvPr>
            <p:ph type="ftr" sz="quarter" idx="10"/>
          </p:nvPr>
        </p:nvSpPr>
        <p:spPr/>
        <p:txBody>
          <a:bodyPr/>
          <a:lstStyle>
            <a:lvl1pPr>
              <a:defRPr>
                <a:solidFill>
                  <a:schemeClr val="bg1"/>
                </a:solidFill>
              </a:defRPr>
            </a:lvl1pPr>
          </a:lstStyle>
          <a:p>
            <a:r>
              <a:rPr lang="en-US"/>
              <a:t>Division/Department Name</a:t>
            </a:r>
            <a:endParaRPr lang="en-US" dirty="0"/>
          </a:p>
        </p:txBody>
      </p:sp>
      <p:sp>
        <p:nvSpPr>
          <p:cNvPr id="3" name="Content Placeholder 2"/>
          <p:cNvSpPr>
            <a:spLocks noGrp="1"/>
          </p:cNvSpPr>
          <p:nvPr>
            <p:ph idx="1" hasCustomPrompt="1"/>
          </p:nvPr>
        </p:nvSpPr>
        <p:spPr>
          <a:xfrm>
            <a:off x="495300" y="1552575"/>
            <a:ext cx="7274034" cy="2657475"/>
          </a:xfrm>
        </p:spPr>
        <p:txBody>
          <a:bodyPr/>
          <a:lstStyle>
            <a:lvl1pPr>
              <a:lnSpc>
                <a:spcPct val="85000"/>
              </a:lnSpc>
              <a:defRPr sz="5600" b="0">
                <a:solidFill>
                  <a:schemeClr val="bg1"/>
                </a:solidFill>
              </a:defRPr>
            </a:lvl1pPr>
            <a:lvl2pPr>
              <a:lnSpc>
                <a:spcPct val="112000"/>
              </a:lnSpc>
              <a:defRPr>
                <a:solidFill>
                  <a:schemeClr val="bg1"/>
                </a:solidFill>
              </a:defRPr>
            </a:lvl2pPr>
            <a:lvl3pPr>
              <a:lnSpc>
                <a:spcPct val="112000"/>
              </a:lnSpc>
              <a:defRPr>
                <a:solidFill>
                  <a:schemeClr val="bg1"/>
                </a:solidFill>
              </a:defRPr>
            </a:lvl3pPr>
            <a:lvl4pPr>
              <a:lnSpc>
                <a:spcPct val="112000"/>
              </a:lnSpc>
              <a:defRPr>
                <a:solidFill>
                  <a:schemeClr val="bg1"/>
                </a:solidFill>
              </a:defRPr>
            </a:lvl4pPr>
            <a:lvl5pPr>
              <a:lnSpc>
                <a:spcPct val="112000"/>
              </a:lnSpc>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40491237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ction Header and Image">
    <p:bg>
      <p:bgPr>
        <a:solidFill>
          <a:schemeClr val="tx2"/>
        </a:solidFill>
        <a:effectLst/>
      </p:bgPr>
    </p:bg>
    <p:spTree>
      <p:nvGrpSpPr>
        <p:cNvPr id="1" name=""/>
        <p:cNvGrpSpPr/>
        <p:nvPr/>
      </p:nvGrpSpPr>
      <p:grpSpPr>
        <a:xfrm>
          <a:off x="0" y="0"/>
          <a:ext cx="0" cy="0"/>
          <a:chOff x="0" y="0"/>
          <a:chExt cx="0" cy="0"/>
        </a:xfrm>
      </p:grpSpPr>
      <p:grpSp>
        <p:nvGrpSpPr>
          <p:cNvPr id="3" name="NYU Langone Health Logo">
            <a:extLst>
              <a:ext uri="{FF2B5EF4-FFF2-40B4-BE49-F238E27FC236}">
                <a16:creationId xmlns:a16="http://schemas.microsoft.com/office/drawing/2014/main" id="{D8207384-E671-EA1B-08D2-2939459F92ED}"/>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4" name="Freeform 3">
              <a:extLst>
                <a:ext uri="{FF2B5EF4-FFF2-40B4-BE49-F238E27FC236}">
                  <a16:creationId xmlns:a16="http://schemas.microsoft.com/office/drawing/2014/main" id="{3416B3B5-F6C5-3128-4232-41EC467DF298}"/>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4">
              <a:extLst>
                <a:ext uri="{FF2B5EF4-FFF2-40B4-BE49-F238E27FC236}">
                  <a16:creationId xmlns:a16="http://schemas.microsoft.com/office/drawing/2014/main" id="{B1507F75-2B19-B633-1D9D-0A994B468229}"/>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AD8FF72D-F06D-7E50-DF2F-3DAEFA7C9F10}"/>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Picture Placeholder 13">
            <a:extLst>
              <a:ext uri="{FF2B5EF4-FFF2-40B4-BE49-F238E27FC236}">
                <a16:creationId xmlns:a16="http://schemas.microsoft.com/office/drawing/2014/main" id="{974E889D-D7C1-1165-CA9E-B2545FF231D0}"/>
              </a:ext>
            </a:extLst>
          </p:cNvPr>
          <p:cNvSpPr>
            <a:spLocks noGrp="1"/>
          </p:cNvSpPr>
          <p:nvPr>
            <p:ph type="pic" sz="quarter" idx="10"/>
          </p:nvPr>
        </p:nvSpPr>
        <p:spPr>
          <a:xfrm>
            <a:off x="4571999" y="0"/>
            <a:ext cx="4572001" cy="5143501"/>
          </a:xfrm>
          <a:solidFill>
            <a:schemeClr val="bg1">
              <a:lumMod val="85000"/>
            </a:schemeClr>
          </a:solidFill>
        </p:spPr>
        <p:txBody>
          <a:bodyPr tIns="1005840"/>
          <a:lstStyle>
            <a:lvl1pPr algn="ctr">
              <a:defRPr>
                <a:solidFill>
                  <a:schemeClr val="tx2"/>
                </a:solidFill>
              </a:defRPr>
            </a:lvl1pPr>
          </a:lstStyle>
          <a:p>
            <a:r>
              <a:rPr lang="en-US"/>
              <a:t>Click icon to add picture</a:t>
            </a:r>
          </a:p>
        </p:txBody>
      </p:sp>
      <p:sp>
        <p:nvSpPr>
          <p:cNvPr id="6" name="Slide Number Placeholder 5">
            <a:extLst>
              <a:ext uri="{FF2B5EF4-FFF2-40B4-BE49-F238E27FC236}">
                <a16:creationId xmlns:a16="http://schemas.microsoft.com/office/drawing/2014/main" id="{C35BB43B-1319-036D-5BDA-56D0F6DE0B73}"/>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10" name="Footer Placeholder 9">
            <a:extLst>
              <a:ext uri="{FF2B5EF4-FFF2-40B4-BE49-F238E27FC236}">
                <a16:creationId xmlns:a16="http://schemas.microsoft.com/office/drawing/2014/main" id="{0D3792DC-0B59-CFCA-D68B-D6E33DB0ABD9}"/>
              </a:ext>
            </a:extLst>
          </p:cNvPr>
          <p:cNvSpPr>
            <a:spLocks noGrp="1"/>
          </p:cNvSpPr>
          <p:nvPr>
            <p:ph type="ftr" sz="quarter" idx="11"/>
          </p:nvPr>
        </p:nvSpPr>
        <p:spPr/>
        <p:txBody>
          <a:bodyPr/>
          <a:lstStyle>
            <a:lvl1pPr>
              <a:defRPr>
                <a:solidFill>
                  <a:schemeClr val="bg1"/>
                </a:solidFill>
              </a:defRPr>
            </a:lvl1pPr>
          </a:lstStyle>
          <a:p>
            <a:r>
              <a:rPr lang="en-US"/>
              <a:t>Division/Department Name</a:t>
            </a:r>
            <a:endParaRPr lang="en-US" dirty="0"/>
          </a:p>
        </p:txBody>
      </p:sp>
      <p:sp>
        <p:nvSpPr>
          <p:cNvPr id="7" name="Content Placeholder 2">
            <a:extLst>
              <a:ext uri="{FF2B5EF4-FFF2-40B4-BE49-F238E27FC236}">
                <a16:creationId xmlns:a16="http://schemas.microsoft.com/office/drawing/2014/main" id="{9C7DC55A-0110-4030-35AD-A950533BEB50}"/>
              </a:ext>
            </a:extLst>
          </p:cNvPr>
          <p:cNvSpPr>
            <a:spLocks noGrp="1"/>
          </p:cNvSpPr>
          <p:nvPr>
            <p:ph idx="1" hasCustomPrompt="1"/>
          </p:nvPr>
        </p:nvSpPr>
        <p:spPr>
          <a:xfrm>
            <a:off x="493085" y="1554480"/>
            <a:ext cx="3664700" cy="2309411"/>
          </a:xfrm>
        </p:spPr>
        <p:txBody>
          <a:bodyPr anchor="b"/>
          <a:lstStyle>
            <a:lvl1pPr>
              <a:lnSpc>
                <a:spcPct val="112000"/>
              </a:lnSpc>
              <a:defRPr sz="1800" b="0">
                <a:solidFill>
                  <a:schemeClr val="bg1"/>
                </a:solidFill>
              </a:defRPr>
            </a:lvl1pPr>
            <a:lvl2pPr>
              <a:lnSpc>
                <a:spcPct val="112000"/>
              </a:lnSpc>
              <a:defRPr sz="1800" b="0">
                <a:solidFill>
                  <a:schemeClr val="bg1"/>
                </a:solidFill>
              </a:defRPr>
            </a:lvl2pPr>
            <a:lvl3pPr marL="228600" indent="-228600">
              <a:lnSpc>
                <a:spcPct val="112000"/>
              </a:lnSpc>
              <a:defRPr sz="1800" b="0">
                <a:solidFill>
                  <a:schemeClr val="bg1"/>
                </a:solidFill>
              </a:defRPr>
            </a:lvl3pPr>
            <a:lvl4pPr marL="457200" indent="-228600">
              <a:lnSpc>
                <a:spcPct val="112000"/>
              </a:lnSpc>
              <a:defRPr sz="1800" b="0">
                <a:solidFill>
                  <a:schemeClr val="bg1"/>
                </a:solidFill>
              </a:defRPr>
            </a:lvl4pPr>
            <a:lvl5pPr marL="685800" indent="-228600">
              <a:lnSpc>
                <a:spcPct val="112000"/>
              </a:lnSpc>
              <a:defRPr sz="1800" b="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495299" y="468630"/>
            <a:ext cx="3661083" cy="1152525"/>
          </a:xfrm>
        </p:spPr>
        <p:txBody>
          <a:bodyPr/>
          <a:lstStyle>
            <a:lvl1pPr>
              <a:lnSpc>
                <a:spcPct val="80000"/>
              </a:lnSpc>
              <a:defRPr sz="45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600473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41B06AA-53AF-3F9D-598B-1507782FAEAF}"/>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3" name="Footer Placeholder 2">
            <a:extLst>
              <a:ext uri="{FF2B5EF4-FFF2-40B4-BE49-F238E27FC236}">
                <a16:creationId xmlns:a16="http://schemas.microsoft.com/office/drawing/2014/main" id="{C8CE9641-4D3A-B465-0EED-F0FBA6591F7F}"/>
              </a:ext>
            </a:extLst>
          </p:cNvPr>
          <p:cNvSpPr>
            <a:spLocks noGrp="1"/>
          </p:cNvSpPr>
          <p:nvPr>
            <p:ph type="ftr" sz="quarter" idx="10"/>
          </p:nvPr>
        </p:nvSpPr>
        <p:spPr/>
        <p:txBody>
          <a:bodyPr/>
          <a:lstStyle/>
          <a:p>
            <a:r>
              <a:rPr lang="en-US"/>
              <a:t>Division/Department Name</a:t>
            </a:r>
            <a:endParaRPr lang="en-US" dirty="0"/>
          </a:p>
        </p:txBody>
      </p:sp>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9428337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Title Only - Purple">
    <p:bg>
      <p:bgPr>
        <a:solidFill>
          <a:schemeClr val="tx2"/>
        </a:solidFill>
        <a:effectLst/>
      </p:bgPr>
    </p:bg>
    <p:spTree>
      <p:nvGrpSpPr>
        <p:cNvPr id="1" name=""/>
        <p:cNvGrpSpPr/>
        <p:nvPr/>
      </p:nvGrpSpPr>
      <p:grpSpPr>
        <a:xfrm>
          <a:off x="0" y="0"/>
          <a:ext cx="0" cy="0"/>
          <a:chOff x="0" y="0"/>
          <a:chExt cx="0" cy="0"/>
        </a:xfrm>
      </p:grpSpPr>
      <p:grpSp>
        <p:nvGrpSpPr>
          <p:cNvPr id="3" name="NYU Langone Health Logo">
            <a:extLst>
              <a:ext uri="{FF2B5EF4-FFF2-40B4-BE49-F238E27FC236}">
                <a16:creationId xmlns:a16="http://schemas.microsoft.com/office/drawing/2014/main" id="{9091262D-134D-7D08-91CE-7CAE81BEB29F}"/>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4" name="Freeform 3">
              <a:extLst>
                <a:ext uri="{FF2B5EF4-FFF2-40B4-BE49-F238E27FC236}">
                  <a16:creationId xmlns:a16="http://schemas.microsoft.com/office/drawing/2014/main" id="{D1927DCF-E53D-289B-3A9A-EA1257041E14}"/>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79EA465C-9A4E-C6D9-2619-0C13EA81E47F}"/>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a:extLst>
                <a:ext uri="{FF2B5EF4-FFF2-40B4-BE49-F238E27FC236}">
                  <a16:creationId xmlns:a16="http://schemas.microsoft.com/office/drawing/2014/main" id="{DE51B2B9-A5E7-225D-9567-04F1FD8AC338}"/>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 name="Slide Number Placeholder 5">
            <a:extLst>
              <a:ext uri="{FF2B5EF4-FFF2-40B4-BE49-F238E27FC236}">
                <a16:creationId xmlns:a16="http://schemas.microsoft.com/office/drawing/2014/main" id="{741B06AA-53AF-3F9D-598B-1507782FAEAF}"/>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9" name="Footer Placeholder 8">
            <a:extLst>
              <a:ext uri="{FF2B5EF4-FFF2-40B4-BE49-F238E27FC236}">
                <a16:creationId xmlns:a16="http://schemas.microsoft.com/office/drawing/2014/main" id="{6E9B480E-2CA2-1D9C-F0B0-F643EBE6F8AA}"/>
              </a:ext>
            </a:extLst>
          </p:cNvPr>
          <p:cNvSpPr>
            <a:spLocks noGrp="1"/>
          </p:cNvSpPr>
          <p:nvPr>
            <p:ph type="ftr" sz="quarter" idx="10"/>
          </p:nvPr>
        </p:nvSpPr>
        <p:spPr/>
        <p:txBody>
          <a:bodyPr/>
          <a:lstStyle>
            <a:lvl1pPr>
              <a:defRPr>
                <a:solidFill>
                  <a:schemeClr val="bg1"/>
                </a:solidFill>
              </a:defRPr>
            </a:lvl1pPr>
          </a:lstStyle>
          <a:p>
            <a:r>
              <a:rPr lang="en-US"/>
              <a:t>Division/Department Name</a:t>
            </a:r>
            <a:endParaRPr lang="en-US" dirty="0"/>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9702761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3BD8AE6-C2F0-35EB-8C96-26857916D76B}"/>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2" name="Footer Placeholder 1">
            <a:extLst>
              <a:ext uri="{FF2B5EF4-FFF2-40B4-BE49-F238E27FC236}">
                <a16:creationId xmlns:a16="http://schemas.microsoft.com/office/drawing/2014/main" id="{AC8BEB58-F668-7562-F0AA-C1E9454C821D}"/>
              </a:ext>
            </a:extLst>
          </p:cNvPr>
          <p:cNvSpPr>
            <a:spLocks noGrp="1"/>
          </p:cNvSpPr>
          <p:nvPr>
            <p:ph type="ftr" sz="quarter" idx="10"/>
          </p:nvPr>
        </p:nvSpPr>
        <p:spPr/>
        <p:txBody>
          <a:bodyPr/>
          <a:lstStyle/>
          <a:p>
            <a:r>
              <a:rPr lang="en-US"/>
              <a:t>Division/Department Name</a:t>
            </a:r>
            <a:endParaRPr lang="en-US" dirty="0"/>
          </a:p>
        </p:txBody>
      </p:sp>
    </p:spTree>
    <p:extLst>
      <p:ext uri="{BB962C8B-B14F-4D97-AF65-F5344CB8AC3E}">
        <p14:creationId xmlns:p14="http://schemas.microsoft.com/office/powerpoint/2010/main" val="2726047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Blank - Purple">
    <p:bg>
      <p:bgPr>
        <a:solidFill>
          <a:schemeClr val="tx2"/>
        </a:solidFill>
        <a:effectLst/>
      </p:bgPr>
    </p:bg>
    <p:spTree>
      <p:nvGrpSpPr>
        <p:cNvPr id="1" name=""/>
        <p:cNvGrpSpPr/>
        <p:nvPr/>
      </p:nvGrpSpPr>
      <p:grpSpPr>
        <a:xfrm>
          <a:off x="0" y="0"/>
          <a:ext cx="0" cy="0"/>
          <a:chOff x="0" y="0"/>
          <a:chExt cx="0" cy="0"/>
        </a:xfrm>
      </p:grpSpPr>
      <p:grpSp>
        <p:nvGrpSpPr>
          <p:cNvPr id="2" name="NYU Langone Health Logo">
            <a:extLst>
              <a:ext uri="{FF2B5EF4-FFF2-40B4-BE49-F238E27FC236}">
                <a16:creationId xmlns:a16="http://schemas.microsoft.com/office/drawing/2014/main" id="{FD2BF8FC-DE44-610A-B6A5-E0BFE2D06A8D}"/>
              </a:ext>
            </a:extLst>
          </p:cNvPr>
          <p:cNvGrpSpPr>
            <a:grpSpLocks noChangeAspect="1"/>
          </p:cNvGrpSpPr>
          <p:nvPr userDrawn="1"/>
        </p:nvGrpSpPr>
        <p:grpSpPr>
          <a:xfrm>
            <a:off x="488401" y="4416764"/>
            <a:ext cx="823087" cy="357189"/>
            <a:chOff x="2138363" y="5326063"/>
            <a:chExt cx="1935162" cy="839788"/>
          </a:xfrm>
          <a:solidFill>
            <a:schemeClr val="bg1"/>
          </a:solidFill>
        </p:grpSpPr>
        <p:sp>
          <p:nvSpPr>
            <p:cNvPr id="3" name="Freeform 2">
              <a:extLst>
                <a:ext uri="{FF2B5EF4-FFF2-40B4-BE49-F238E27FC236}">
                  <a16:creationId xmlns:a16="http://schemas.microsoft.com/office/drawing/2014/main" id="{B8E34EC9-38A4-9636-90C3-5B88043C8DBD}"/>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a:extLst>
                <a:ext uri="{FF2B5EF4-FFF2-40B4-BE49-F238E27FC236}">
                  <a16:creationId xmlns:a16="http://schemas.microsoft.com/office/drawing/2014/main" id="{EF12B9F8-5AB8-F7EE-2E42-3A7394787091}"/>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a:extLst>
                <a:ext uri="{FF2B5EF4-FFF2-40B4-BE49-F238E27FC236}">
                  <a16:creationId xmlns:a16="http://schemas.microsoft.com/office/drawing/2014/main" id="{BA483221-AF30-723C-E38C-401FC23E6DB6}"/>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Slide Number Placeholder 5">
            <a:extLst>
              <a:ext uri="{FF2B5EF4-FFF2-40B4-BE49-F238E27FC236}">
                <a16:creationId xmlns:a16="http://schemas.microsoft.com/office/drawing/2014/main" id="{93BD8AE6-C2F0-35EB-8C96-26857916D76B}"/>
              </a:ext>
            </a:extLst>
          </p:cNvPr>
          <p:cNvSpPr>
            <a:spLocks noGrp="1"/>
          </p:cNvSpPr>
          <p:nvPr>
            <p:ph type="sldNum" sz="quarter" idx="4"/>
          </p:nvPr>
        </p:nvSpPr>
        <p:spPr>
          <a:xfrm>
            <a:off x="8350421" y="4514316"/>
            <a:ext cx="286597" cy="138499"/>
          </a:xfrm>
          <a:prstGeom prst="rect">
            <a:avLst/>
          </a:prstGeom>
        </p:spPr>
        <p:txBody>
          <a:bodyPr vert="horz" lIns="0" tIns="0" rIns="0" bIns="0" rtlCol="0" anchor="ctr">
            <a:noAutofit/>
          </a:bodyPr>
          <a:lstStyle>
            <a:lvl1pPr algn="r">
              <a:defRPr sz="1200">
                <a:solidFill>
                  <a:schemeClr val="bg1"/>
                </a:solidFill>
              </a:defRPr>
            </a:lvl1pPr>
          </a:lstStyle>
          <a:p>
            <a:fld id="{2441C0E6-2A71-4EB3-9E92-A3D15D26B6CA}" type="slidenum">
              <a:rPr lang="en-US" smtClean="0"/>
              <a:pPr/>
              <a:t>‹#›</a:t>
            </a:fld>
            <a:endParaRPr lang="en-US" dirty="0"/>
          </a:p>
        </p:txBody>
      </p:sp>
      <p:sp>
        <p:nvSpPr>
          <p:cNvPr id="8" name="Footer Placeholder 7">
            <a:extLst>
              <a:ext uri="{FF2B5EF4-FFF2-40B4-BE49-F238E27FC236}">
                <a16:creationId xmlns:a16="http://schemas.microsoft.com/office/drawing/2014/main" id="{509A8225-A7C5-C225-A904-BFA1ADCD975F}"/>
              </a:ext>
            </a:extLst>
          </p:cNvPr>
          <p:cNvSpPr>
            <a:spLocks noGrp="1"/>
          </p:cNvSpPr>
          <p:nvPr>
            <p:ph type="ftr" sz="quarter" idx="10"/>
          </p:nvPr>
        </p:nvSpPr>
        <p:spPr/>
        <p:txBody>
          <a:bodyPr/>
          <a:lstStyle>
            <a:lvl1pPr>
              <a:defRPr>
                <a:solidFill>
                  <a:schemeClr val="bg1"/>
                </a:solidFill>
              </a:defRPr>
            </a:lvl1pPr>
          </a:lstStyle>
          <a:p>
            <a:r>
              <a:rPr lang="en-US"/>
              <a:t>Division/Department Name</a:t>
            </a:r>
            <a:endParaRPr lang="en-US" dirty="0"/>
          </a:p>
        </p:txBody>
      </p:sp>
    </p:spTree>
    <p:extLst>
      <p:ext uri="{BB962C8B-B14F-4D97-AF65-F5344CB8AC3E}">
        <p14:creationId xmlns:p14="http://schemas.microsoft.com/office/powerpoint/2010/main" val="17464044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grpSp>
        <p:nvGrpSpPr>
          <p:cNvPr id="2" name="NYU Langone Health Logo">
            <a:extLst>
              <a:ext uri="{FF2B5EF4-FFF2-40B4-BE49-F238E27FC236}">
                <a16:creationId xmlns:a16="http://schemas.microsoft.com/office/drawing/2014/main" id="{A0286701-710D-A85F-7782-853164691F09}"/>
              </a:ext>
            </a:extLst>
          </p:cNvPr>
          <p:cNvGrpSpPr>
            <a:grpSpLocks noChangeAspect="1"/>
          </p:cNvGrpSpPr>
          <p:nvPr userDrawn="1"/>
        </p:nvGrpSpPr>
        <p:grpSpPr>
          <a:xfrm>
            <a:off x="486872" y="385508"/>
            <a:ext cx="1496034" cy="649224"/>
            <a:chOff x="2138363" y="5326063"/>
            <a:chExt cx="1935162" cy="839788"/>
          </a:xfrm>
          <a:solidFill>
            <a:schemeClr val="bg1"/>
          </a:solidFill>
        </p:grpSpPr>
        <p:sp>
          <p:nvSpPr>
            <p:cNvPr id="5" name="Freeform 4">
              <a:extLst>
                <a:ext uri="{FF2B5EF4-FFF2-40B4-BE49-F238E27FC236}">
                  <a16:creationId xmlns:a16="http://schemas.microsoft.com/office/drawing/2014/main" id="{3AD57E4E-DC3C-FFDF-12B3-4413375D23DC}"/>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5">
              <a:extLst>
                <a:ext uri="{FF2B5EF4-FFF2-40B4-BE49-F238E27FC236}">
                  <a16:creationId xmlns:a16="http://schemas.microsoft.com/office/drawing/2014/main" id="{19F7552F-3F6F-5801-6D83-0650CBCA7303}"/>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38DB314B-18C9-2231-8F8C-0F30B362572D}"/>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Picture Placeholder 13">
            <a:extLst>
              <a:ext uri="{FF2B5EF4-FFF2-40B4-BE49-F238E27FC236}">
                <a16:creationId xmlns:a16="http://schemas.microsoft.com/office/drawing/2014/main" id="{7ECAB4B7-018A-0EBB-A58F-9FCA59C75D47}"/>
              </a:ext>
            </a:extLst>
          </p:cNvPr>
          <p:cNvSpPr>
            <a:spLocks noGrp="1"/>
          </p:cNvSpPr>
          <p:nvPr>
            <p:ph type="pic" sz="quarter" idx="10"/>
          </p:nvPr>
        </p:nvSpPr>
        <p:spPr>
          <a:xfrm>
            <a:off x="6103938" y="0"/>
            <a:ext cx="3040062" cy="5143500"/>
          </a:xfrm>
          <a:solidFill>
            <a:schemeClr val="bg1">
              <a:lumMod val="85000"/>
            </a:schemeClr>
          </a:solidFill>
        </p:spPr>
        <p:txBody>
          <a:bodyPr tIns="1005840"/>
          <a:lstStyle>
            <a:lvl1pPr algn="ctr">
              <a:defRPr>
                <a:solidFill>
                  <a:schemeClr val="tx2"/>
                </a:solidFill>
              </a:defRPr>
            </a:lvl1pPr>
          </a:lstStyle>
          <a:p>
            <a:r>
              <a:rPr lang="en-US"/>
              <a:t>Click icon to add picture</a:t>
            </a:r>
          </a:p>
        </p:txBody>
      </p:sp>
      <p:sp>
        <p:nvSpPr>
          <p:cNvPr id="4" name="Footer Placeholder 3">
            <a:extLst>
              <a:ext uri="{FF2B5EF4-FFF2-40B4-BE49-F238E27FC236}">
                <a16:creationId xmlns:a16="http://schemas.microsoft.com/office/drawing/2014/main" id="{13A6D16C-CEA9-48DE-DB22-D8D95E736356}"/>
              </a:ext>
            </a:extLst>
          </p:cNvPr>
          <p:cNvSpPr>
            <a:spLocks noGrp="1"/>
          </p:cNvSpPr>
          <p:nvPr>
            <p:ph type="ftr" sz="quarter" idx="11"/>
          </p:nvPr>
        </p:nvSpPr>
        <p:spPr>
          <a:xfrm>
            <a:off x="486870" y="4597360"/>
            <a:ext cx="4978319" cy="233720"/>
          </a:xfrm>
        </p:spPr>
        <p:txBody>
          <a:bodyPr/>
          <a:lstStyle>
            <a:lvl1pPr algn="l">
              <a:defRPr sz="1200" b="1">
                <a:solidFill>
                  <a:schemeClr val="bg1"/>
                </a:solidFill>
              </a:defRPr>
            </a:lvl1pPr>
          </a:lstStyle>
          <a:p>
            <a:r>
              <a:rPr lang="en-US"/>
              <a:t>Division/Department Name</a:t>
            </a:r>
            <a:endParaRPr lang="en-US" dirty="0"/>
          </a:p>
        </p:txBody>
      </p:sp>
      <p:sp>
        <p:nvSpPr>
          <p:cNvPr id="3" name="Subtitle 2"/>
          <p:cNvSpPr>
            <a:spLocks noGrp="1"/>
          </p:cNvSpPr>
          <p:nvPr>
            <p:ph type="subTitle" idx="1" hasCustomPrompt="1"/>
          </p:nvPr>
        </p:nvSpPr>
        <p:spPr>
          <a:xfrm>
            <a:off x="486871" y="3689684"/>
            <a:ext cx="4978319" cy="560867"/>
          </a:xfrm>
        </p:spPr>
        <p:txBody>
          <a:bodyPr anchor="b">
            <a:noAutofit/>
          </a:bodyPr>
          <a:lstStyle>
            <a:lvl1pPr marL="0" indent="0" algn="l">
              <a:lnSpc>
                <a:spcPct val="105000"/>
              </a:lnSpc>
              <a:buNone/>
              <a:defRPr sz="1800" b="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13" name="Thank you">
            <a:extLst>
              <a:ext uri="{FF2B5EF4-FFF2-40B4-BE49-F238E27FC236}">
                <a16:creationId xmlns:a16="http://schemas.microsoft.com/office/drawing/2014/main" id="{719728A9-6C8B-6FDF-9879-F88BA8D3969B}"/>
              </a:ext>
            </a:extLst>
          </p:cNvPr>
          <p:cNvSpPr txBox="1"/>
          <p:nvPr userDrawn="1"/>
        </p:nvSpPr>
        <p:spPr>
          <a:xfrm>
            <a:off x="495300" y="2015373"/>
            <a:ext cx="3444907" cy="692497"/>
          </a:xfrm>
          <a:prstGeom prst="rect">
            <a:avLst/>
          </a:prstGeom>
          <a:noFill/>
        </p:spPr>
        <p:txBody>
          <a:bodyPr wrap="square" lIns="0" tIns="0" rIns="0" bIns="0" rtlCol="0">
            <a:spAutoFit/>
          </a:bodyPr>
          <a:lstStyle/>
          <a:p>
            <a:pPr algn="l"/>
            <a:r>
              <a:rPr lang="en-US" sz="4500" dirty="0">
                <a:solidFill>
                  <a:schemeClr val="bg1"/>
                </a:solidFill>
              </a:rPr>
              <a:t>Thank you</a:t>
            </a:r>
          </a:p>
        </p:txBody>
      </p:sp>
    </p:spTree>
    <p:extLst>
      <p:ext uri="{BB962C8B-B14F-4D97-AF65-F5344CB8AC3E}">
        <p14:creationId xmlns:p14="http://schemas.microsoft.com/office/powerpoint/2010/main" val="2797501156"/>
      </p:ext>
    </p:extLst>
  </p:cSld>
  <p:clrMapOvr>
    <a:masterClrMapping/>
  </p:clrMapOvr>
  <p:extLst>
    <p:ext uri="{DCECCB84-F9BA-43D5-87BE-67443E8EF086}">
      <p15:sldGuideLst xmlns:p15="http://schemas.microsoft.com/office/powerpoint/2012/main">
        <p15:guide id="1" orient="horz" pos="162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hank you - White">
    <p:bg>
      <p:bgPr>
        <a:solidFill>
          <a:schemeClr val="bg1"/>
        </a:solidFill>
        <a:effectLst/>
      </p:bgPr>
    </p:bg>
    <p:spTree>
      <p:nvGrpSpPr>
        <p:cNvPr id="1" name=""/>
        <p:cNvGrpSpPr/>
        <p:nvPr/>
      </p:nvGrpSpPr>
      <p:grpSpPr>
        <a:xfrm>
          <a:off x="0" y="0"/>
          <a:ext cx="0" cy="0"/>
          <a:chOff x="0" y="0"/>
          <a:chExt cx="0" cy="0"/>
        </a:xfrm>
      </p:grpSpPr>
      <p:grpSp>
        <p:nvGrpSpPr>
          <p:cNvPr id="2" name="NYU Langone Health Logo">
            <a:extLst>
              <a:ext uri="{FF2B5EF4-FFF2-40B4-BE49-F238E27FC236}">
                <a16:creationId xmlns:a16="http://schemas.microsoft.com/office/drawing/2014/main" id="{A0286701-710D-A85F-7782-853164691F09}"/>
              </a:ext>
            </a:extLst>
          </p:cNvPr>
          <p:cNvGrpSpPr>
            <a:grpSpLocks noChangeAspect="1"/>
          </p:cNvGrpSpPr>
          <p:nvPr userDrawn="1"/>
        </p:nvGrpSpPr>
        <p:grpSpPr>
          <a:xfrm>
            <a:off x="486872" y="385508"/>
            <a:ext cx="1496034" cy="649224"/>
            <a:chOff x="2138363" y="5326063"/>
            <a:chExt cx="1935162" cy="839788"/>
          </a:xfrm>
          <a:solidFill>
            <a:schemeClr val="tx2"/>
          </a:solidFill>
        </p:grpSpPr>
        <p:sp>
          <p:nvSpPr>
            <p:cNvPr id="5" name="Freeform 4">
              <a:extLst>
                <a:ext uri="{FF2B5EF4-FFF2-40B4-BE49-F238E27FC236}">
                  <a16:creationId xmlns:a16="http://schemas.microsoft.com/office/drawing/2014/main" id="{3AD57E4E-DC3C-FFDF-12B3-4413375D23DC}"/>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5">
              <a:extLst>
                <a:ext uri="{FF2B5EF4-FFF2-40B4-BE49-F238E27FC236}">
                  <a16:creationId xmlns:a16="http://schemas.microsoft.com/office/drawing/2014/main" id="{19F7552F-3F6F-5801-6D83-0650CBCA7303}"/>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38DB314B-18C9-2231-8F8C-0F30B362572D}"/>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Picture Placeholder 13">
            <a:extLst>
              <a:ext uri="{FF2B5EF4-FFF2-40B4-BE49-F238E27FC236}">
                <a16:creationId xmlns:a16="http://schemas.microsoft.com/office/drawing/2014/main" id="{7ECAB4B7-018A-0EBB-A58F-9FCA59C75D47}"/>
              </a:ext>
            </a:extLst>
          </p:cNvPr>
          <p:cNvSpPr>
            <a:spLocks noGrp="1"/>
          </p:cNvSpPr>
          <p:nvPr>
            <p:ph type="pic" sz="quarter" idx="10"/>
          </p:nvPr>
        </p:nvSpPr>
        <p:spPr>
          <a:xfrm>
            <a:off x="6103938" y="0"/>
            <a:ext cx="3040062" cy="5143500"/>
          </a:xfrm>
          <a:solidFill>
            <a:schemeClr val="bg1">
              <a:lumMod val="85000"/>
            </a:schemeClr>
          </a:solidFill>
        </p:spPr>
        <p:txBody>
          <a:bodyPr tIns="1005840"/>
          <a:lstStyle>
            <a:lvl1pPr algn="ctr">
              <a:defRPr>
                <a:solidFill>
                  <a:schemeClr val="tx2"/>
                </a:solidFill>
              </a:defRPr>
            </a:lvl1pPr>
          </a:lstStyle>
          <a:p>
            <a:r>
              <a:rPr lang="en-US"/>
              <a:t>Click icon to add picture</a:t>
            </a:r>
          </a:p>
        </p:txBody>
      </p:sp>
      <p:sp>
        <p:nvSpPr>
          <p:cNvPr id="4" name="Footer Placeholder 3">
            <a:extLst>
              <a:ext uri="{FF2B5EF4-FFF2-40B4-BE49-F238E27FC236}">
                <a16:creationId xmlns:a16="http://schemas.microsoft.com/office/drawing/2014/main" id="{88FC635F-2508-4EB3-09CC-A82E69E06B69}"/>
              </a:ext>
            </a:extLst>
          </p:cNvPr>
          <p:cNvSpPr>
            <a:spLocks noGrp="1"/>
          </p:cNvSpPr>
          <p:nvPr>
            <p:ph type="ftr" sz="quarter" idx="11"/>
          </p:nvPr>
        </p:nvSpPr>
        <p:spPr>
          <a:xfrm>
            <a:off x="486871" y="4604980"/>
            <a:ext cx="4978318" cy="221592"/>
          </a:xfrm>
        </p:spPr>
        <p:txBody>
          <a:bodyPr/>
          <a:lstStyle>
            <a:lvl1pPr algn="l">
              <a:defRPr sz="1200" b="1"/>
            </a:lvl1pPr>
          </a:lstStyle>
          <a:p>
            <a:r>
              <a:rPr lang="en-US"/>
              <a:t>Division/Department Name</a:t>
            </a:r>
            <a:endParaRPr lang="en-US" dirty="0"/>
          </a:p>
        </p:txBody>
      </p:sp>
      <p:sp>
        <p:nvSpPr>
          <p:cNvPr id="3" name="Subtitle 2"/>
          <p:cNvSpPr>
            <a:spLocks noGrp="1"/>
          </p:cNvSpPr>
          <p:nvPr>
            <p:ph type="subTitle" idx="1" hasCustomPrompt="1"/>
          </p:nvPr>
        </p:nvSpPr>
        <p:spPr>
          <a:xfrm>
            <a:off x="486871" y="3689684"/>
            <a:ext cx="4978319" cy="560867"/>
          </a:xfrm>
        </p:spPr>
        <p:txBody>
          <a:bodyPr anchor="b">
            <a:noAutofit/>
          </a:bodyPr>
          <a:lstStyle>
            <a:lvl1pPr marL="0" indent="0" algn="l">
              <a:lnSpc>
                <a:spcPct val="105000"/>
              </a:lnSpc>
              <a:buNone/>
              <a:defRPr sz="1800" b="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13" name="Thank you">
            <a:extLst>
              <a:ext uri="{FF2B5EF4-FFF2-40B4-BE49-F238E27FC236}">
                <a16:creationId xmlns:a16="http://schemas.microsoft.com/office/drawing/2014/main" id="{719728A9-6C8B-6FDF-9879-F88BA8D3969B}"/>
              </a:ext>
            </a:extLst>
          </p:cNvPr>
          <p:cNvSpPr txBox="1"/>
          <p:nvPr userDrawn="1"/>
        </p:nvSpPr>
        <p:spPr>
          <a:xfrm>
            <a:off x="495300" y="2015373"/>
            <a:ext cx="3444907" cy="692497"/>
          </a:xfrm>
          <a:prstGeom prst="rect">
            <a:avLst/>
          </a:prstGeom>
          <a:noFill/>
        </p:spPr>
        <p:txBody>
          <a:bodyPr wrap="square" lIns="0" tIns="0" rIns="0" bIns="0" rtlCol="0">
            <a:spAutoFit/>
          </a:bodyPr>
          <a:lstStyle/>
          <a:p>
            <a:pPr algn="l"/>
            <a:r>
              <a:rPr lang="en-US" sz="4500" dirty="0">
                <a:solidFill>
                  <a:schemeClr val="tx2"/>
                </a:solidFill>
              </a:rPr>
              <a:t>Thank you</a:t>
            </a:r>
          </a:p>
        </p:txBody>
      </p:sp>
    </p:spTree>
    <p:extLst>
      <p:ext uri="{BB962C8B-B14F-4D97-AF65-F5344CB8AC3E}">
        <p14:creationId xmlns:p14="http://schemas.microsoft.com/office/powerpoint/2010/main" val="3228127026"/>
      </p:ext>
    </p:extLst>
  </p:cSld>
  <p:clrMapOvr>
    <a:masterClrMapping/>
  </p:clrMapOvr>
  <p:extLst>
    <p:ext uri="{DCECCB84-F9BA-43D5-87BE-67443E8EF086}">
      <p15:sldGuideLst xmlns:p15="http://schemas.microsoft.com/office/powerpoint/2012/main">
        <p15:guide id="1" orient="horz" pos="162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UTORIAL">
    <p:bg>
      <p:bgPr>
        <a:solidFill>
          <a:schemeClr val="tx2"/>
        </a:solidFill>
        <a:effectLst/>
      </p:bgPr>
    </p:bg>
    <p:spTree>
      <p:nvGrpSpPr>
        <p:cNvPr id="1" name=""/>
        <p:cNvGrpSpPr/>
        <p:nvPr/>
      </p:nvGrpSpPr>
      <p:grpSpPr>
        <a:xfrm>
          <a:off x="0" y="0"/>
          <a:ext cx="0" cy="0"/>
          <a:chOff x="0" y="0"/>
          <a:chExt cx="0" cy="0"/>
        </a:xfrm>
      </p:grpSpPr>
      <p:grpSp>
        <p:nvGrpSpPr>
          <p:cNvPr id="5" name="NYU Langone Health Logo">
            <a:extLst>
              <a:ext uri="{FF2B5EF4-FFF2-40B4-BE49-F238E27FC236}">
                <a16:creationId xmlns:a16="http://schemas.microsoft.com/office/drawing/2014/main" id="{D23DC7BA-05DD-C896-5262-37703314653E}"/>
              </a:ext>
            </a:extLst>
          </p:cNvPr>
          <p:cNvGrpSpPr>
            <a:grpSpLocks noChangeAspect="1"/>
          </p:cNvGrpSpPr>
          <p:nvPr userDrawn="1"/>
        </p:nvGrpSpPr>
        <p:grpSpPr>
          <a:xfrm>
            <a:off x="486872" y="385508"/>
            <a:ext cx="1496034" cy="649224"/>
            <a:chOff x="2138363" y="5326063"/>
            <a:chExt cx="1935162" cy="839788"/>
          </a:xfrm>
          <a:solidFill>
            <a:schemeClr val="bg1"/>
          </a:solidFill>
        </p:grpSpPr>
        <p:sp>
          <p:nvSpPr>
            <p:cNvPr id="6" name="Freeform 5">
              <a:extLst>
                <a:ext uri="{FF2B5EF4-FFF2-40B4-BE49-F238E27FC236}">
                  <a16:creationId xmlns:a16="http://schemas.microsoft.com/office/drawing/2014/main" id="{195BE840-3D72-22A7-AB5F-E97D6775A994}"/>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7E30D5D3-49A4-BB8C-7CF8-79A1E9AB1AB5}"/>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a:extLst>
                <a:ext uri="{FF2B5EF4-FFF2-40B4-BE49-F238E27FC236}">
                  <a16:creationId xmlns:a16="http://schemas.microsoft.com/office/drawing/2014/main" id="{FA969DAB-B68F-73C8-1D5A-A9D246382C28}"/>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9" name="Image Example">
            <a:extLst>
              <a:ext uri="{FF2B5EF4-FFF2-40B4-BE49-F238E27FC236}">
                <a16:creationId xmlns:a16="http://schemas.microsoft.com/office/drawing/2014/main" id="{BCCA40AB-832C-6D9B-CC34-6BDA6725AA5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03938" y="0"/>
            <a:ext cx="3040062" cy="5143500"/>
          </a:xfrm>
          <a:prstGeom prst="rect">
            <a:avLst/>
          </a:prstGeom>
        </p:spPr>
      </p:pic>
      <p:sp>
        <p:nvSpPr>
          <p:cNvPr id="2" name="Footer Placeholder">
            <a:extLst>
              <a:ext uri="{FF2B5EF4-FFF2-40B4-BE49-F238E27FC236}">
                <a16:creationId xmlns:a16="http://schemas.microsoft.com/office/drawing/2014/main" id="{EAB0A6EE-7D6F-85E1-73E5-80EABD17B8E9}"/>
              </a:ext>
            </a:extLst>
          </p:cNvPr>
          <p:cNvSpPr>
            <a:spLocks noGrp="1"/>
          </p:cNvSpPr>
          <p:nvPr>
            <p:ph type="ftr" sz="quarter" idx="10"/>
          </p:nvPr>
        </p:nvSpPr>
        <p:spPr>
          <a:xfrm>
            <a:off x="495300" y="4597361"/>
            <a:ext cx="4076700" cy="221592"/>
          </a:xfrm>
        </p:spPr>
        <p:txBody>
          <a:bodyPr/>
          <a:lstStyle>
            <a:lvl1pPr algn="l">
              <a:defRPr sz="1200" b="1">
                <a:solidFill>
                  <a:schemeClr val="bg1"/>
                </a:solidFill>
              </a:defRPr>
            </a:lvl1pPr>
          </a:lstStyle>
          <a:p>
            <a:r>
              <a:rPr lang="en-US"/>
              <a:t>Division/Department Name</a:t>
            </a:r>
            <a:endParaRPr lang="en-US" dirty="0"/>
          </a:p>
        </p:txBody>
      </p:sp>
      <p:sp>
        <p:nvSpPr>
          <p:cNvPr id="17" name="Subtitle Text Placeholder">
            <a:extLst>
              <a:ext uri="{FF2B5EF4-FFF2-40B4-BE49-F238E27FC236}">
                <a16:creationId xmlns:a16="http://schemas.microsoft.com/office/drawing/2014/main" id="{2A2677B2-FF96-96FE-D4CC-FC8EE8BCAE5D}"/>
              </a:ext>
            </a:extLst>
          </p:cNvPr>
          <p:cNvSpPr txBox="1"/>
          <p:nvPr userDrawn="1"/>
        </p:nvSpPr>
        <p:spPr>
          <a:xfrm>
            <a:off x="495301" y="3616514"/>
            <a:ext cx="4174136" cy="653833"/>
          </a:xfrm>
          <a:prstGeom prst="rect">
            <a:avLst/>
          </a:prstGeom>
          <a:noFill/>
        </p:spPr>
        <p:txBody>
          <a:bodyPr wrap="square" lIns="0" tIns="0" rIns="0" bIns="0" rtlCol="0" anchor="b" anchorCtr="0">
            <a:noAutofit/>
          </a:bodyPr>
          <a:lstStyle/>
          <a:p>
            <a:pPr marL="0" marR="0" lvl="0" indent="0" algn="l" defTabSz="685800" rtl="0" eaLnBrk="1" fontAlgn="auto" latinLnBrk="0" hangingPunct="1">
              <a:lnSpc>
                <a:spcPct val="105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Presentation subtitle information </a:t>
            </a:r>
          </a:p>
          <a:p>
            <a:pPr marL="0" marR="0" lvl="0" indent="0" algn="l" defTabSz="685800" rtl="0" eaLnBrk="1" fontAlgn="auto" latinLnBrk="0" hangingPunct="1">
              <a:lnSpc>
                <a:spcPct val="105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MM/DD/YYYY</a:t>
            </a:r>
          </a:p>
        </p:txBody>
      </p:sp>
      <p:sp>
        <p:nvSpPr>
          <p:cNvPr id="15" name="Presentation Title Text Placeholder">
            <a:extLst>
              <a:ext uri="{FF2B5EF4-FFF2-40B4-BE49-F238E27FC236}">
                <a16:creationId xmlns:a16="http://schemas.microsoft.com/office/drawing/2014/main" id="{BFC7CFA0-762E-DB7F-EB33-6B78BBE20A8A}"/>
              </a:ext>
            </a:extLst>
          </p:cNvPr>
          <p:cNvSpPr txBox="1"/>
          <p:nvPr userDrawn="1"/>
        </p:nvSpPr>
        <p:spPr>
          <a:xfrm>
            <a:off x="495300" y="1552575"/>
            <a:ext cx="4854913" cy="1845945"/>
          </a:xfrm>
          <a:prstGeom prst="rect">
            <a:avLst/>
          </a:prstGeom>
          <a:noFill/>
        </p:spPr>
        <p:txBody>
          <a:bodyPr wrap="square" lIns="0" tIns="0" rIns="0" bIns="0" rtlCol="0">
            <a:noAutofit/>
          </a:bodyPr>
          <a:lstStyle/>
          <a:p>
            <a:pPr marL="0" marR="0" indent="0" algn="l" defTabSz="457200" rtl="0" eaLnBrk="1" fontAlgn="auto" latinLnBrk="0" hangingPunct="1">
              <a:lnSpc>
                <a:spcPct val="82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mj-lt"/>
                <a:ea typeface="+mj-ea"/>
                <a:cs typeface="+mj-cs"/>
              </a:rPr>
              <a:t>Presentation title goes here. Presentation title goes here</a:t>
            </a:r>
            <a:endParaRPr lang="en-US" sz="1400" dirty="0" err="1">
              <a:latin typeface="+mj-lt"/>
            </a:endParaRPr>
          </a:p>
        </p:txBody>
      </p:sp>
      <p:grpSp>
        <p:nvGrpSpPr>
          <p:cNvPr id="18" name="Quick Guide Information">
            <a:extLst>
              <a:ext uri="{FF2B5EF4-FFF2-40B4-BE49-F238E27FC236}">
                <a16:creationId xmlns:a16="http://schemas.microsoft.com/office/drawing/2014/main" id="{99F17713-B178-2A98-F146-B726CBEB2040}"/>
              </a:ext>
            </a:extLst>
          </p:cNvPr>
          <p:cNvGrpSpPr/>
          <p:nvPr userDrawn="1"/>
        </p:nvGrpSpPr>
        <p:grpSpPr>
          <a:xfrm>
            <a:off x="2442754" y="366182"/>
            <a:ext cx="6332411" cy="4338762"/>
            <a:chOff x="2442754" y="366182"/>
            <a:chExt cx="6332411" cy="4338762"/>
          </a:xfrm>
        </p:grpSpPr>
        <p:sp>
          <p:nvSpPr>
            <p:cNvPr id="19" name="Footer Guide">
              <a:extLst>
                <a:ext uri="{FF2B5EF4-FFF2-40B4-BE49-F238E27FC236}">
                  <a16:creationId xmlns:a16="http://schemas.microsoft.com/office/drawing/2014/main" id="{FDDB3045-EE1D-37FD-8E21-720782A285EC}"/>
                </a:ext>
              </a:extLst>
            </p:cNvPr>
            <p:cNvSpPr txBox="1"/>
            <p:nvPr/>
          </p:nvSpPr>
          <p:spPr>
            <a:xfrm>
              <a:off x="3526143" y="3843170"/>
              <a:ext cx="3736806" cy="861774"/>
            </a:xfrm>
            <a:prstGeom prst="rect">
              <a:avLst/>
            </a:prstGeom>
            <a:solidFill>
              <a:schemeClr val="tx2">
                <a:alpha val="75000"/>
              </a:schemeClr>
            </a:solidFill>
            <a:ln w="12700">
              <a:solidFill>
                <a:schemeClr val="accent4"/>
              </a:solidFill>
            </a:ln>
          </p:spPr>
          <p:txBody>
            <a:bodyPr wrap="square" rtlCol="0">
              <a:spAutoFit/>
            </a:bodyPr>
            <a:lstStyle/>
            <a:p>
              <a:r>
                <a:rPr lang="en-US" sz="1000" dirty="0">
                  <a:solidFill>
                    <a:schemeClr val="accent4"/>
                  </a:solidFill>
                </a:rPr>
                <a:t>SIGNPOST: “Division/Department Name” is linked with the footer feature. Go to “Insert” menu, then “Header and Footer...”. Update the footer text with your Division or Department Name, or uncheck the footer box to hide all footer text, including the signpost on the covers. Click “Apply to All” to finish. </a:t>
              </a:r>
            </a:p>
          </p:txBody>
        </p:sp>
        <p:cxnSp>
          <p:nvCxnSpPr>
            <p:cNvPr id="20" name="Line">
              <a:extLst>
                <a:ext uri="{FF2B5EF4-FFF2-40B4-BE49-F238E27FC236}">
                  <a16:creationId xmlns:a16="http://schemas.microsoft.com/office/drawing/2014/main" id="{4D52B75F-A551-9A4A-6CF6-EA8BEDB02596}"/>
                </a:ext>
              </a:extLst>
            </p:cNvPr>
            <p:cNvCxnSpPr>
              <a:cxnSpLocks/>
              <a:stCxn id="19" idx="1"/>
            </p:cNvCxnSpPr>
            <p:nvPr/>
          </p:nvCxnSpPr>
          <p:spPr>
            <a:xfrm flipH="1">
              <a:off x="2442754" y="4274057"/>
              <a:ext cx="1083389" cy="410446"/>
            </a:xfrm>
            <a:prstGeom prst="straightConnector1">
              <a:avLst/>
            </a:prstGeom>
            <a:ln w="12700">
              <a:solidFill>
                <a:schemeClr val="accent4"/>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1" name="Image Guide">
              <a:extLst>
                <a:ext uri="{FF2B5EF4-FFF2-40B4-BE49-F238E27FC236}">
                  <a16:creationId xmlns:a16="http://schemas.microsoft.com/office/drawing/2014/main" id="{8C7EED96-2326-638D-29CF-890338764C1C}"/>
                </a:ext>
              </a:extLst>
            </p:cNvPr>
            <p:cNvSpPr txBox="1"/>
            <p:nvPr/>
          </p:nvSpPr>
          <p:spPr>
            <a:xfrm>
              <a:off x="6470232" y="366182"/>
              <a:ext cx="2304933" cy="707886"/>
            </a:xfrm>
            <a:prstGeom prst="rect">
              <a:avLst/>
            </a:prstGeom>
            <a:solidFill>
              <a:schemeClr val="tx2">
                <a:alpha val="75000"/>
              </a:schemeClr>
            </a:solidFill>
            <a:ln w="12700">
              <a:solidFill>
                <a:schemeClr val="accent4"/>
              </a:solidFill>
            </a:ln>
          </p:spPr>
          <p:txBody>
            <a:bodyPr wrap="square" rtlCol="0">
              <a:spAutoFit/>
            </a:bodyPr>
            <a:lstStyle/>
            <a:p>
              <a:pPr algn="l"/>
              <a:r>
                <a:rPr lang="en-US" sz="1000" dirty="0">
                  <a:solidFill>
                    <a:schemeClr val="accent4"/>
                  </a:solidFill>
                </a:rPr>
                <a:t>IMAGES: All images used in this template are placeholders. Please replace/insert new images that convey your presentation’s message.</a:t>
              </a:r>
            </a:p>
          </p:txBody>
        </p:sp>
        <p:sp>
          <p:nvSpPr>
            <p:cNvPr id="22" name="More Information">
              <a:extLst>
                <a:ext uri="{FF2B5EF4-FFF2-40B4-BE49-F238E27FC236}">
                  <a16:creationId xmlns:a16="http://schemas.microsoft.com/office/drawing/2014/main" id="{B1DE6E49-A90E-E798-8032-A4C12925221A}"/>
                </a:ext>
              </a:extLst>
            </p:cNvPr>
            <p:cNvSpPr txBox="1"/>
            <p:nvPr/>
          </p:nvSpPr>
          <p:spPr>
            <a:xfrm>
              <a:off x="2773363" y="458997"/>
              <a:ext cx="2262368" cy="553998"/>
            </a:xfrm>
            <a:prstGeom prst="rect">
              <a:avLst/>
            </a:prstGeom>
            <a:solidFill>
              <a:schemeClr val="tx2">
                <a:alpha val="75000"/>
              </a:schemeClr>
            </a:solidFill>
            <a:ln w="12700">
              <a:solidFill>
                <a:schemeClr val="accent4"/>
              </a:solidFill>
            </a:ln>
          </p:spPr>
          <p:txBody>
            <a:bodyPr wrap="square" rtlCol="0">
              <a:spAutoFit/>
            </a:bodyPr>
            <a:lstStyle/>
            <a:p>
              <a:pPr algn="l"/>
              <a:r>
                <a:rPr lang="en-US" sz="1000" dirty="0">
                  <a:solidFill>
                    <a:schemeClr val="accent4"/>
                  </a:solidFill>
                </a:rPr>
                <a:t>FOR MORE INFO: Visit the </a:t>
              </a:r>
              <a:r>
                <a:rPr lang="en-US" sz="1000" dirty="0">
                  <a:solidFill>
                    <a:schemeClr val="accent4"/>
                  </a:solidFill>
                  <a:hlinkClick r:id="rId3">
                    <a:extLst>
                      <a:ext uri="{A12FA001-AC4F-418D-AE19-62706E023703}">
                        <ahyp:hlinkClr xmlns:ahyp="http://schemas.microsoft.com/office/drawing/2018/hyperlinkcolor" val="tx"/>
                      </a:ext>
                    </a:extLst>
                  </a:hlinkClick>
                </a:rPr>
                <a:t>Brand Center</a:t>
              </a:r>
              <a:r>
                <a:rPr lang="en-US" sz="1000" dirty="0">
                  <a:solidFill>
                    <a:schemeClr val="accent4"/>
                  </a:solidFill>
                </a:rPr>
                <a:t> for information and tips about </a:t>
              </a:r>
              <a:r>
                <a:rPr lang="en-US" sz="1000" dirty="0">
                  <a:solidFill>
                    <a:schemeClr val="accent4"/>
                  </a:solidFill>
                  <a:hlinkClick r:id="rId4">
                    <a:extLst>
                      <a:ext uri="{A12FA001-AC4F-418D-AE19-62706E023703}">
                        <ahyp:hlinkClr xmlns:ahyp="http://schemas.microsoft.com/office/drawing/2018/hyperlinkcolor" val="tx"/>
                      </a:ext>
                    </a:extLst>
                  </a:hlinkClick>
                </a:rPr>
                <a:t>PowerPoint templates</a:t>
              </a:r>
              <a:r>
                <a:rPr lang="en-US" sz="1000" dirty="0">
                  <a:solidFill>
                    <a:schemeClr val="accent4"/>
                  </a:solidFill>
                </a:rPr>
                <a:t>.</a:t>
              </a:r>
            </a:p>
          </p:txBody>
        </p:sp>
      </p:grpSp>
    </p:spTree>
    <p:extLst>
      <p:ext uri="{BB962C8B-B14F-4D97-AF65-F5344CB8AC3E}">
        <p14:creationId xmlns:p14="http://schemas.microsoft.com/office/powerpoint/2010/main" val="9171982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6" name="NYU Langone Health Logo">
            <a:extLst>
              <a:ext uri="{FF2B5EF4-FFF2-40B4-BE49-F238E27FC236}">
                <a16:creationId xmlns:a16="http://schemas.microsoft.com/office/drawing/2014/main" id="{8B40E320-9252-35DD-A461-1244805E5666}"/>
              </a:ext>
            </a:extLst>
          </p:cNvPr>
          <p:cNvGrpSpPr>
            <a:grpSpLocks noChangeAspect="1"/>
          </p:cNvGrpSpPr>
          <p:nvPr userDrawn="1"/>
        </p:nvGrpSpPr>
        <p:grpSpPr>
          <a:xfrm>
            <a:off x="488401" y="4416764"/>
            <a:ext cx="823087" cy="357189"/>
            <a:chOff x="2138363" y="5326063"/>
            <a:chExt cx="1935162" cy="839788"/>
          </a:xfrm>
          <a:solidFill>
            <a:schemeClr val="tx2"/>
          </a:solidFill>
        </p:grpSpPr>
        <p:sp>
          <p:nvSpPr>
            <p:cNvPr id="13" name="Freeform 5">
              <a:extLst>
                <a:ext uri="{FF2B5EF4-FFF2-40B4-BE49-F238E27FC236}">
                  <a16:creationId xmlns:a16="http://schemas.microsoft.com/office/drawing/2014/main" id="{16A38F64-4CFF-1EA9-997B-4B019AD6F192}"/>
                </a:ext>
              </a:extLst>
            </p:cNvPr>
            <p:cNvSpPr>
              <a:spLocks/>
            </p:cNvSpPr>
            <p:nvPr userDrawn="1"/>
          </p:nvSpPr>
          <p:spPr bwMode="auto">
            <a:xfrm>
              <a:off x="2176463" y="5326063"/>
              <a:ext cx="674688" cy="252413"/>
            </a:xfrm>
            <a:custGeom>
              <a:avLst/>
              <a:gdLst>
                <a:gd name="T0" fmla="*/ 1236 w 1237"/>
                <a:gd name="T1" fmla="*/ 308 h 462"/>
                <a:gd name="T2" fmla="*/ 1236 w 1237"/>
                <a:gd name="T3" fmla="*/ 306 h 462"/>
                <a:gd name="T4" fmla="*/ 1227 w 1237"/>
                <a:gd name="T5" fmla="*/ 293 h 462"/>
                <a:gd name="T6" fmla="*/ 1129 w 1237"/>
                <a:gd name="T7" fmla="*/ 181 h 462"/>
                <a:gd name="T8" fmla="*/ 668 w 1237"/>
                <a:gd name="T9" fmla="*/ 0 h 462"/>
                <a:gd name="T10" fmla="*/ 137 w 1237"/>
                <a:gd name="T11" fmla="*/ 245 h 462"/>
                <a:gd name="T12" fmla="*/ 2 w 1237"/>
                <a:gd name="T13" fmla="*/ 457 h 462"/>
                <a:gd name="T14" fmla="*/ 2 w 1237"/>
                <a:gd name="T15" fmla="*/ 461 h 462"/>
                <a:gd name="T16" fmla="*/ 5 w 1237"/>
                <a:gd name="T17" fmla="*/ 457 h 462"/>
                <a:gd name="T18" fmla="*/ 155 w 1237"/>
                <a:gd name="T19" fmla="*/ 269 h 462"/>
                <a:gd name="T20" fmla="*/ 670 w 1237"/>
                <a:gd name="T21" fmla="*/ 90 h 462"/>
                <a:gd name="T22" fmla="*/ 1101 w 1237"/>
                <a:gd name="T23" fmla="*/ 206 h 462"/>
                <a:gd name="T24" fmla="*/ 1224 w 1237"/>
                <a:gd name="T25" fmla="*/ 298 h 462"/>
                <a:gd name="T26" fmla="*/ 1234 w 1237"/>
                <a:gd name="T27" fmla="*/ 307 h 462"/>
                <a:gd name="T28" fmla="*/ 1236 w 1237"/>
                <a:gd name="T29" fmla="*/ 308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37" h="462">
                  <a:moveTo>
                    <a:pt x="1236" y="308"/>
                  </a:moveTo>
                  <a:cubicBezTo>
                    <a:pt x="1236" y="307"/>
                    <a:pt x="1237" y="307"/>
                    <a:pt x="1236" y="306"/>
                  </a:cubicBezTo>
                  <a:cubicBezTo>
                    <a:pt x="1235" y="304"/>
                    <a:pt x="1233" y="301"/>
                    <a:pt x="1227" y="293"/>
                  </a:cubicBezTo>
                  <a:cubicBezTo>
                    <a:pt x="1221" y="284"/>
                    <a:pt x="1181" y="228"/>
                    <a:pt x="1129" y="181"/>
                  </a:cubicBezTo>
                  <a:cubicBezTo>
                    <a:pt x="1077" y="134"/>
                    <a:pt x="919" y="0"/>
                    <a:pt x="668" y="0"/>
                  </a:cubicBezTo>
                  <a:cubicBezTo>
                    <a:pt x="406" y="0"/>
                    <a:pt x="229" y="142"/>
                    <a:pt x="137" y="245"/>
                  </a:cubicBezTo>
                  <a:cubicBezTo>
                    <a:pt x="48" y="344"/>
                    <a:pt x="3" y="454"/>
                    <a:pt x="2" y="457"/>
                  </a:cubicBezTo>
                  <a:cubicBezTo>
                    <a:pt x="1" y="460"/>
                    <a:pt x="0" y="461"/>
                    <a:pt x="2" y="461"/>
                  </a:cubicBezTo>
                  <a:cubicBezTo>
                    <a:pt x="3" y="462"/>
                    <a:pt x="4" y="460"/>
                    <a:pt x="5" y="457"/>
                  </a:cubicBezTo>
                  <a:cubicBezTo>
                    <a:pt x="7" y="454"/>
                    <a:pt x="54" y="352"/>
                    <a:pt x="155" y="269"/>
                  </a:cubicBezTo>
                  <a:cubicBezTo>
                    <a:pt x="256" y="186"/>
                    <a:pt x="424" y="90"/>
                    <a:pt x="670" y="90"/>
                  </a:cubicBezTo>
                  <a:cubicBezTo>
                    <a:pt x="880" y="90"/>
                    <a:pt x="1031" y="165"/>
                    <a:pt x="1101" y="206"/>
                  </a:cubicBezTo>
                  <a:cubicBezTo>
                    <a:pt x="1170" y="248"/>
                    <a:pt x="1214" y="289"/>
                    <a:pt x="1224" y="298"/>
                  </a:cubicBezTo>
                  <a:cubicBezTo>
                    <a:pt x="1229" y="303"/>
                    <a:pt x="1232" y="306"/>
                    <a:pt x="1234" y="307"/>
                  </a:cubicBezTo>
                  <a:cubicBezTo>
                    <a:pt x="1235" y="308"/>
                    <a:pt x="1235" y="308"/>
                    <a:pt x="1236" y="30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4F74CC9-405A-ABF5-330C-68277AB71636}"/>
                </a:ext>
              </a:extLst>
            </p:cNvPr>
            <p:cNvSpPr>
              <a:spLocks/>
            </p:cNvSpPr>
            <p:nvPr userDrawn="1"/>
          </p:nvSpPr>
          <p:spPr bwMode="auto">
            <a:xfrm>
              <a:off x="2138363" y="5708651"/>
              <a:ext cx="612775" cy="457200"/>
            </a:xfrm>
            <a:custGeom>
              <a:avLst/>
              <a:gdLst>
                <a:gd name="T0" fmla="*/ 13 w 1127"/>
                <a:gd name="T1" fmla="*/ 0 h 835"/>
                <a:gd name="T2" fmla="*/ 14 w 1127"/>
                <a:gd name="T3" fmla="*/ 0 h 835"/>
                <a:gd name="T4" fmla="*/ 15 w 1127"/>
                <a:gd name="T5" fmla="*/ 10 h 835"/>
                <a:gd name="T6" fmla="*/ 72 w 1127"/>
                <a:gd name="T7" fmla="*/ 265 h 835"/>
                <a:gd name="T8" fmla="*/ 431 w 1127"/>
                <a:gd name="T9" fmla="*/ 627 h 835"/>
                <a:gd name="T10" fmla="*/ 897 w 1127"/>
                <a:gd name="T11" fmla="*/ 712 h 835"/>
                <a:gd name="T12" fmla="*/ 1122 w 1127"/>
                <a:gd name="T13" fmla="*/ 648 h 835"/>
                <a:gd name="T14" fmla="*/ 1127 w 1127"/>
                <a:gd name="T15" fmla="*/ 647 h 835"/>
                <a:gd name="T16" fmla="*/ 1127 w 1127"/>
                <a:gd name="T17" fmla="*/ 647 h 835"/>
                <a:gd name="T18" fmla="*/ 1123 w 1127"/>
                <a:gd name="T19" fmla="*/ 651 h 835"/>
                <a:gd name="T20" fmla="*/ 1107 w 1127"/>
                <a:gd name="T21" fmla="*/ 664 h 835"/>
                <a:gd name="T22" fmla="*/ 969 w 1127"/>
                <a:gd name="T23" fmla="*/ 741 h 835"/>
                <a:gd name="T24" fmla="*/ 375 w 1127"/>
                <a:gd name="T25" fmla="*/ 712 h 835"/>
                <a:gd name="T26" fmla="*/ 25 w 1127"/>
                <a:gd name="T27" fmla="*/ 231 h 835"/>
                <a:gd name="T28" fmla="*/ 11 w 1127"/>
                <a:gd name="T29" fmla="*/ 6 h 835"/>
                <a:gd name="T30" fmla="*/ 12 w 1127"/>
                <a:gd name="T31" fmla="*/ 1 h 835"/>
                <a:gd name="T32" fmla="*/ 13 w 1127"/>
                <a:gd name="T3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7" h="835">
                  <a:moveTo>
                    <a:pt x="13" y="0"/>
                  </a:moveTo>
                  <a:cubicBezTo>
                    <a:pt x="14" y="0"/>
                    <a:pt x="14" y="0"/>
                    <a:pt x="14" y="0"/>
                  </a:cubicBezTo>
                  <a:cubicBezTo>
                    <a:pt x="15" y="1"/>
                    <a:pt x="15" y="4"/>
                    <a:pt x="15" y="10"/>
                  </a:cubicBezTo>
                  <a:cubicBezTo>
                    <a:pt x="15" y="14"/>
                    <a:pt x="9" y="136"/>
                    <a:pt x="72" y="265"/>
                  </a:cubicBezTo>
                  <a:cubicBezTo>
                    <a:pt x="136" y="397"/>
                    <a:pt x="249" y="536"/>
                    <a:pt x="431" y="627"/>
                  </a:cubicBezTo>
                  <a:cubicBezTo>
                    <a:pt x="603" y="713"/>
                    <a:pt x="771" y="725"/>
                    <a:pt x="897" y="712"/>
                  </a:cubicBezTo>
                  <a:cubicBezTo>
                    <a:pt x="1018" y="698"/>
                    <a:pt x="1111" y="653"/>
                    <a:pt x="1122" y="648"/>
                  </a:cubicBezTo>
                  <a:cubicBezTo>
                    <a:pt x="1126" y="647"/>
                    <a:pt x="1127" y="646"/>
                    <a:pt x="1127" y="647"/>
                  </a:cubicBezTo>
                  <a:cubicBezTo>
                    <a:pt x="1127" y="647"/>
                    <a:pt x="1127" y="647"/>
                    <a:pt x="1127" y="647"/>
                  </a:cubicBezTo>
                  <a:cubicBezTo>
                    <a:pt x="1127" y="648"/>
                    <a:pt x="1125" y="649"/>
                    <a:pt x="1123" y="651"/>
                  </a:cubicBezTo>
                  <a:cubicBezTo>
                    <a:pt x="1119" y="654"/>
                    <a:pt x="1114" y="659"/>
                    <a:pt x="1107" y="664"/>
                  </a:cubicBezTo>
                  <a:cubicBezTo>
                    <a:pt x="1092" y="675"/>
                    <a:pt x="1064" y="701"/>
                    <a:pt x="969" y="741"/>
                  </a:cubicBezTo>
                  <a:cubicBezTo>
                    <a:pt x="832" y="799"/>
                    <a:pt x="604" y="835"/>
                    <a:pt x="375" y="712"/>
                  </a:cubicBezTo>
                  <a:cubicBezTo>
                    <a:pt x="157" y="593"/>
                    <a:pt x="59" y="388"/>
                    <a:pt x="25" y="231"/>
                  </a:cubicBezTo>
                  <a:cubicBezTo>
                    <a:pt x="0" y="113"/>
                    <a:pt x="11" y="14"/>
                    <a:pt x="11" y="6"/>
                  </a:cubicBezTo>
                  <a:cubicBezTo>
                    <a:pt x="12" y="3"/>
                    <a:pt x="12" y="2"/>
                    <a:pt x="12" y="1"/>
                  </a:cubicBezTo>
                  <a:cubicBezTo>
                    <a:pt x="12" y="0"/>
                    <a:pt x="13" y="0"/>
                    <a:pt x="1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8C75903D-D1AD-9900-DAE0-61E7FC246A49}"/>
                </a:ext>
              </a:extLst>
            </p:cNvPr>
            <p:cNvSpPr>
              <a:spLocks noEditPoints="1"/>
            </p:cNvSpPr>
            <p:nvPr userDrawn="1"/>
          </p:nvSpPr>
          <p:spPr bwMode="auto">
            <a:xfrm>
              <a:off x="2289175" y="5591176"/>
              <a:ext cx="1784350" cy="554038"/>
            </a:xfrm>
            <a:custGeom>
              <a:avLst/>
              <a:gdLst>
                <a:gd name="T0" fmla="*/ 602 w 3275"/>
                <a:gd name="T1" fmla="*/ 0 h 1014"/>
                <a:gd name="T2" fmla="*/ 477 w 3275"/>
                <a:gd name="T3" fmla="*/ 267 h 1014"/>
                <a:gd name="T4" fmla="*/ 1268 w 3275"/>
                <a:gd name="T5" fmla="*/ 357 h 1014"/>
                <a:gd name="T6" fmla="*/ 1400 w 3275"/>
                <a:gd name="T7" fmla="*/ 439 h 1014"/>
                <a:gd name="T8" fmla="*/ 99 w 3275"/>
                <a:gd name="T9" fmla="*/ 0 h 1014"/>
                <a:gd name="T10" fmla="*/ 90 w 3275"/>
                <a:gd name="T11" fmla="*/ 180 h 1014"/>
                <a:gd name="T12" fmla="*/ 323 w 3275"/>
                <a:gd name="T13" fmla="*/ 0 h 1014"/>
                <a:gd name="T14" fmla="*/ 1030 w 3275"/>
                <a:gd name="T15" fmla="*/ 0 h 1014"/>
                <a:gd name="T16" fmla="*/ 824 w 3275"/>
                <a:gd name="T17" fmla="*/ 280 h 1014"/>
                <a:gd name="T18" fmla="*/ 879 w 3275"/>
                <a:gd name="T19" fmla="*/ 446 h 1014"/>
                <a:gd name="T20" fmla="*/ 1406 w 3275"/>
                <a:gd name="T21" fmla="*/ 874 h 1014"/>
                <a:gd name="T22" fmla="*/ 1312 w 3275"/>
                <a:gd name="T23" fmla="*/ 849 h 1014"/>
                <a:gd name="T24" fmla="*/ 1523 w 3275"/>
                <a:gd name="T25" fmla="*/ 898 h 1014"/>
                <a:gd name="T26" fmla="*/ 1407 w 3275"/>
                <a:gd name="T27" fmla="*/ 816 h 1014"/>
                <a:gd name="T28" fmla="*/ 2375 w 3275"/>
                <a:gd name="T29" fmla="*/ 280 h 1014"/>
                <a:gd name="T30" fmla="*/ 2516 w 3275"/>
                <a:gd name="T31" fmla="*/ 114 h 1014"/>
                <a:gd name="T32" fmla="*/ 2562 w 3275"/>
                <a:gd name="T33" fmla="*/ 280 h 1014"/>
                <a:gd name="T34" fmla="*/ 2406 w 3275"/>
                <a:gd name="T35" fmla="*/ 556 h 1014"/>
                <a:gd name="T36" fmla="*/ 2406 w 3275"/>
                <a:gd name="T37" fmla="*/ 790 h 1014"/>
                <a:gd name="T38" fmla="*/ 2573 w 3275"/>
                <a:gd name="T39" fmla="*/ 1008 h 1014"/>
                <a:gd name="T40" fmla="*/ 3214 w 3275"/>
                <a:gd name="T41" fmla="*/ 334 h 1014"/>
                <a:gd name="T42" fmla="*/ 3275 w 3275"/>
                <a:gd name="T43" fmla="*/ 285 h 1014"/>
                <a:gd name="T44" fmla="*/ 3273 w 3275"/>
                <a:gd name="T45" fmla="*/ 380 h 1014"/>
                <a:gd name="T46" fmla="*/ 3187 w 3275"/>
                <a:gd name="T47" fmla="*/ 247 h 1014"/>
                <a:gd name="T48" fmla="*/ 2798 w 3275"/>
                <a:gd name="T49" fmla="*/ 154 h 1014"/>
                <a:gd name="T50" fmla="*/ 2798 w 3275"/>
                <a:gd name="T51" fmla="*/ 439 h 1014"/>
                <a:gd name="T52" fmla="*/ 2870 w 3275"/>
                <a:gd name="T53" fmla="*/ 439 h 1014"/>
                <a:gd name="T54" fmla="*/ 2202 w 3275"/>
                <a:gd name="T55" fmla="*/ 583 h 1014"/>
                <a:gd name="T56" fmla="*/ 2063 w 3275"/>
                <a:gd name="T57" fmla="*/ 762 h 1014"/>
                <a:gd name="T58" fmla="*/ 2261 w 3275"/>
                <a:gd name="T59" fmla="*/ 1007 h 1014"/>
                <a:gd name="T60" fmla="*/ 2234 w 3275"/>
                <a:gd name="T61" fmla="*/ 940 h 1014"/>
                <a:gd name="T62" fmla="*/ 2268 w 3275"/>
                <a:gd name="T63" fmla="*/ 689 h 1014"/>
                <a:gd name="T64" fmla="*/ 1859 w 3275"/>
                <a:gd name="T65" fmla="*/ 154 h 1014"/>
                <a:gd name="T66" fmla="*/ 1859 w 3275"/>
                <a:gd name="T67" fmla="*/ 439 h 1014"/>
                <a:gd name="T68" fmla="*/ 1931 w 3275"/>
                <a:gd name="T69" fmla="*/ 439 h 1014"/>
                <a:gd name="T70" fmla="*/ 1615 w 3275"/>
                <a:gd name="T71" fmla="*/ 439 h 1014"/>
                <a:gd name="T72" fmla="*/ 1700 w 3275"/>
                <a:gd name="T73" fmla="*/ 221 h 1014"/>
                <a:gd name="T74" fmla="*/ 1495 w 3275"/>
                <a:gd name="T75" fmla="*/ 226 h 1014"/>
                <a:gd name="T76" fmla="*/ 1608 w 3275"/>
                <a:gd name="T77" fmla="*/ 230 h 1014"/>
                <a:gd name="T78" fmla="*/ 1614 w 3275"/>
                <a:gd name="T79" fmla="*/ 436 h 1014"/>
                <a:gd name="T80" fmla="*/ 1534 w 3275"/>
                <a:gd name="T81" fmla="*/ 342 h 1014"/>
                <a:gd name="T82" fmla="*/ 1871 w 3275"/>
                <a:gd name="T83" fmla="*/ 790 h 1014"/>
                <a:gd name="T84" fmla="*/ 1666 w 3275"/>
                <a:gd name="T85" fmla="*/ 795 h 1014"/>
                <a:gd name="T86" fmla="*/ 1779 w 3275"/>
                <a:gd name="T87" fmla="*/ 799 h 1014"/>
                <a:gd name="T88" fmla="*/ 1785 w 3275"/>
                <a:gd name="T89" fmla="*/ 1005 h 1014"/>
                <a:gd name="T90" fmla="*/ 1871 w 3275"/>
                <a:gd name="T91" fmla="*/ 928 h 1014"/>
                <a:gd name="T92" fmla="*/ 1779 w 3275"/>
                <a:gd name="T93" fmla="*/ 854 h 1014"/>
                <a:gd name="T94" fmla="*/ 2026 w 3275"/>
                <a:gd name="T95" fmla="*/ 606 h 1014"/>
                <a:gd name="T96" fmla="*/ 1030 w 3275"/>
                <a:gd name="T97" fmla="*/ 740 h 1014"/>
                <a:gd name="T98" fmla="*/ 1030 w 3275"/>
                <a:gd name="T99" fmla="*/ 1008 h 1014"/>
                <a:gd name="T100" fmla="*/ 1267 w 3275"/>
                <a:gd name="T101" fmla="*/ 1008 h 1014"/>
                <a:gd name="T102" fmla="*/ 2058 w 3275"/>
                <a:gd name="T103" fmla="*/ 482 h 1014"/>
                <a:gd name="T104" fmla="*/ 2183 w 3275"/>
                <a:gd name="T105" fmla="*/ 365 h 1014"/>
                <a:gd name="T106" fmla="*/ 2327 w 3275"/>
                <a:gd name="T107" fmla="*/ 231 h 1014"/>
                <a:gd name="T108" fmla="*/ 2363 w 3275"/>
                <a:gd name="T109" fmla="*/ 112 h 1014"/>
                <a:gd name="T110" fmla="*/ 2075 w 3275"/>
                <a:gd name="T111" fmla="*/ 231 h 1014"/>
                <a:gd name="T112" fmla="*/ 2058 w 3275"/>
                <a:gd name="T113" fmla="*/ 482 h 1014"/>
                <a:gd name="T114" fmla="*/ 2166 w 3275"/>
                <a:gd name="T115" fmla="*/ 233 h 1014"/>
                <a:gd name="T116" fmla="*/ 2208 w 3275"/>
                <a:gd name="T117" fmla="*/ 444 h 1014"/>
                <a:gd name="T118" fmla="*/ 2155 w 3275"/>
                <a:gd name="T119" fmla="*/ 439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5" h="1014">
                  <a:moveTo>
                    <a:pt x="575" y="439"/>
                  </a:moveTo>
                  <a:cubicBezTo>
                    <a:pt x="575" y="266"/>
                    <a:pt x="575" y="266"/>
                    <a:pt x="575" y="266"/>
                  </a:cubicBezTo>
                  <a:cubicBezTo>
                    <a:pt x="699" y="0"/>
                    <a:pt x="699" y="0"/>
                    <a:pt x="699" y="0"/>
                  </a:cubicBezTo>
                  <a:cubicBezTo>
                    <a:pt x="602" y="0"/>
                    <a:pt x="602" y="0"/>
                    <a:pt x="602" y="0"/>
                  </a:cubicBezTo>
                  <a:cubicBezTo>
                    <a:pt x="528" y="175"/>
                    <a:pt x="528" y="175"/>
                    <a:pt x="528" y="175"/>
                  </a:cubicBezTo>
                  <a:cubicBezTo>
                    <a:pt x="454" y="0"/>
                    <a:pt x="454" y="0"/>
                    <a:pt x="454" y="0"/>
                  </a:cubicBezTo>
                  <a:cubicBezTo>
                    <a:pt x="354" y="0"/>
                    <a:pt x="354" y="0"/>
                    <a:pt x="354" y="0"/>
                  </a:cubicBezTo>
                  <a:cubicBezTo>
                    <a:pt x="477" y="267"/>
                    <a:pt x="477" y="267"/>
                    <a:pt x="477" y="267"/>
                  </a:cubicBezTo>
                  <a:cubicBezTo>
                    <a:pt x="477" y="439"/>
                    <a:pt x="477" y="439"/>
                    <a:pt x="477" y="439"/>
                  </a:cubicBezTo>
                  <a:lnTo>
                    <a:pt x="575" y="439"/>
                  </a:lnTo>
                  <a:close/>
                  <a:moveTo>
                    <a:pt x="1400" y="357"/>
                  </a:moveTo>
                  <a:cubicBezTo>
                    <a:pt x="1268" y="357"/>
                    <a:pt x="1268" y="357"/>
                    <a:pt x="1268" y="357"/>
                  </a:cubicBezTo>
                  <a:cubicBezTo>
                    <a:pt x="1268" y="0"/>
                    <a:pt x="1268" y="0"/>
                    <a:pt x="1268" y="0"/>
                  </a:cubicBezTo>
                  <a:cubicBezTo>
                    <a:pt x="1170" y="0"/>
                    <a:pt x="1170" y="0"/>
                    <a:pt x="1170" y="0"/>
                  </a:cubicBezTo>
                  <a:cubicBezTo>
                    <a:pt x="1170" y="439"/>
                    <a:pt x="1170" y="439"/>
                    <a:pt x="1170" y="439"/>
                  </a:cubicBezTo>
                  <a:cubicBezTo>
                    <a:pt x="1400" y="439"/>
                    <a:pt x="1400" y="439"/>
                    <a:pt x="1400" y="439"/>
                  </a:cubicBezTo>
                  <a:lnTo>
                    <a:pt x="1400" y="357"/>
                  </a:lnTo>
                  <a:close/>
                  <a:moveTo>
                    <a:pt x="234" y="252"/>
                  </a:moveTo>
                  <a:cubicBezTo>
                    <a:pt x="203" y="190"/>
                    <a:pt x="105" y="11"/>
                    <a:pt x="100" y="2"/>
                  </a:cubicBezTo>
                  <a:cubicBezTo>
                    <a:pt x="99" y="0"/>
                    <a:pt x="99" y="0"/>
                    <a:pt x="99" y="0"/>
                  </a:cubicBezTo>
                  <a:cubicBezTo>
                    <a:pt x="0" y="0"/>
                    <a:pt x="0" y="0"/>
                    <a:pt x="0" y="0"/>
                  </a:cubicBezTo>
                  <a:cubicBezTo>
                    <a:pt x="0" y="439"/>
                    <a:pt x="0" y="439"/>
                    <a:pt x="0" y="439"/>
                  </a:cubicBezTo>
                  <a:cubicBezTo>
                    <a:pt x="90" y="439"/>
                    <a:pt x="90" y="439"/>
                    <a:pt x="90" y="439"/>
                  </a:cubicBezTo>
                  <a:cubicBezTo>
                    <a:pt x="90" y="180"/>
                    <a:pt x="90" y="180"/>
                    <a:pt x="90" y="180"/>
                  </a:cubicBezTo>
                  <a:cubicBezTo>
                    <a:pt x="122" y="241"/>
                    <a:pt x="227" y="428"/>
                    <a:pt x="233" y="437"/>
                  </a:cubicBezTo>
                  <a:cubicBezTo>
                    <a:pt x="234" y="439"/>
                    <a:pt x="234" y="439"/>
                    <a:pt x="234" y="439"/>
                  </a:cubicBezTo>
                  <a:cubicBezTo>
                    <a:pt x="323" y="439"/>
                    <a:pt x="323" y="439"/>
                    <a:pt x="323" y="439"/>
                  </a:cubicBezTo>
                  <a:cubicBezTo>
                    <a:pt x="323" y="0"/>
                    <a:pt x="323" y="0"/>
                    <a:pt x="323" y="0"/>
                  </a:cubicBezTo>
                  <a:cubicBezTo>
                    <a:pt x="234" y="0"/>
                    <a:pt x="234" y="0"/>
                    <a:pt x="234" y="0"/>
                  </a:cubicBezTo>
                  <a:lnTo>
                    <a:pt x="234" y="252"/>
                  </a:lnTo>
                  <a:close/>
                  <a:moveTo>
                    <a:pt x="1030" y="285"/>
                  </a:moveTo>
                  <a:cubicBezTo>
                    <a:pt x="1030" y="0"/>
                    <a:pt x="1030" y="0"/>
                    <a:pt x="1030" y="0"/>
                  </a:cubicBezTo>
                  <a:cubicBezTo>
                    <a:pt x="936" y="0"/>
                    <a:pt x="936" y="0"/>
                    <a:pt x="936" y="0"/>
                  </a:cubicBezTo>
                  <a:cubicBezTo>
                    <a:pt x="936" y="281"/>
                    <a:pt x="936" y="281"/>
                    <a:pt x="936" y="281"/>
                  </a:cubicBezTo>
                  <a:cubicBezTo>
                    <a:pt x="936" y="339"/>
                    <a:pt x="920" y="362"/>
                    <a:pt x="880" y="362"/>
                  </a:cubicBezTo>
                  <a:cubicBezTo>
                    <a:pt x="840" y="362"/>
                    <a:pt x="824" y="339"/>
                    <a:pt x="824" y="280"/>
                  </a:cubicBezTo>
                  <a:cubicBezTo>
                    <a:pt x="824" y="0"/>
                    <a:pt x="824" y="0"/>
                    <a:pt x="824" y="0"/>
                  </a:cubicBezTo>
                  <a:cubicBezTo>
                    <a:pt x="726" y="0"/>
                    <a:pt x="726" y="0"/>
                    <a:pt x="726" y="0"/>
                  </a:cubicBezTo>
                  <a:cubicBezTo>
                    <a:pt x="726" y="286"/>
                    <a:pt x="726" y="286"/>
                    <a:pt x="726" y="286"/>
                  </a:cubicBezTo>
                  <a:cubicBezTo>
                    <a:pt x="726" y="392"/>
                    <a:pt x="778" y="446"/>
                    <a:pt x="879" y="446"/>
                  </a:cubicBezTo>
                  <a:cubicBezTo>
                    <a:pt x="981" y="446"/>
                    <a:pt x="1030" y="394"/>
                    <a:pt x="1030" y="285"/>
                  </a:cubicBezTo>
                  <a:moveTo>
                    <a:pt x="1520" y="903"/>
                  </a:moveTo>
                  <a:cubicBezTo>
                    <a:pt x="1508" y="921"/>
                    <a:pt x="1486" y="941"/>
                    <a:pt x="1457" y="941"/>
                  </a:cubicBezTo>
                  <a:cubicBezTo>
                    <a:pt x="1427" y="941"/>
                    <a:pt x="1410" y="919"/>
                    <a:pt x="1406" y="874"/>
                  </a:cubicBezTo>
                  <a:cubicBezTo>
                    <a:pt x="1580" y="874"/>
                    <a:pt x="1580" y="874"/>
                    <a:pt x="1580" y="874"/>
                  </a:cubicBezTo>
                  <a:cubicBezTo>
                    <a:pt x="1580" y="854"/>
                    <a:pt x="1580" y="854"/>
                    <a:pt x="1580" y="854"/>
                  </a:cubicBezTo>
                  <a:cubicBezTo>
                    <a:pt x="1580" y="745"/>
                    <a:pt x="1533" y="682"/>
                    <a:pt x="1451" y="682"/>
                  </a:cubicBezTo>
                  <a:cubicBezTo>
                    <a:pt x="1387" y="682"/>
                    <a:pt x="1312" y="726"/>
                    <a:pt x="1312" y="849"/>
                  </a:cubicBezTo>
                  <a:cubicBezTo>
                    <a:pt x="1312" y="952"/>
                    <a:pt x="1365" y="1014"/>
                    <a:pt x="1453" y="1014"/>
                  </a:cubicBezTo>
                  <a:cubicBezTo>
                    <a:pt x="1506" y="1014"/>
                    <a:pt x="1547" y="993"/>
                    <a:pt x="1578" y="948"/>
                  </a:cubicBezTo>
                  <a:cubicBezTo>
                    <a:pt x="1580" y="945"/>
                    <a:pt x="1580" y="945"/>
                    <a:pt x="1580" y="945"/>
                  </a:cubicBezTo>
                  <a:cubicBezTo>
                    <a:pt x="1523" y="898"/>
                    <a:pt x="1523" y="898"/>
                    <a:pt x="1523" y="898"/>
                  </a:cubicBezTo>
                  <a:lnTo>
                    <a:pt x="1520" y="903"/>
                  </a:lnTo>
                  <a:close/>
                  <a:moveTo>
                    <a:pt x="1451" y="758"/>
                  </a:moveTo>
                  <a:cubicBezTo>
                    <a:pt x="1460" y="758"/>
                    <a:pt x="1487" y="758"/>
                    <a:pt x="1492" y="816"/>
                  </a:cubicBezTo>
                  <a:cubicBezTo>
                    <a:pt x="1407" y="816"/>
                    <a:pt x="1407" y="816"/>
                    <a:pt x="1407" y="816"/>
                  </a:cubicBezTo>
                  <a:cubicBezTo>
                    <a:pt x="1412" y="778"/>
                    <a:pt x="1427" y="758"/>
                    <a:pt x="1451" y="758"/>
                  </a:cubicBezTo>
                  <a:moveTo>
                    <a:pt x="2516" y="114"/>
                  </a:moveTo>
                  <a:cubicBezTo>
                    <a:pt x="2476" y="114"/>
                    <a:pt x="2442" y="127"/>
                    <a:pt x="2418" y="152"/>
                  </a:cubicBezTo>
                  <a:cubicBezTo>
                    <a:pt x="2389" y="181"/>
                    <a:pt x="2375" y="224"/>
                    <a:pt x="2375" y="280"/>
                  </a:cubicBezTo>
                  <a:cubicBezTo>
                    <a:pt x="2375" y="402"/>
                    <a:pt x="2448" y="446"/>
                    <a:pt x="2516" y="446"/>
                  </a:cubicBezTo>
                  <a:cubicBezTo>
                    <a:pt x="2584" y="446"/>
                    <a:pt x="2657" y="402"/>
                    <a:pt x="2657" y="280"/>
                  </a:cubicBezTo>
                  <a:cubicBezTo>
                    <a:pt x="2657" y="224"/>
                    <a:pt x="2643" y="181"/>
                    <a:pt x="2614" y="152"/>
                  </a:cubicBezTo>
                  <a:cubicBezTo>
                    <a:pt x="2589" y="127"/>
                    <a:pt x="2555" y="114"/>
                    <a:pt x="2516" y="114"/>
                  </a:cubicBezTo>
                  <a:moveTo>
                    <a:pt x="2516" y="370"/>
                  </a:moveTo>
                  <a:cubicBezTo>
                    <a:pt x="2496" y="370"/>
                    <a:pt x="2470" y="361"/>
                    <a:pt x="2470" y="280"/>
                  </a:cubicBezTo>
                  <a:cubicBezTo>
                    <a:pt x="2470" y="219"/>
                    <a:pt x="2484" y="191"/>
                    <a:pt x="2516" y="191"/>
                  </a:cubicBezTo>
                  <a:cubicBezTo>
                    <a:pt x="2536" y="191"/>
                    <a:pt x="2562" y="200"/>
                    <a:pt x="2562" y="280"/>
                  </a:cubicBezTo>
                  <a:cubicBezTo>
                    <a:pt x="2562" y="342"/>
                    <a:pt x="2548" y="370"/>
                    <a:pt x="2516" y="370"/>
                  </a:cubicBezTo>
                  <a:moveTo>
                    <a:pt x="2494" y="682"/>
                  </a:moveTo>
                  <a:cubicBezTo>
                    <a:pt x="2456" y="682"/>
                    <a:pt x="2425" y="702"/>
                    <a:pt x="2406" y="723"/>
                  </a:cubicBezTo>
                  <a:cubicBezTo>
                    <a:pt x="2406" y="556"/>
                    <a:pt x="2406" y="556"/>
                    <a:pt x="2406" y="556"/>
                  </a:cubicBezTo>
                  <a:cubicBezTo>
                    <a:pt x="2310" y="569"/>
                    <a:pt x="2310" y="569"/>
                    <a:pt x="2310" y="569"/>
                  </a:cubicBezTo>
                  <a:cubicBezTo>
                    <a:pt x="2310" y="1008"/>
                    <a:pt x="2310" y="1008"/>
                    <a:pt x="2310" y="1008"/>
                  </a:cubicBezTo>
                  <a:cubicBezTo>
                    <a:pt x="2406" y="1008"/>
                    <a:pt x="2406" y="1008"/>
                    <a:pt x="2406" y="1008"/>
                  </a:cubicBezTo>
                  <a:cubicBezTo>
                    <a:pt x="2406" y="790"/>
                    <a:pt x="2406" y="790"/>
                    <a:pt x="2406" y="790"/>
                  </a:cubicBezTo>
                  <a:cubicBezTo>
                    <a:pt x="2425" y="773"/>
                    <a:pt x="2441" y="765"/>
                    <a:pt x="2455" y="765"/>
                  </a:cubicBezTo>
                  <a:cubicBezTo>
                    <a:pt x="2467" y="765"/>
                    <a:pt x="2478" y="768"/>
                    <a:pt x="2478" y="796"/>
                  </a:cubicBezTo>
                  <a:cubicBezTo>
                    <a:pt x="2478" y="1008"/>
                    <a:pt x="2478" y="1008"/>
                    <a:pt x="2478" y="1008"/>
                  </a:cubicBezTo>
                  <a:cubicBezTo>
                    <a:pt x="2573" y="1008"/>
                    <a:pt x="2573" y="1008"/>
                    <a:pt x="2573" y="1008"/>
                  </a:cubicBezTo>
                  <a:cubicBezTo>
                    <a:pt x="2573" y="768"/>
                    <a:pt x="2573" y="768"/>
                    <a:pt x="2573" y="768"/>
                  </a:cubicBezTo>
                  <a:cubicBezTo>
                    <a:pt x="2573" y="712"/>
                    <a:pt x="2546" y="682"/>
                    <a:pt x="2494" y="682"/>
                  </a:cubicBezTo>
                  <a:moveTo>
                    <a:pt x="3217" y="330"/>
                  </a:moveTo>
                  <a:cubicBezTo>
                    <a:pt x="3214" y="334"/>
                    <a:pt x="3214" y="334"/>
                    <a:pt x="3214" y="334"/>
                  </a:cubicBezTo>
                  <a:cubicBezTo>
                    <a:pt x="3203" y="353"/>
                    <a:pt x="3180" y="372"/>
                    <a:pt x="3152" y="372"/>
                  </a:cubicBezTo>
                  <a:cubicBezTo>
                    <a:pt x="3121" y="372"/>
                    <a:pt x="3105" y="350"/>
                    <a:pt x="3101" y="306"/>
                  </a:cubicBezTo>
                  <a:cubicBezTo>
                    <a:pt x="3275" y="306"/>
                    <a:pt x="3275" y="306"/>
                    <a:pt x="3275" y="306"/>
                  </a:cubicBezTo>
                  <a:cubicBezTo>
                    <a:pt x="3275" y="285"/>
                    <a:pt x="3275" y="285"/>
                    <a:pt x="3275" y="285"/>
                  </a:cubicBezTo>
                  <a:cubicBezTo>
                    <a:pt x="3275" y="176"/>
                    <a:pt x="3227" y="114"/>
                    <a:pt x="3145" y="114"/>
                  </a:cubicBezTo>
                  <a:cubicBezTo>
                    <a:pt x="3081" y="114"/>
                    <a:pt x="3007" y="157"/>
                    <a:pt x="3007" y="280"/>
                  </a:cubicBezTo>
                  <a:cubicBezTo>
                    <a:pt x="3007" y="384"/>
                    <a:pt x="3060" y="446"/>
                    <a:pt x="3148" y="446"/>
                  </a:cubicBezTo>
                  <a:cubicBezTo>
                    <a:pt x="3201" y="446"/>
                    <a:pt x="3242" y="424"/>
                    <a:pt x="3273" y="380"/>
                  </a:cubicBezTo>
                  <a:cubicBezTo>
                    <a:pt x="3275" y="376"/>
                    <a:pt x="3275" y="376"/>
                    <a:pt x="3275" y="376"/>
                  </a:cubicBezTo>
                  <a:lnTo>
                    <a:pt x="3217" y="330"/>
                  </a:lnTo>
                  <a:close/>
                  <a:moveTo>
                    <a:pt x="3145" y="189"/>
                  </a:moveTo>
                  <a:cubicBezTo>
                    <a:pt x="3154" y="189"/>
                    <a:pt x="3181" y="189"/>
                    <a:pt x="3187" y="247"/>
                  </a:cubicBezTo>
                  <a:cubicBezTo>
                    <a:pt x="3102" y="247"/>
                    <a:pt x="3102" y="247"/>
                    <a:pt x="3102" y="247"/>
                  </a:cubicBezTo>
                  <a:cubicBezTo>
                    <a:pt x="3107" y="210"/>
                    <a:pt x="3122" y="189"/>
                    <a:pt x="3145" y="189"/>
                  </a:cubicBezTo>
                  <a:moveTo>
                    <a:pt x="2886" y="114"/>
                  </a:moveTo>
                  <a:cubicBezTo>
                    <a:pt x="2848" y="114"/>
                    <a:pt x="2817" y="134"/>
                    <a:pt x="2798" y="154"/>
                  </a:cubicBezTo>
                  <a:cubicBezTo>
                    <a:pt x="2798" y="120"/>
                    <a:pt x="2798" y="120"/>
                    <a:pt x="2798" y="120"/>
                  </a:cubicBezTo>
                  <a:cubicBezTo>
                    <a:pt x="2702" y="120"/>
                    <a:pt x="2702" y="120"/>
                    <a:pt x="2702" y="120"/>
                  </a:cubicBezTo>
                  <a:cubicBezTo>
                    <a:pt x="2702" y="439"/>
                    <a:pt x="2702" y="439"/>
                    <a:pt x="2702" y="439"/>
                  </a:cubicBezTo>
                  <a:cubicBezTo>
                    <a:pt x="2798" y="439"/>
                    <a:pt x="2798" y="439"/>
                    <a:pt x="2798" y="439"/>
                  </a:cubicBezTo>
                  <a:cubicBezTo>
                    <a:pt x="2798" y="221"/>
                    <a:pt x="2798" y="221"/>
                    <a:pt x="2798" y="221"/>
                  </a:cubicBezTo>
                  <a:cubicBezTo>
                    <a:pt x="2817" y="204"/>
                    <a:pt x="2833" y="196"/>
                    <a:pt x="2847" y="196"/>
                  </a:cubicBezTo>
                  <a:cubicBezTo>
                    <a:pt x="2859" y="196"/>
                    <a:pt x="2870" y="200"/>
                    <a:pt x="2870" y="227"/>
                  </a:cubicBezTo>
                  <a:cubicBezTo>
                    <a:pt x="2870" y="439"/>
                    <a:pt x="2870" y="439"/>
                    <a:pt x="2870" y="439"/>
                  </a:cubicBezTo>
                  <a:cubicBezTo>
                    <a:pt x="2965" y="439"/>
                    <a:pt x="2965" y="439"/>
                    <a:pt x="2965" y="439"/>
                  </a:cubicBezTo>
                  <a:cubicBezTo>
                    <a:pt x="2965" y="200"/>
                    <a:pt x="2965" y="200"/>
                    <a:pt x="2965" y="200"/>
                  </a:cubicBezTo>
                  <a:cubicBezTo>
                    <a:pt x="2965" y="143"/>
                    <a:pt x="2938" y="114"/>
                    <a:pt x="2886" y="114"/>
                  </a:cubicBezTo>
                  <a:moveTo>
                    <a:pt x="2202" y="583"/>
                  </a:moveTo>
                  <a:cubicBezTo>
                    <a:pt x="2107" y="596"/>
                    <a:pt x="2107" y="596"/>
                    <a:pt x="2107" y="596"/>
                  </a:cubicBezTo>
                  <a:cubicBezTo>
                    <a:pt x="2107" y="689"/>
                    <a:pt x="2107" y="689"/>
                    <a:pt x="2107" y="689"/>
                  </a:cubicBezTo>
                  <a:cubicBezTo>
                    <a:pt x="2063" y="689"/>
                    <a:pt x="2063" y="689"/>
                    <a:pt x="2063" y="689"/>
                  </a:cubicBezTo>
                  <a:cubicBezTo>
                    <a:pt x="2063" y="762"/>
                    <a:pt x="2063" y="762"/>
                    <a:pt x="2063" y="762"/>
                  </a:cubicBezTo>
                  <a:cubicBezTo>
                    <a:pt x="2107" y="762"/>
                    <a:pt x="2107" y="762"/>
                    <a:pt x="2107" y="762"/>
                  </a:cubicBezTo>
                  <a:cubicBezTo>
                    <a:pt x="2107" y="926"/>
                    <a:pt x="2107" y="926"/>
                    <a:pt x="2107" y="926"/>
                  </a:cubicBezTo>
                  <a:cubicBezTo>
                    <a:pt x="2107" y="989"/>
                    <a:pt x="2133" y="1012"/>
                    <a:pt x="2206" y="1012"/>
                  </a:cubicBezTo>
                  <a:cubicBezTo>
                    <a:pt x="2225" y="1012"/>
                    <a:pt x="2254" y="1009"/>
                    <a:pt x="2261" y="1007"/>
                  </a:cubicBezTo>
                  <a:cubicBezTo>
                    <a:pt x="2264" y="1006"/>
                    <a:pt x="2264" y="1006"/>
                    <a:pt x="2264" y="1006"/>
                  </a:cubicBezTo>
                  <a:cubicBezTo>
                    <a:pt x="2264" y="934"/>
                    <a:pt x="2264" y="934"/>
                    <a:pt x="2264" y="934"/>
                  </a:cubicBezTo>
                  <a:cubicBezTo>
                    <a:pt x="2257" y="937"/>
                    <a:pt x="2257" y="937"/>
                    <a:pt x="2257" y="937"/>
                  </a:cubicBezTo>
                  <a:cubicBezTo>
                    <a:pt x="2254" y="938"/>
                    <a:pt x="2242" y="940"/>
                    <a:pt x="2234" y="940"/>
                  </a:cubicBezTo>
                  <a:cubicBezTo>
                    <a:pt x="2207" y="940"/>
                    <a:pt x="2202" y="933"/>
                    <a:pt x="2202" y="904"/>
                  </a:cubicBezTo>
                  <a:cubicBezTo>
                    <a:pt x="2202" y="762"/>
                    <a:pt x="2202" y="762"/>
                    <a:pt x="2202" y="762"/>
                  </a:cubicBezTo>
                  <a:cubicBezTo>
                    <a:pt x="2268" y="762"/>
                    <a:pt x="2268" y="762"/>
                    <a:pt x="2268" y="762"/>
                  </a:cubicBezTo>
                  <a:cubicBezTo>
                    <a:pt x="2268" y="689"/>
                    <a:pt x="2268" y="689"/>
                    <a:pt x="2268" y="689"/>
                  </a:cubicBezTo>
                  <a:cubicBezTo>
                    <a:pt x="2202" y="689"/>
                    <a:pt x="2202" y="689"/>
                    <a:pt x="2202" y="689"/>
                  </a:cubicBezTo>
                  <a:lnTo>
                    <a:pt x="2202" y="583"/>
                  </a:lnTo>
                  <a:close/>
                  <a:moveTo>
                    <a:pt x="1946" y="114"/>
                  </a:moveTo>
                  <a:cubicBezTo>
                    <a:pt x="1908" y="114"/>
                    <a:pt x="1877" y="134"/>
                    <a:pt x="1859" y="154"/>
                  </a:cubicBezTo>
                  <a:cubicBezTo>
                    <a:pt x="1859" y="120"/>
                    <a:pt x="1859" y="120"/>
                    <a:pt x="1859" y="120"/>
                  </a:cubicBezTo>
                  <a:cubicBezTo>
                    <a:pt x="1763" y="120"/>
                    <a:pt x="1763" y="120"/>
                    <a:pt x="1763" y="120"/>
                  </a:cubicBezTo>
                  <a:cubicBezTo>
                    <a:pt x="1763" y="439"/>
                    <a:pt x="1763" y="439"/>
                    <a:pt x="1763" y="439"/>
                  </a:cubicBezTo>
                  <a:cubicBezTo>
                    <a:pt x="1859" y="439"/>
                    <a:pt x="1859" y="439"/>
                    <a:pt x="1859" y="439"/>
                  </a:cubicBezTo>
                  <a:cubicBezTo>
                    <a:pt x="1859" y="221"/>
                    <a:pt x="1859" y="221"/>
                    <a:pt x="1859" y="221"/>
                  </a:cubicBezTo>
                  <a:cubicBezTo>
                    <a:pt x="1877" y="204"/>
                    <a:pt x="1894" y="196"/>
                    <a:pt x="1908" y="196"/>
                  </a:cubicBezTo>
                  <a:cubicBezTo>
                    <a:pt x="1920" y="196"/>
                    <a:pt x="1931" y="200"/>
                    <a:pt x="1931" y="227"/>
                  </a:cubicBezTo>
                  <a:cubicBezTo>
                    <a:pt x="1931" y="439"/>
                    <a:pt x="1931" y="439"/>
                    <a:pt x="1931" y="439"/>
                  </a:cubicBezTo>
                  <a:cubicBezTo>
                    <a:pt x="2026" y="439"/>
                    <a:pt x="2026" y="439"/>
                    <a:pt x="2026" y="439"/>
                  </a:cubicBezTo>
                  <a:cubicBezTo>
                    <a:pt x="2026" y="200"/>
                    <a:pt x="2026" y="200"/>
                    <a:pt x="2026" y="200"/>
                  </a:cubicBezTo>
                  <a:cubicBezTo>
                    <a:pt x="2026" y="143"/>
                    <a:pt x="1998" y="114"/>
                    <a:pt x="1946" y="114"/>
                  </a:cubicBezTo>
                  <a:moveTo>
                    <a:pt x="1615" y="439"/>
                  </a:moveTo>
                  <a:cubicBezTo>
                    <a:pt x="1710" y="439"/>
                    <a:pt x="1710" y="439"/>
                    <a:pt x="1710" y="439"/>
                  </a:cubicBezTo>
                  <a:cubicBezTo>
                    <a:pt x="1708" y="433"/>
                    <a:pt x="1708" y="433"/>
                    <a:pt x="1708" y="433"/>
                  </a:cubicBezTo>
                  <a:cubicBezTo>
                    <a:pt x="1702" y="419"/>
                    <a:pt x="1700" y="398"/>
                    <a:pt x="1700" y="359"/>
                  </a:cubicBezTo>
                  <a:cubicBezTo>
                    <a:pt x="1700" y="221"/>
                    <a:pt x="1700" y="221"/>
                    <a:pt x="1700" y="221"/>
                  </a:cubicBezTo>
                  <a:cubicBezTo>
                    <a:pt x="1700" y="148"/>
                    <a:pt x="1668" y="114"/>
                    <a:pt x="1597" y="114"/>
                  </a:cubicBezTo>
                  <a:cubicBezTo>
                    <a:pt x="1542" y="114"/>
                    <a:pt x="1492" y="131"/>
                    <a:pt x="1454" y="165"/>
                  </a:cubicBezTo>
                  <a:cubicBezTo>
                    <a:pt x="1450" y="168"/>
                    <a:pt x="1450" y="168"/>
                    <a:pt x="1450" y="168"/>
                  </a:cubicBezTo>
                  <a:cubicBezTo>
                    <a:pt x="1495" y="226"/>
                    <a:pt x="1495" y="226"/>
                    <a:pt x="1495" y="226"/>
                  </a:cubicBezTo>
                  <a:cubicBezTo>
                    <a:pt x="1499" y="223"/>
                    <a:pt x="1499" y="223"/>
                    <a:pt x="1499" y="223"/>
                  </a:cubicBezTo>
                  <a:cubicBezTo>
                    <a:pt x="1515" y="211"/>
                    <a:pt x="1548" y="191"/>
                    <a:pt x="1581" y="191"/>
                  </a:cubicBezTo>
                  <a:cubicBezTo>
                    <a:pt x="1600" y="191"/>
                    <a:pt x="1608" y="199"/>
                    <a:pt x="1608" y="221"/>
                  </a:cubicBezTo>
                  <a:cubicBezTo>
                    <a:pt x="1608" y="230"/>
                    <a:pt x="1608" y="230"/>
                    <a:pt x="1608" y="230"/>
                  </a:cubicBezTo>
                  <a:cubicBezTo>
                    <a:pt x="1495" y="251"/>
                    <a:pt x="1441" y="293"/>
                    <a:pt x="1441" y="357"/>
                  </a:cubicBezTo>
                  <a:cubicBezTo>
                    <a:pt x="1441" y="412"/>
                    <a:pt x="1470" y="443"/>
                    <a:pt x="1521" y="443"/>
                  </a:cubicBezTo>
                  <a:cubicBezTo>
                    <a:pt x="1556" y="443"/>
                    <a:pt x="1585" y="431"/>
                    <a:pt x="1608" y="405"/>
                  </a:cubicBezTo>
                  <a:cubicBezTo>
                    <a:pt x="1609" y="419"/>
                    <a:pt x="1611" y="428"/>
                    <a:pt x="1614" y="436"/>
                  </a:cubicBezTo>
                  <a:lnTo>
                    <a:pt x="1615" y="439"/>
                  </a:lnTo>
                  <a:close/>
                  <a:moveTo>
                    <a:pt x="1608" y="346"/>
                  </a:moveTo>
                  <a:cubicBezTo>
                    <a:pt x="1592" y="360"/>
                    <a:pt x="1575" y="367"/>
                    <a:pt x="1558" y="367"/>
                  </a:cubicBezTo>
                  <a:cubicBezTo>
                    <a:pt x="1542" y="367"/>
                    <a:pt x="1534" y="358"/>
                    <a:pt x="1534" y="342"/>
                  </a:cubicBezTo>
                  <a:cubicBezTo>
                    <a:pt x="1534" y="323"/>
                    <a:pt x="1542" y="301"/>
                    <a:pt x="1608" y="285"/>
                  </a:cubicBezTo>
                  <a:lnTo>
                    <a:pt x="1608" y="346"/>
                  </a:lnTo>
                  <a:close/>
                  <a:moveTo>
                    <a:pt x="1871" y="928"/>
                  </a:moveTo>
                  <a:cubicBezTo>
                    <a:pt x="1871" y="790"/>
                    <a:pt x="1871" y="790"/>
                    <a:pt x="1871" y="790"/>
                  </a:cubicBezTo>
                  <a:cubicBezTo>
                    <a:pt x="1871" y="716"/>
                    <a:pt x="1839" y="682"/>
                    <a:pt x="1768" y="682"/>
                  </a:cubicBezTo>
                  <a:cubicBezTo>
                    <a:pt x="1713" y="682"/>
                    <a:pt x="1663" y="700"/>
                    <a:pt x="1625" y="733"/>
                  </a:cubicBezTo>
                  <a:cubicBezTo>
                    <a:pt x="1621" y="736"/>
                    <a:pt x="1621" y="736"/>
                    <a:pt x="1621" y="736"/>
                  </a:cubicBezTo>
                  <a:cubicBezTo>
                    <a:pt x="1666" y="795"/>
                    <a:pt x="1666" y="795"/>
                    <a:pt x="1666" y="795"/>
                  </a:cubicBezTo>
                  <a:cubicBezTo>
                    <a:pt x="1670" y="792"/>
                    <a:pt x="1670" y="792"/>
                    <a:pt x="1670" y="792"/>
                  </a:cubicBezTo>
                  <a:cubicBezTo>
                    <a:pt x="1686" y="780"/>
                    <a:pt x="1719" y="759"/>
                    <a:pt x="1752" y="759"/>
                  </a:cubicBezTo>
                  <a:cubicBezTo>
                    <a:pt x="1771" y="759"/>
                    <a:pt x="1779" y="768"/>
                    <a:pt x="1779" y="790"/>
                  </a:cubicBezTo>
                  <a:cubicBezTo>
                    <a:pt x="1779" y="799"/>
                    <a:pt x="1779" y="799"/>
                    <a:pt x="1779" y="799"/>
                  </a:cubicBezTo>
                  <a:cubicBezTo>
                    <a:pt x="1666" y="820"/>
                    <a:pt x="1612" y="861"/>
                    <a:pt x="1612" y="926"/>
                  </a:cubicBezTo>
                  <a:cubicBezTo>
                    <a:pt x="1612" y="980"/>
                    <a:pt x="1641" y="1012"/>
                    <a:pt x="1692" y="1012"/>
                  </a:cubicBezTo>
                  <a:cubicBezTo>
                    <a:pt x="1727" y="1012"/>
                    <a:pt x="1756" y="999"/>
                    <a:pt x="1779" y="974"/>
                  </a:cubicBezTo>
                  <a:cubicBezTo>
                    <a:pt x="1780" y="987"/>
                    <a:pt x="1782" y="997"/>
                    <a:pt x="1785" y="1005"/>
                  </a:cubicBezTo>
                  <a:cubicBezTo>
                    <a:pt x="1786" y="1008"/>
                    <a:pt x="1786" y="1008"/>
                    <a:pt x="1786" y="1008"/>
                  </a:cubicBezTo>
                  <a:cubicBezTo>
                    <a:pt x="1881" y="1008"/>
                    <a:pt x="1881" y="1008"/>
                    <a:pt x="1881" y="1008"/>
                  </a:cubicBezTo>
                  <a:cubicBezTo>
                    <a:pt x="1879" y="1002"/>
                    <a:pt x="1879" y="1002"/>
                    <a:pt x="1879" y="1002"/>
                  </a:cubicBezTo>
                  <a:cubicBezTo>
                    <a:pt x="1873" y="987"/>
                    <a:pt x="1871" y="967"/>
                    <a:pt x="1871" y="928"/>
                  </a:cubicBezTo>
                  <a:moveTo>
                    <a:pt x="1779" y="915"/>
                  </a:moveTo>
                  <a:cubicBezTo>
                    <a:pt x="1763" y="929"/>
                    <a:pt x="1746" y="936"/>
                    <a:pt x="1729" y="936"/>
                  </a:cubicBezTo>
                  <a:cubicBezTo>
                    <a:pt x="1713" y="936"/>
                    <a:pt x="1705" y="927"/>
                    <a:pt x="1705" y="910"/>
                  </a:cubicBezTo>
                  <a:cubicBezTo>
                    <a:pt x="1705" y="892"/>
                    <a:pt x="1713" y="869"/>
                    <a:pt x="1779" y="854"/>
                  </a:cubicBezTo>
                  <a:lnTo>
                    <a:pt x="1779" y="915"/>
                  </a:lnTo>
                  <a:close/>
                  <a:moveTo>
                    <a:pt x="1930" y="1008"/>
                  </a:moveTo>
                  <a:cubicBezTo>
                    <a:pt x="2026" y="1008"/>
                    <a:pt x="2026" y="1008"/>
                    <a:pt x="2026" y="1008"/>
                  </a:cubicBezTo>
                  <a:cubicBezTo>
                    <a:pt x="2026" y="606"/>
                    <a:pt x="2026" y="606"/>
                    <a:pt x="2026" y="606"/>
                  </a:cubicBezTo>
                  <a:cubicBezTo>
                    <a:pt x="1930" y="619"/>
                    <a:pt x="1930" y="619"/>
                    <a:pt x="1930" y="619"/>
                  </a:cubicBezTo>
                  <a:lnTo>
                    <a:pt x="1930" y="1008"/>
                  </a:lnTo>
                  <a:close/>
                  <a:moveTo>
                    <a:pt x="1169" y="740"/>
                  </a:moveTo>
                  <a:cubicBezTo>
                    <a:pt x="1030" y="740"/>
                    <a:pt x="1030" y="740"/>
                    <a:pt x="1030" y="740"/>
                  </a:cubicBezTo>
                  <a:cubicBezTo>
                    <a:pt x="1030" y="575"/>
                    <a:pt x="1030" y="575"/>
                    <a:pt x="1030" y="575"/>
                  </a:cubicBezTo>
                  <a:cubicBezTo>
                    <a:pt x="932" y="575"/>
                    <a:pt x="932" y="575"/>
                    <a:pt x="932" y="575"/>
                  </a:cubicBezTo>
                  <a:cubicBezTo>
                    <a:pt x="932" y="1008"/>
                    <a:pt x="932" y="1008"/>
                    <a:pt x="932" y="1008"/>
                  </a:cubicBezTo>
                  <a:cubicBezTo>
                    <a:pt x="1030" y="1008"/>
                    <a:pt x="1030" y="1008"/>
                    <a:pt x="1030" y="1008"/>
                  </a:cubicBezTo>
                  <a:cubicBezTo>
                    <a:pt x="1030" y="823"/>
                    <a:pt x="1030" y="823"/>
                    <a:pt x="1030" y="823"/>
                  </a:cubicBezTo>
                  <a:cubicBezTo>
                    <a:pt x="1169" y="823"/>
                    <a:pt x="1169" y="823"/>
                    <a:pt x="1169" y="823"/>
                  </a:cubicBezTo>
                  <a:cubicBezTo>
                    <a:pt x="1169" y="1008"/>
                    <a:pt x="1169" y="1008"/>
                    <a:pt x="1169" y="1008"/>
                  </a:cubicBezTo>
                  <a:cubicBezTo>
                    <a:pt x="1267" y="1008"/>
                    <a:pt x="1267" y="1008"/>
                    <a:pt x="1267" y="1008"/>
                  </a:cubicBezTo>
                  <a:cubicBezTo>
                    <a:pt x="1267" y="575"/>
                    <a:pt x="1267" y="575"/>
                    <a:pt x="1267" y="575"/>
                  </a:cubicBezTo>
                  <a:cubicBezTo>
                    <a:pt x="1169" y="575"/>
                    <a:pt x="1169" y="575"/>
                    <a:pt x="1169" y="575"/>
                  </a:cubicBezTo>
                  <a:lnTo>
                    <a:pt x="1169" y="740"/>
                  </a:lnTo>
                  <a:close/>
                  <a:moveTo>
                    <a:pt x="2058" y="482"/>
                  </a:moveTo>
                  <a:cubicBezTo>
                    <a:pt x="2058" y="533"/>
                    <a:pt x="2100" y="553"/>
                    <a:pt x="2193" y="553"/>
                  </a:cubicBezTo>
                  <a:cubicBezTo>
                    <a:pt x="2291" y="553"/>
                    <a:pt x="2354" y="517"/>
                    <a:pt x="2354" y="457"/>
                  </a:cubicBezTo>
                  <a:cubicBezTo>
                    <a:pt x="2354" y="397"/>
                    <a:pt x="2317" y="373"/>
                    <a:pt x="2223" y="367"/>
                  </a:cubicBezTo>
                  <a:cubicBezTo>
                    <a:pt x="2183" y="365"/>
                    <a:pt x="2183" y="365"/>
                    <a:pt x="2183" y="365"/>
                  </a:cubicBezTo>
                  <a:cubicBezTo>
                    <a:pt x="2160" y="363"/>
                    <a:pt x="2159" y="357"/>
                    <a:pt x="2159" y="352"/>
                  </a:cubicBezTo>
                  <a:cubicBezTo>
                    <a:pt x="2159" y="350"/>
                    <a:pt x="2160" y="347"/>
                    <a:pt x="2164" y="343"/>
                  </a:cubicBezTo>
                  <a:cubicBezTo>
                    <a:pt x="2176" y="345"/>
                    <a:pt x="2189" y="347"/>
                    <a:pt x="2202" y="347"/>
                  </a:cubicBezTo>
                  <a:cubicBezTo>
                    <a:pt x="2279" y="347"/>
                    <a:pt x="2327" y="302"/>
                    <a:pt x="2327" y="231"/>
                  </a:cubicBezTo>
                  <a:cubicBezTo>
                    <a:pt x="2327" y="220"/>
                    <a:pt x="2326" y="208"/>
                    <a:pt x="2322" y="196"/>
                  </a:cubicBezTo>
                  <a:cubicBezTo>
                    <a:pt x="2338" y="194"/>
                    <a:pt x="2352" y="194"/>
                    <a:pt x="2359" y="194"/>
                  </a:cubicBezTo>
                  <a:cubicBezTo>
                    <a:pt x="2363" y="194"/>
                    <a:pt x="2363" y="194"/>
                    <a:pt x="2363" y="194"/>
                  </a:cubicBezTo>
                  <a:cubicBezTo>
                    <a:pt x="2363" y="112"/>
                    <a:pt x="2363" y="112"/>
                    <a:pt x="2363" y="112"/>
                  </a:cubicBezTo>
                  <a:cubicBezTo>
                    <a:pt x="2358" y="113"/>
                    <a:pt x="2358" y="113"/>
                    <a:pt x="2358" y="113"/>
                  </a:cubicBezTo>
                  <a:cubicBezTo>
                    <a:pt x="2336" y="115"/>
                    <a:pt x="2309" y="127"/>
                    <a:pt x="2291" y="143"/>
                  </a:cubicBezTo>
                  <a:cubicBezTo>
                    <a:pt x="2269" y="124"/>
                    <a:pt x="2239" y="114"/>
                    <a:pt x="2202" y="114"/>
                  </a:cubicBezTo>
                  <a:cubicBezTo>
                    <a:pt x="2125" y="114"/>
                    <a:pt x="2075" y="159"/>
                    <a:pt x="2075" y="231"/>
                  </a:cubicBezTo>
                  <a:cubicBezTo>
                    <a:pt x="2075" y="268"/>
                    <a:pt x="2089" y="300"/>
                    <a:pt x="2116" y="321"/>
                  </a:cubicBezTo>
                  <a:cubicBezTo>
                    <a:pt x="2094" y="337"/>
                    <a:pt x="2080" y="360"/>
                    <a:pt x="2080" y="380"/>
                  </a:cubicBezTo>
                  <a:cubicBezTo>
                    <a:pt x="2080" y="396"/>
                    <a:pt x="2087" y="409"/>
                    <a:pt x="2100" y="419"/>
                  </a:cubicBezTo>
                  <a:cubicBezTo>
                    <a:pt x="2072" y="436"/>
                    <a:pt x="2058" y="456"/>
                    <a:pt x="2058" y="482"/>
                  </a:cubicBezTo>
                  <a:moveTo>
                    <a:pt x="2203" y="182"/>
                  </a:moveTo>
                  <a:cubicBezTo>
                    <a:pt x="2233" y="182"/>
                    <a:pt x="2240" y="210"/>
                    <a:pt x="2240" y="233"/>
                  </a:cubicBezTo>
                  <a:cubicBezTo>
                    <a:pt x="2240" y="266"/>
                    <a:pt x="2226" y="284"/>
                    <a:pt x="2203" y="284"/>
                  </a:cubicBezTo>
                  <a:cubicBezTo>
                    <a:pt x="2171" y="284"/>
                    <a:pt x="2166" y="252"/>
                    <a:pt x="2166" y="233"/>
                  </a:cubicBezTo>
                  <a:cubicBezTo>
                    <a:pt x="2166" y="214"/>
                    <a:pt x="2171" y="182"/>
                    <a:pt x="2203" y="182"/>
                  </a:cubicBezTo>
                  <a:moveTo>
                    <a:pt x="2155" y="439"/>
                  </a:moveTo>
                  <a:cubicBezTo>
                    <a:pt x="2157" y="440"/>
                    <a:pt x="2159" y="440"/>
                    <a:pt x="2161" y="440"/>
                  </a:cubicBezTo>
                  <a:cubicBezTo>
                    <a:pt x="2208" y="444"/>
                    <a:pt x="2208" y="444"/>
                    <a:pt x="2208" y="444"/>
                  </a:cubicBezTo>
                  <a:cubicBezTo>
                    <a:pt x="2266" y="448"/>
                    <a:pt x="2268" y="456"/>
                    <a:pt x="2268" y="470"/>
                  </a:cubicBezTo>
                  <a:cubicBezTo>
                    <a:pt x="2268" y="488"/>
                    <a:pt x="2244" y="500"/>
                    <a:pt x="2206" y="500"/>
                  </a:cubicBezTo>
                  <a:cubicBezTo>
                    <a:pt x="2152" y="500"/>
                    <a:pt x="2141" y="487"/>
                    <a:pt x="2141" y="467"/>
                  </a:cubicBezTo>
                  <a:cubicBezTo>
                    <a:pt x="2141" y="457"/>
                    <a:pt x="2146" y="447"/>
                    <a:pt x="2155" y="4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 name="Slide Number Placeholder 5"/>
          <p:cNvSpPr>
            <a:spLocks noGrp="1"/>
          </p:cNvSpPr>
          <p:nvPr>
            <p:ph type="sldNum" sz="quarter" idx="4"/>
          </p:nvPr>
        </p:nvSpPr>
        <p:spPr>
          <a:xfrm>
            <a:off x="8337282" y="4512952"/>
            <a:ext cx="286597" cy="138499"/>
          </a:xfrm>
          <a:prstGeom prst="rect">
            <a:avLst/>
          </a:prstGeom>
        </p:spPr>
        <p:txBody>
          <a:bodyPr vert="horz" lIns="0" tIns="0" rIns="0" bIns="0" rtlCol="0" anchor="ctr">
            <a:noAutofit/>
          </a:bodyPr>
          <a:lstStyle>
            <a:lvl1pPr algn="r">
              <a:defRPr sz="1200">
                <a:solidFill>
                  <a:schemeClr val="tx2"/>
                </a:solidFill>
              </a:defRPr>
            </a:lvl1pPr>
          </a:lstStyle>
          <a:p>
            <a:fld id="{2441C0E6-2A71-4EB3-9E92-A3D15D26B6CA}" type="slidenum">
              <a:rPr lang="en-US" smtClean="0"/>
              <a:pPr/>
              <a:t>‹#›</a:t>
            </a:fld>
            <a:endParaRPr lang="en-US" dirty="0"/>
          </a:p>
        </p:txBody>
      </p:sp>
      <p:sp>
        <p:nvSpPr>
          <p:cNvPr id="7" name="Footer Placeholder 6">
            <a:extLst>
              <a:ext uri="{FF2B5EF4-FFF2-40B4-BE49-F238E27FC236}">
                <a16:creationId xmlns:a16="http://schemas.microsoft.com/office/drawing/2014/main" id="{7A160E09-2C6D-4BD1-F8A3-7E27D87E96D2}"/>
              </a:ext>
            </a:extLst>
          </p:cNvPr>
          <p:cNvSpPr>
            <a:spLocks noGrp="1"/>
          </p:cNvSpPr>
          <p:nvPr>
            <p:ph type="ftr" sz="quarter" idx="3"/>
          </p:nvPr>
        </p:nvSpPr>
        <p:spPr>
          <a:xfrm>
            <a:off x="5486400" y="4536400"/>
            <a:ext cx="2705100" cy="138499"/>
          </a:xfrm>
          <a:prstGeom prst="rect">
            <a:avLst/>
          </a:prstGeom>
        </p:spPr>
        <p:txBody>
          <a:bodyPr vert="horz" lIns="0" tIns="0" rIns="0" bIns="0" rtlCol="0" anchor="t" anchorCtr="0"/>
          <a:lstStyle>
            <a:lvl1pPr marL="0" marR="0" indent="0" algn="r" defTabSz="457200" rtl="0" eaLnBrk="1" fontAlgn="auto" latinLnBrk="0" hangingPunct="1">
              <a:lnSpc>
                <a:spcPct val="100000"/>
              </a:lnSpc>
              <a:spcBef>
                <a:spcPts val="0"/>
              </a:spcBef>
              <a:spcAft>
                <a:spcPts val="0"/>
              </a:spcAft>
              <a:buClrTx/>
              <a:buSzTx/>
              <a:buFontTx/>
              <a:buNone/>
              <a:tabLst/>
              <a:defRPr sz="800">
                <a:solidFill>
                  <a:schemeClr val="tx2"/>
                </a:solidFill>
              </a:defRPr>
            </a:lvl1pPr>
          </a:lstStyle>
          <a:p>
            <a:r>
              <a:rPr lang="en-US"/>
              <a:t>Division/Department Name</a:t>
            </a:r>
            <a:endParaRPr lang="en-US" dirty="0"/>
          </a:p>
        </p:txBody>
      </p:sp>
      <p:sp>
        <p:nvSpPr>
          <p:cNvPr id="3" name="Text Placeholder 2"/>
          <p:cNvSpPr>
            <a:spLocks noGrp="1"/>
          </p:cNvSpPr>
          <p:nvPr>
            <p:ph type="body" idx="1"/>
          </p:nvPr>
        </p:nvSpPr>
        <p:spPr>
          <a:xfrm>
            <a:off x="495299" y="1553204"/>
            <a:ext cx="7274033" cy="264718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p:cNvSpPr>
            <a:spLocks noGrp="1"/>
          </p:cNvSpPr>
          <p:nvPr>
            <p:ph type="title"/>
          </p:nvPr>
        </p:nvSpPr>
        <p:spPr>
          <a:xfrm>
            <a:off x="504606" y="414087"/>
            <a:ext cx="7274033" cy="773799"/>
          </a:xfrm>
          <a:prstGeom prst="rect">
            <a:avLst/>
          </a:prstGeom>
        </p:spPr>
        <p:txBody>
          <a:bodyPr vert="horz" lIns="0" tIns="0" rIns="0" bIns="0" rtlCol="0" anchor="t" anchorCtr="0">
            <a:noAutofit/>
          </a:bodyPr>
          <a:lstStyle/>
          <a:p>
            <a:r>
              <a:rPr lang="en-US" dirty="0"/>
              <a:t>Click to edit master title style</a:t>
            </a:r>
          </a:p>
        </p:txBody>
      </p:sp>
    </p:spTree>
    <p:extLst>
      <p:ext uri="{BB962C8B-B14F-4D97-AF65-F5344CB8AC3E}">
        <p14:creationId xmlns:p14="http://schemas.microsoft.com/office/powerpoint/2010/main" val="3642805410"/>
      </p:ext>
    </p:extLst>
  </p:cSld>
  <p:clrMap bg1="lt1" tx1="dk1" bg2="lt2" tx2="dk2" accent1="accent1" accent2="accent2" accent3="accent3" accent4="accent4" accent5="accent5" accent6="accent6" hlink="hlink" folHlink="folHlink"/>
  <p:sldLayoutIdLst>
    <p:sldLayoutId id="2147483661" r:id="rId1"/>
    <p:sldLayoutId id="2147483703" r:id="rId2"/>
    <p:sldLayoutId id="2147483704" r:id="rId3"/>
    <p:sldLayoutId id="2147483663" r:id="rId4"/>
    <p:sldLayoutId id="2147483662" r:id="rId5"/>
    <p:sldLayoutId id="2147483687" r:id="rId6"/>
    <p:sldLayoutId id="2147483681" r:id="rId7"/>
    <p:sldLayoutId id="2147483688" r:id="rId8"/>
    <p:sldLayoutId id="2147483670" r:id="rId9"/>
    <p:sldLayoutId id="2147483689" r:id="rId10"/>
    <p:sldLayoutId id="2147483671" r:id="rId11"/>
    <p:sldLayoutId id="2147483690" r:id="rId12"/>
    <p:sldLayoutId id="2147483686" r:id="rId13"/>
    <p:sldLayoutId id="2147483691" r:id="rId14"/>
    <p:sldLayoutId id="2147483684" r:id="rId15"/>
    <p:sldLayoutId id="2147483692" r:id="rId16"/>
    <p:sldLayoutId id="2147483672" r:id="rId17"/>
    <p:sldLayoutId id="2147483693" r:id="rId18"/>
    <p:sldLayoutId id="2147483673" r:id="rId19"/>
    <p:sldLayoutId id="2147483674" r:id="rId20"/>
    <p:sldLayoutId id="2147483694" r:id="rId21"/>
    <p:sldLayoutId id="2147483685" r:id="rId22"/>
    <p:sldLayoutId id="2147483695" r:id="rId23"/>
    <p:sldLayoutId id="2147483675" r:id="rId24"/>
    <p:sldLayoutId id="2147483696" r:id="rId25"/>
    <p:sldLayoutId id="2147483668" r:id="rId26"/>
    <p:sldLayoutId id="2147483697" r:id="rId27"/>
    <p:sldLayoutId id="2147483676" r:id="rId28"/>
    <p:sldLayoutId id="2147483666" r:id="rId29"/>
    <p:sldLayoutId id="2147483698" r:id="rId30"/>
    <p:sldLayoutId id="2147483667" r:id="rId31"/>
    <p:sldLayoutId id="2147483699" r:id="rId32"/>
    <p:sldLayoutId id="2147483678" r:id="rId33"/>
    <p:sldLayoutId id="2147483705" r:id="rId34"/>
    <p:sldLayoutId id="2147483702" r:id="rId35"/>
  </p:sldLayoutIdLst>
  <p:hf hdr="0" dt="0"/>
  <p:txStyles>
    <p:titleStyle>
      <a:lvl1pPr algn="l" defTabSz="685800" rtl="0" eaLnBrk="1" latinLnBrk="0" hangingPunct="1">
        <a:lnSpc>
          <a:spcPct val="100000"/>
        </a:lnSpc>
        <a:spcBef>
          <a:spcPct val="0"/>
        </a:spcBef>
        <a:buNone/>
        <a:defRPr sz="2400" b="0" kern="1200">
          <a:solidFill>
            <a:schemeClr val="tx2"/>
          </a:solidFill>
          <a:latin typeface="+mj-lt"/>
          <a:ea typeface="+mj-ea"/>
          <a:cs typeface="+mj-cs"/>
        </a:defRPr>
      </a:lvl1pPr>
    </p:titleStyle>
    <p:bodyStyle>
      <a:lvl1pPr marL="0" indent="0" algn="l" defTabSz="685800" rtl="0" eaLnBrk="1" latinLnBrk="0" hangingPunct="1">
        <a:lnSpc>
          <a:spcPct val="112000"/>
        </a:lnSpc>
        <a:spcBef>
          <a:spcPts val="0"/>
        </a:spcBef>
        <a:spcAft>
          <a:spcPts val="0"/>
        </a:spcAft>
        <a:buFont typeface="Arial" panose="020B0604020202020204" pitchFamily="34" charset="0"/>
        <a:buNone/>
        <a:defRPr sz="1600" b="1" kern="1200">
          <a:solidFill>
            <a:schemeClr val="accent1"/>
          </a:solidFill>
          <a:latin typeface="+mn-lt"/>
          <a:ea typeface="+mn-ea"/>
          <a:cs typeface="+mn-cs"/>
        </a:defRPr>
      </a:lvl1pPr>
      <a:lvl2pPr marL="0" indent="0" algn="l" defTabSz="685800" rtl="0" eaLnBrk="1" latinLnBrk="0" hangingPunct="1">
        <a:lnSpc>
          <a:spcPct val="112000"/>
        </a:lnSpc>
        <a:spcBef>
          <a:spcPts val="0"/>
        </a:spcBef>
        <a:buFont typeface="Arial" panose="020B0604020202020204" pitchFamily="34" charset="0"/>
        <a:buNone/>
        <a:defRPr sz="1600" kern="1200">
          <a:solidFill>
            <a:schemeClr val="tx1"/>
          </a:solidFill>
          <a:latin typeface="+mn-lt"/>
          <a:ea typeface="+mn-ea"/>
          <a:cs typeface="+mn-cs"/>
        </a:defRPr>
      </a:lvl2pPr>
      <a:lvl3pPr marL="137160" indent="-137160" algn="l" defTabSz="685800" rtl="0" eaLnBrk="1" latinLnBrk="0" hangingPunct="1">
        <a:lnSpc>
          <a:spcPct val="112000"/>
        </a:lnSpc>
        <a:spcBef>
          <a:spcPts val="0"/>
        </a:spcBef>
        <a:buFont typeface="Arial" panose="020B0604020202020204" pitchFamily="34" charset="0"/>
        <a:buChar char="•"/>
        <a:defRPr sz="1600" kern="1200">
          <a:solidFill>
            <a:schemeClr val="tx1"/>
          </a:solidFill>
          <a:latin typeface="+mn-lt"/>
          <a:ea typeface="+mn-ea"/>
          <a:cs typeface="+mn-cs"/>
        </a:defRPr>
      </a:lvl3pPr>
      <a:lvl4pPr marL="320040" indent="-137160" algn="l" defTabSz="685800" rtl="0" eaLnBrk="1" latinLnBrk="0" hangingPunct="1">
        <a:lnSpc>
          <a:spcPct val="112000"/>
        </a:lnSpc>
        <a:spcBef>
          <a:spcPts val="0"/>
        </a:spcBef>
        <a:buFont typeface="Arial" panose="020B0604020202020204" pitchFamily="34" charset="0"/>
        <a:buChar char="–"/>
        <a:defRPr sz="1600" kern="1200">
          <a:solidFill>
            <a:schemeClr val="tx1"/>
          </a:solidFill>
          <a:latin typeface="+mn-lt"/>
          <a:ea typeface="+mn-ea"/>
          <a:cs typeface="+mn-cs"/>
        </a:defRPr>
      </a:lvl4pPr>
      <a:lvl5pPr marL="502920" indent="-137160" algn="l" defTabSz="685800" rtl="0" eaLnBrk="1" latinLnBrk="0" hangingPunct="1">
        <a:lnSpc>
          <a:spcPct val="112000"/>
        </a:lnSpc>
        <a:spcBef>
          <a:spcPts val="0"/>
        </a:spcBef>
        <a:buFont typeface="Arial" panose="020B0604020202020204" pitchFamily="34" charset="0"/>
        <a:buChar char="•"/>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52" userDrawn="1">
          <p15:clr>
            <a:srgbClr val="F26B43"/>
          </p15:clr>
        </p15:guide>
        <p15:guide id="2" pos="2880" userDrawn="1">
          <p15:clr>
            <a:srgbClr val="F26B43"/>
          </p15:clr>
        </p15:guide>
        <p15:guide id="7" pos="5424" userDrawn="1">
          <p15:clr>
            <a:srgbClr val="F26B43"/>
          </p15:clr>
        </p15:guide>
        <p15:guide id="8" orient="horz" pos="300" userDrawn="1">
          <p15:clr>
            <a:srgbClr val="F26B43"/>
          </p15:clr>
        </p15:guide>
        <p15:guide id="9" orient="horz" pos="978" userDrawn="1">
          <p15:clr>
            <a:srgbClr val="F26B43"/>
          </p15:clr>
        </p15:guide>
        <p15:guide id="10" pos="312" userDrawn="1">
          <p15:clr>
            <a:srgbClr val="F26B43"/>
          </p15:clr>
        </p15:guide>
        <p15:guide id="11" orient="horz" pos="2916" userDrawn="1">
          <p15:clr>
            <a:srgbClr val="F26B43"/>
          </p15:clr>
        </p15:guide>
        <p15:guide id="12" pos="5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Pipeline architecture and current database state</a:t>
            </a:r>
          </a:p>
          <a:p>
            <a:r>
              <a:t>Lucy Sha  |  08/20/2026</a:t>
            </a:r>
          </a:p>
        </p:txBody>
      </p:sp>
      <p:sp>
        <p:nvSpPr>
          <p:cNvPr id="3" name="Title 2"/>
          <p:cNvSpPr>
            <a:spLocks noGrp="1"/>
          </p:cNvSpPr>
          <p:nvPr>
            <p:ph type="ctrTitle"/>
          </p:nvPr>
        </p:nvSpPr>
        <p:spPr/>
        <p:txBody>
          <a:bodyPr/>
          <a:lstStyle/>
          <a:p>
            <a:r>
              <a:t>A Normalized Gut Microbiome–Disease Evidence Database</a:t>
            </a:r>
          </a:p>
        </p:txBody>
      </p:sp>
      <p:sp>
        <p:nvSpPr>
          <p:cNvPr id="4" name="TextBox 3"/>
          <p:cNvSpPr txBox="1"/>
          <p:nvPr/>
        </p:nvSpPr>
        <p:spPr>
          <a:xfrm>
            <a:off x="493776" y="4599432"/>
            <a:ext cx="5916168" cy="228600"/>
          </a:xfrm>
          <a:prstGeom prst="rect">
            <a:avLst/>
          </a:prstGeom>
          <a:noFill/>
        </p:spPr>
        <p:txBody>
          <a:bodyPr wrap="square" lIns="0" rIns="0" tIns="0" bIns="0" anchor="t">
            <a:spAutoFit/>
          </a:bodyPr>
          <a:lstStyle/>
          <a:p>
            <a:pPr algn="l">
              <a:lnSpc>
                <a:spcPct val="100000"/>
              </a:lnSpc>
            </a:pPr>
            <a:r>
              <a:rPr sz="1200" b="1" i="0">
                <a:solidFill>
                  <a:srgbClr val="FFFFFF"/>
                </a:solidFill>
                <a:latin typeface="Arial"/>
              </a:rPr>
              <a:t>Computational Medicine Lab</a:t>
            </a:r>
          </a:p>
        </p:txBody>
      </p:sp>
      <p:sp>
        <p:nvSpPr>
          <p:cNvPr id="5" name="TextBox 4"/>
          <p:cNvSpPr txBox="1"/>
          <p:nvPr/>
        </p:nvSpPr>
        <p:spPr>
          <a:xfrm>
            <a:off x="6711696" y="1572768"/>
            <a:ext cx="1901952" cy="274320"/>
          </a:xfrm>
          <a:prstGeom prst="rect">
            <a:avLst/>
          </a:prstGeom>
          <a:noFill/>
        </p:spPr>
        <p:txBody>
          <a:bodyPr wrap="square" lIns="0" rIns="0" tIns="0" bIns="0" anchor="t">
            <a:spAutoFit/>
          </a:bodyPr>
          <a:lstStyle/>
          <a:p>
            <a:pPr algn="l">
              <a:lnSpc>
                <a:spcPct val="100000"/>
              </a:lnSpc>
            </a:pPr>
            <a:r>
              <a:rPr sz="1700" b="1" i="0">
                <a:solidFill>
                  <a:srgbClr val="FF9300"/>
                </a:solidFill>
                <a:latin typeface="Arial"/>
              </a:rPr>
              <a:t>6,019</a:t>
            </a:r>
          </a:p>
        </p:txBody>
      </p:sp>
      <p:sp>
        <p:nvSpPr>
          <p:cNvPr id="6" name="TextBox 5"/>
          <p:cNvSpPr txBox="1"/>
          <p:nvPr/>
        </p:nvSpPr>
        <p:spPr>
          <a:xfrm>
            <a:off x="6711696" y="1847088"/>
            <a:ext cx="1901952" cy="182880"/>
          </a:xfrm>
          <a:prstGeom prst="rect">
            <a:avLst/>
          </a:prstGeom>
          <a:noFill/>
        </p:spPr>
        <p:txBody>
          <a:bodyPr wrap="square" lIns="0" rIns="0" tIns="0" bIns="0" anchor="t">
            <a:spAutoFit/>
          </a:bodyPr>
          <a:lstStyle/>
          <a:p>
            <a:pPr algn="l">
              <a:lnSpc>
                <a:spcPct val="100000"/>
              </a:lnSpc>
            </a:pPr>
            <a:r>
              <a:rPr sz="800" b="1" i="0">
                <a:solidFill>
                  <a:srgbClr val="C9A6E8"/>
                </a:solidFill>
                <a:latin typeface="Arial"/>
              </a:rPr>
              <a:t>TAXA</a:t>
            </a:r>
          </a:p>
        </p:txBody>
      </p:sp>
      <p:sp>
        <p:nvSpPr>
          <p:cNvPr id="7" name="TextBox 6"/>
          <p:cNvSpPr txBox="1"/>
          <p:nvPr/>
        </p:nvSpPr>
        <p:spPr>
          <a:xfrm>
            <a:off x="6711696" y="2139696"/>
            <a:ext cx="1901952" cy="274320"/>
          </a:xfrm>
          <a:prstGeom prst="rect">
            <a:avLst/>
          </a:prstGeom>
          <a:noFill/>
        </p:spPr>
        <p:txBody>
          <a:bodyPr wrap="square" lIns="0" rIns="0" tIns="0" bIns="0" anchor="t">
            <a:spAutoFit/>
          </a:bodyPr>
          <a:lstStyle/>
          <a:p>
            <a:pPr algn="l">
              <a:lnSpc>
                <a:spcPct val="100000"/>
              </a:lnSpc>
            </a:pPr>
            <a:r>
              <a:rPr sz="1700" b="1" i="0">
                <a:solidFill>
                  <a:srgbClr val="FF9300"/>
                </a:solidFill>
                <a:latin typeface="Arial"/>
              </a:rPr>
              <a:t>159</a:t>
            </a:r>
          </a:p>
        </p:txBody>
      </p:sp>
      <p:sp>
        <p:nvSpPr>
          <p:cNvPr id="8" name="TextBox 7"/>
          <p:cNvSpPr txBox="1"/>
          <p:nvPr/>
        </p:nvSpPr>
        <p:spPr>
          <a:xfrm>
            <a:off x="6711696" y="2414015"/>
            <a:ext cx="1901952" cy="182880"/>
          </a:xfrm>
          <a:prstGeom prst="rect">
            <a:avLst/>
          </a:prstGeom>
          <a:noFill/>
        </p:spPr>
        <p:txBody>
          <a:bodyPr wrap="square" lIns="0" rIns="0" tIns="0" bIns="0" anchor="t">
            <a:spAutoFit/>
          </a:bodyPr>
          <a:lstStyle/>
          <a:p>
            <a:pPr algn="l">
              <a:lnSpc>
                <a:spcPct val="100000"/>
              </a:lnSpc>
            </a:pPr>
            <a:r>
              <a:rPr sz="800" b="1" i="0">
                <a:solidFill>
                  <a:srgbClr val="C9A6E8"/>
                </a:solidFill>
                <a:latin typeface="Arial"/>
              </a:rPr>
              <a:t>DISEASES</a:t>
            </a:r>
          </a:p>
        </p:txBody>
      </p:sp>
      <p:sp>
        <p:nvSpPr>
          <p:cNvPr id="9" name="TextBox 8"/>
          <p:cNvSpPr txBox="1"/>
          <p:nvPr/>
        </p:nvSpPr>
        <p:spPr>
          <a:xfrm>
            <a:off x="6711696" y="2706624"/>
            <a:ext cx="1901952" cy="274320"/>
          </a:xfrm>
          <a:prstGeom prst="rect">
            <a:avLst/>
          </a:prstGeom>
          <a:noFill/>
        </p:spPr>
        <p:txBody>
          <a:bodyPr wrap="square" lIns="0" rIns="0" tIns="0" bIns="0" anchor="t">
            <a:spAutoFit/>
          </a:bodyPr>
          <a:lstStyle/>
          <a:p>
            <a:pPr algn="l">
              <a:lnSpc>
                <a:spcPct val="100000"/>
              </a:lnSpc>
            </a:pPr>
            <a:r>
              <a:rPr sz="1700" b="1" i="0">
                <a:solidFill>
                  <a:srgbClr val="FF9300"/>
                </a:solidFill>
                <a:latin typeface="Arial"/>
              </a:rPr>
              <a:t>314</a:t>
            </a:r>
          </a:p>
        </p:txBody>
      </p:sp>
      <p:sp>
        <p:nvSpPr>
          <p:cNvPr id="10" name="TextBox 9"/>
          <p:cNvSpPr txBox="1"/>
          <p:nvPr/>
        </p:nvSpPr>
        <p:spPr>
          <a:xfrm>
            <a:off x="6711696" y="2980944"/>
            <a:ext cx="1901952" cy="182880"/>
          </a:xfrm>
          <a:prstGeom prst="rect">
            <a:avLst/>
          </a:prstGeom>
          <a:noFill/>
        </p:spPr>
        <p:txBody>
          <a:bodyPr wrap="square" lIns="0" rIns="0" tIns="0" bIns="0" anchor="t">
            <a:spAutoFit/>
          </a:bodyPr>
          <a:lstStyle/>
          <a:p>
            <a:pPr algn="l">
              <a:lnSpc>
                <a:spcPct val="100000"/>
              </a:lnSpc>
            </a:pPr>
            <a:r>
              <a:rPr sz="800" b="1" i="0">
                <a:solidFill>
                  <a:srgbClr val="C9A6E8"/>
                </a:solidFill>
                <a:latin typeface="Arial"/>
              </a:rPr>
              <a:t>STUDIES</a:t>
            </a:r>
          </a:p>
        </p:txBody>
      </p:sp>
      <p:sp>
        <p:nvSpPr>
          <p:cNvPr id="11" name="TextBox 10"/>
          <p:cNvSpPr txBox="1"/>
          <p:nvPr/>
        </p:nvSpPr>
        <p:spPr>
          <a:xfrm>
            <a:off x="6711696" y="3273552"/>
            <a:ext cx="1901952" cy="274320"/>
          </a:xfrm>
          <a:prstGeom prst="rect">
            <a:avLst/>
          </a:prstGeom>
          <a:noFill/>
        </p:spPr>
        <p:txBody>
          <a:bodyPr wrap="square" lIns="0" rIns="0" tIns="0" bIns="0" anchor="t">
            <a:spAutoFit/>
          </a:bodyPr>
          <a:lstStyle/>
          <a:p>
            <a:pPr algn="l">
              <a:lnSpc>
                <a:spcPct val="100000"/>
              </a:lnSpc>
            </a:pPr>
            <a:r>
              <a:rPr sz="1700" b="1" i="0">
                <a:solidFill>
                  <a:srgbClr val="FF9300"/>
                </a:solidFill>
                <a:latin typeface="Arial"/>
              </a:rPr>
              <a:t>34,229</a:t>
            </a:r>
          </a:p>
        </p:txBody>
      </p:sp>
      <p:sp>
        <p:nvSpPr>
          <p:cNvPr id="12" name="TextBox 11"/>
          <p:cNvSpPr txBox="1"/>
          <p:nvPr/>
        </p:nvSpPr>
        <p:spPr>
          <a:xfrm>
            <a:off x="6711696" y="3547872"/>
            <a:ext cx="1901952" cy="182880"/>
          </a:xfrm>
          <a:prstGeom prst="rect">
            <a:avLst/>
          </a:prstGeom>
          <a:noFill/>
        </p:spPr>
        <p:txBody>
          <a:bodyPr wrap="square" lIns="0" rIns="0" tIns="0" bIns="0" anchor="t">
            <a:spAutoFit/>
          </a:bodyPr>
          <a:lstStyle/>
          <a:p>
            <a:pPr algn="l">
              <a:lnSpc>
                <a:spcPct val="100000"/>
              </a:lnSpc>
            </a:pPr>
            <a:r>
              <a:rPr sz="800" b="1" i="0">
                <a:solidFill>
                  <a:srgbClr val="C9A6E8"/>
                </a:solidFill>
                <a:latin typeface="Arial"/>
              </a:rPr>
              <a:t>SAMPLES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Why build a database rather than a spreadsheet</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2</a:t>
            </a:r>
          </a:p>
        </p:txBody>
      </p:sp>
      <p:sp>
        <p:nvSpPr>
          <p:cNvPr id="5" name="Rounded Rectangle 4"/>
          <p:cNvSpPr/>
          <p:nvPr/>
        </p:nvSpPr>
        <p:spPr>
          <a:xfrm>
            <a:off x="493776" y="1225296"/>
            <a:ext cx="3931920" cy="2468880"/>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426464"/>
            <a:ext cx="3419856" cy="201168"/>
          </a:xfrm>
          <a:prstGeom prst="rect">
            <a:avLst/>
          </a:prstGeom>
          <a:noFill/>
        </p:spPr>
        <p:txBody>
          <a:bodyPr wrap="square" lIns="0" rIns="0" tIns="0" bIns="0" anchor="t">
            <a:spAutoFit/>
          </a:bodyPr>
          <a:lstStyle/>
          <a:p>
            <a:pPr algn="l">
              <a:lnSpc>
                <a:spcPct val="100000"/>
              </a:lnSpc>
            </a:pPr>
            <a:r>
              <a:rPr sz="950" b="1" i="0">
                <a:solidFill>
                  <a:srgbClr val="8000FF"/>
                </a:solidFill>
                <a:latin typeface="Arial"/>
              </a:rPr>
              <a:t>THE STARTING POINT</a:t>
            </a:r>
          </a:p>
        </p:txBody>
      </p:sp>
      <p:sp>
        <p:nvSpPr>
          <p:cNvPr id="7" name="TextBox 6"/>
          <p:cNvSpPr txBox="1"/>
          <p:nvPr/>
        </p:nvSpPr>
        <p:spPr>
          <a:xfrm>
            <a:off x="749808" y="1737360"/>
            <a:ext cx="3419856" cy="1783080"/>
          </a:xfrm>
          <a:prstGeom prst="rect">
            <a:avLst/>
          </a:prstGeom>
          <a:noFill/>
        </p:spPr>
        <p:txBody>
          <a:bodyPr wrap="square" lIns="0" rIns="0" tIns="0" bIns="0">
            <a:spAutoFit/>
          </a:bodyPr>
          <a:lstStyle/>
          <a:p>
            <a:pPr>
              <a:lnSpc>
                <a:spcPct val="120000"/>
              </a:lnSpc>
              <a:spcAft>
                <a:spcPts val="800"/>
              </a:spcAft>
            </a:pPr>
            <a:r>
              <a:rPr sz="1100">
                <a:solidFill>
                  <a:srgbClr val="1A1A1A"/>
                </a:solidFill>
                <a:latin typeface="Arial"/>
              </a:rPr>
              <a:t>Marker lists lived in per-project exports and per-paper tables, each with its own column names.</a:t>
            </a:r>
          </a:p>
          <a:p>
            <a:pPr>
              <a:lnSpc>
                <a:spcPct val="120000"/>
              </a:lnSpc>
              <a:spcAft>
                <a:spcPts val="800"/>
              </a:spcAft>
            </a:pPr>
            <a:r>
              <a:rPr sz="1100">
                <a:solidFill>
                  <a:srgbClr val="1A1A1A"/>
                </a:solidFill>
                <a:latin typeface="Arial"/>
              </a:rPr>
              <a:t>An LDA score carried no record of which comparison produced it, so its sign was ambiguous.</a:t>
            </a:r>
          </a:p>
          <a:p>
            <a:pPr>
              <a:lnSpc>
                <a:spcPct val="120000"/>
              </a:lnSpc>
              <a:spcAft>
                <a:spcPts val="800"/>
              </a:spcAft>
            </a:pPr>
            <a:r>
              <a:rPr sz="1100">
                <a:solidFill>
                  <a:srgbClr val="1A1A1A"/>
                </a:solidFill>
                <a:latin typeface="Arial"/>
              </a:rPr>
              <a:t>Cross-disease questions required manual reconciliation and could not be reproduced.</a:t>
            </a:r>
          </a:p>
        </p:txBody>
      </p:sp>
      <p:sp>
        <p:nvSpPr>
          <p:cNvPr id="8" name="Rounded Rectangle 7"/>
          <p:cNvSpPr/>
          <p:nvPr/>
        </p:nvSpPr>
        <p:spPr>
          <a:xfrm>
            <a:off x="4681728" y="1225296"/>
            <a:ext cx="3931920" cy="2468880"/>
          </a:xfrm>
          <a:prstGeom prst="roundRect">
            <a:avLst>
              <a:gd name="adj" fmla="val 6000"/>
            </a:avLst>
          </a:prstGeom>
          <a:solidFill>
            <a:srgbClr val="FFFFFF"/>
          </a:solidFill>
          <a:ln w="9525">
            <a:solidFill>
              <a:srgbClr val="580F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937760" y="1426464"/>
            <a:ext cx="3419856" cy="201168"/>
          </a:xfrm>
          <a:prstGeom prst="rect">
            <a:avLst/>
          </a:prstGeom>
          <a:noFill/>
        </p:spPr>
        <p:txBody>
          <a:bodyPr wrap="square" lIns="0" rIns="0" tIns="0" bIns="0" anchor="t">
            <a:spAutoFit/>
          </a:bodyPr>
          <a:lstStyle/>
          <a:p>
            <a:pPr algn="l">
              <a:lnSpc>
                <a:spcPct val="100000"/>
              </a:lnSpc>
            </a:pPr>
            <a:r>
              <a:rPr sz="950" b="1" i="0">
                <a:solidFill>
                  <a:srgbClr val="580F8B"/>
                </a:solidFill>
                <a:latin typeface="Arial"/>
              </a:rPr>
              <a:t>WHAT THE PIPELINE DELIVERS</a:t>
            </a:r>
          </a:p>
        </p:txBody>
      </p:sp>
      <p:sp>
        <p:nvSpPr>
          <p:cNvPr id="10" name="TextBox 9"/>
          <p:cNvSpPr txBox="1"/>
          <p:nvPr/>
        </p:nvSpPr>
        <p:spPr>
          <a:xfrm>
            <a:off x="4937760" y="1737360"/>
            <a:ext cx="3419856" cy="1783080"/>
          </a:xfrm>
          <a:prstGeom prst="rect">
            <a:avLst/>
          </a:prstGeom>
          <a:noFill/>
        </p:spPr>
        <p:txBody>
          <a:bodyPr wrap="square" lIns="0" rIns="0" tIns="0" bIns="0">
            <a:spAutoFit/>
          </a:bodyPr>
          <a:lstStyle/>
          <a:p>
            <a:pPr>
              <a:lnSpc>
                <a:spcPct val="120000"/>
              </a:lnSpc>
              <a:spcAft>
                <a:spcPts val="800"/>
              </a:spcAft>
            </a:pPr>
            <a:r>
              <a:rPr sz="1100">
                <a:solidFill>
                  <a:srgbClr val="1A1A1A"/>
                </a:solidFill>
                <a:latin typeface="Arial"/>
              </a:rPr>
              <a:t>One normalized MySQL schema in which every association keeps its study, comparison and direction.</a:t>
            </a:r>
          </a:p>
          <a:p>
            <a:pPr>
              <a:lnSpc>
                <a:spcPct val="120000"/>
              </a:lnSpc>
              <a:spcAft>
                <a:spcPts val="800"/>
              </a:spcAft>
            </a:pPr>
            <a:r>
              <a:rPr sz="1100">
                <a:solidFill>
                  <a:srgbClr val="1A1A1A"/>
                </a:solidFill>
                <a:latin typeface="Arial"/>
              </a:rPr>
              <a:t>Loaders that are idempotent and transactional, so any source can be re-synced safely.</a:t>
            </a:r>
          </a:p>
          <a:p>
            <a:pPr>
              <a:lnSpc>
                <a:spcPct val="120000"/>
              </a:lnSpc>
              <a:spcAft>
                <a:spcPts val="800"/>
              </a:spcAft>
            </a:pPr>
            <a:r>
              <a:rPr sz="1100">
                <a:solidFill>
                  <a:srgbClr val="1A1A1A"/>
                </a:solidFill>
                <a:latin typeface="Arial"/>
              </a:rPr>
              <a:t>Analytical views that expose replication depth and specificity, not just row counts.</a:t>
            </a:r>
          </a:p>
        </p:txBody>
      </p:sp>
      <p:sp>
        <p:nvSpPr>
          <p:cNvPr id="11" name="Oval 10"/>
          <p:cNvSpPr/>
          <p:nvPr/>
        </p:nvSpPr>
        <p:spPr>
          <a:xfrm>
            <a:off x="493776" y="3931920"/>
            <a:ext cx="137160" cy="13716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12" name="TextBox 11"/>
          <p:cNvSpPr txBox="1"/>
          <p:nvPr/>
        </p:nvSpPr>
        <p:spPr>
          <a:xfrm>
            <a:off x="768096" y="3858768"/>
            <a:ext cx="7571232" cy="603504"/>
          </a:xfrm>
          <a:prstGeom prst="rect">
            <a:avLst/>
          </a:prstGeom>
          <a:noFill/>
        </p:spPr>
        <p:txBody>
          <a:bodyPr wrap="square" lIns="0" rIns="0" tIns="0" bIns="0" anchor="t">
            <a:spAutoFit/>
          </a:bodyPr>
          <a:lstStyle/>
          <a:p>
            <a:pPr algn="l">
              <a:lnSpc>
                <a:spcPct val="120000"/>
              </a:lnSpc>
            </a:pPr>
            <a:r>
              <a:rPr sz="1100" b="0" i="1">
                <a:solidFill>
                  <a:srgbClr val="1A1A1A"/>
                </a:solidFill>
                <a:latin typeface="Arial"/>
              </a:rPr>
              <a:t>The unit of storage is evidence in context — a taxon, a disease, and the specific comparison that linked them — rather than a bare taxon–disease pair.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Four integrated sources, each with a distinct role</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3</a:t>
            </a:r>
          </a:p>
        </p:txBody>
      </p:sp>
      <p:sp>
        <p:nvSpPr>
          <p:cNvPr id="5" name="Rounded Rectangle 4"/>
          <p:cNvSpPr/>
          <p:nvPr/>
        </p:nvSpPr>
        <p:spPr>
          <a:xfrm>
            <a:off x="493776" y="1225296"/>
            <a:ext cx="3931920" cy="1170432"/>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31520" y="1444752"/>
            <a:ext cx="256032" cy="256032"/>
          </a:xfrm>
          <a:prstGeom prst="ellipse">
            <a:avLst/>
          </a:prstGeom>
          <a:solidFill>
            <a:srgbClr val="580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7" name="TextBox 6"/>
          <p:cNvSpPr txBox="1"/>
          <p:nvPr/>
        </p:nvSpPr>
        <p:spPr>
          <a:xfrm>
            <a:off x="1115568" y="1444752"/>
            <a:ext cx="3108960" cy="201168"/>
          </a:xfrm>
          <a:prstGeom prst="rect">
            <a:avLst/>
          </a:prstGeom>
          <a:noFill/>
        </p:spPr>
        <p:txBody>
          <a:bodyPr wrap="square" lIns="0" rIns="0" tIns="0" bIns="0" anchor="t">
            <a:spAutoFit/>
          </a:bodyPr>
          <a:lstStyle/>
          <a:p>
            <a:pPr algn="l">
              <a:lnSpc>
                <a:spcPct val="100000"/>
              </a:lnSpc>
            </a:pPr>
            <a:r>
              <a:rPr sz="1200" b="1" i="0">
                <a:solidFill>
                  <a:srgbClr val="1A1A1A"/>
                </a:solidFill>
                <a:latin typeface="Arial"/>
              </a:rPr>
              <a:t>Association evidence</a:t>
            </a:r>
          </a:p>
        </p:txBody>
      </p:sp>
      <p:sp>
        <p:nvSpPr>
          <p:cNvPr id="8" name="TextBox 7"/>
          <p:cNvSpPr txBox="1"/>
          <p:nvPr/>
        </p:nvSpPr>
        <p:spPr>
          <a:xfrm>
            <a:off x="1115568" y="1682496"/>
            <a:ext cx="3108960" cy="365760"/>
          </a:xfrm>
          <a:prstGeom prst="rect">
            <a:avLst/>
          </a:prstGeom>
          <a:noFill/>
        </p:spPr>
        <p:txBody>
          <a:bodyPr wrap="square" lIns="0" rIns="0" tIns="0" bIns="0" anchor="t">
            <a:spAutoFit/>
          </a:bodyPr>
          <a:lstStyle/>
          <a:p>
            <a:pPr algn="l">
              <a:lnSpc>
                <a:spcPct val="115000"/>
              </a:lnSpc>
            </a:pPr>
            <a:r>
              <a:rPr sz="1000" b="1" i="0">
                <a:solidFill>
                  <a:srgbClr val="580F8B"/>
                </a:solidFill>
                <a:latin typeface="Arial"/>
              </a:rPr>
              <a:t>GMrepo · 273 curated studies</a:t>
            </a:r>
          </a:p>
          <a:p>
            <a:pPr algn="l">
              <a:lnSpc>
                <a:spcPct val="115000"/>
              </a:lnSpc>
            </a:pPr>
            <a:r>
              <a:rPr sz="1000" b="1" i="0">
                <a:solidFill>
                  <a:srgbClr val="580F8B"/>
                </a:solidFill>
                <a:latin typeface="Arial"/>
              </a:rPr>
              <a:t>PubMed · 40 hand-curated studies</a:t>
            </a:r>
          </a:p>
        </p:txBody>
      </p:sp>
      <p:sp>
        <p:nvSpPr>
          <p:cNvPr id="9" name="TextBox 8"/>
          <p:cNvSpPr txBox="1"/>
          <p:nvPr/>
        </p:nvSpPr>
        <p:spPr>
          <a:xfrm>
            <a:off x="731520" y="2121408"/>
            <a:ext cx="3456432" cy="201168"/>
          </a:xfrm>
          <a:prstGeom prst="rect">
            <a:avLst/>
          </a:prstGeom>
          <a:noFill/>
        </p:spPr>
        <p:txBody>
          <a:bodyPr wrap="square" lIns="0" rIns="0" tIns="0" bIns="0" anchor="t">
            <a:spAutoFit/>
          </a:bodyPr>
          <a:lstStyle/>
          <a:p>
            <a:pPr algn="l">
              <a:lnSpc>
                <a:spcPct val="100000"/>
              </a:lnSpc>
            </a:pPr>
            <a:r>
              <a:rPr sz="1000" b="0" i="0">
                <a:solidFill>
                  <a:srgbClr val="5A5A5A"/>
                </a:solidFill>
                <a:latin typeface="Arial"/>
              </a:rPr>
              <a:t>LDA-scored differential taxa from case–control tests.</a:t>
            </a:r>
          </a:p>
        </p:txBody>
      </p:sp>
      <p:sp>
        <p:nvSpPr>
          <p:cNvPr id="10" name="Rounded Rectangle 9"/>
          <p:cNvSpPr/>
          <p:nvPr/>
        </p:nvSpPr>
        <p:spPr>
          <a:xfrm>
            <a:off x="4681728" y="1225296"/>
            <a:ext cx="3931920" cy="1170432"/>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919472" y="1444752"/>
            <a:ext cx="256032" cy="256032"/>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12" name="TextBox 11"/>
          <p:cNvSpPr txBox="1"/>
          <p:nvPr/>
        </p:nvSpPr>
        <p:spPr>
          <a:xfrm>
            <a:off x="5303520" y="1444752"/>
            <a:ext cx="3108960" cy="201168"/>
          </a:xfrm>
          <a:prstGeom prst="rect">
            <a:avLst/>
          </a:prstGeom>
          <a:noFill/>
        </p:spPr>
        <p:txBody>
          <a:bodyPr wrap="square" lIns="0" rIns="0" tIns="0" bIns="0" anchor="t">
            <a:spAutoFit/>
          </a:bodyPr>
          <a:lstStyle/>
          <a:p>
            <a:pPr algn="l">
              <a:lnSpc>
                <a:spcPct val="100000"/>
              </a:lnSpc>
            </a:pPr>
            <a:r>
              <a:rPr sz="1200" b="1" i="0">
                <a:solidFill>
                  <a:srgbClr val="1A1A1A"/>
                </a:solidFill>
                <a:latin typeface="Arial"/>
              </a:rPr>
              <a:t>Taxon phenotype</a:t>
            </a:r>
          </a:p>
        </p:txBody>
      </p:sp>
      <p:sp>
        <p:nvSpPr>
          <p:cNvPr id="13" name="TextBox 12"/>
          <p:cNvSpPr txBox="1"/>
          <p:nvPr/>
        </p:nvSpPr>
        <p:spPr>
          <a:xfrm>
            <a:off x="5303520" y="1682496"/>
            <a:ext cx="3108960" cy="365760"/>
          </a:xfrm>
          <a:prstGeom prst="rect">
            <a:avLst/>
          </a:prstGeom>
          <a:noFill/>
        </p:spPr>
        <p:txBody>
          <a:bodyPr wrap="square" lIns="0" rIns="0" tIns="0" bIns="0" anchor="t">
            <a:spAutoFit/>
          </a:bodyPr>
          <a:lstStyle/>
          <a:p>
            <a:pPr algn="l">
              <a:lnSpc>
                <a:spcPct val="115000"/>
              </a:lnSpc>
            </a:pPr>
            <a:r>
              <a:rPr sz="1000" b="1" i="0">
                <a:solidFill>
                  <a:srgbClr val="580F8B"/>
                </a:solidFill>
                <a:latin typeface="Arial"/>
              </a:rPr>
              <a:t>MiMeDB · 2,805 strain records</a:t>
            </a:r>
          </a:p>
        </p:txBody>
      </p:sp>
      <p:sp>
        <p:nvSpPr>
          <p:cNvPr id="14" name="TextBox 13"/>
          <p:cNvSpPr txBox="1"/>
          <p:nvPr/>
        </p:nvSpPr>
        <p:spPr>
          <a:xfrm>
            <a:off x="4919472" y="2121408"/>
            <a:ext cx="3456432" cy="201168"/>
          </a:xfrm>
          <a:prstGeom prst="rect">
            <a:avLst/>
          </a:prstGeom>
          <a:noFill/>
        </p:spPr>
        <p:txBody>
          <a:bodyPr wrap="square" lIns="0" rIns="0" tIns="0" bIns="0" anchor="t">
            <a:spAutoFit/>
          </a:bodyPr>
          <a:lstStyle/>
          <a:p>
            <a:pPr algn="l">
              <a:lnSpc>
                <a:spcPct val="100000"/>
              </a:lnSpc>
            </a:pPr>
            <a:r>
              <a:rPr sz="1000" b="0" i="0">
                <a:solidFill>
                  <a:srgbClr val="5A5A5A"/>
                </a:solidFill>
                <a:latin typeface="Arial"/>
              </a:rPr>
              <a:t>Oxygen requirement, sporulation and energy source.</a:t>
            </a:r>
          </a:p>
        </p:txBody>
      </p:sp>
      <p:sp>
        <p:nvSpPr>
          <p:cNvPr id="15" name="Rounded Rectangle 14"/>
          <p:cNvSpPr/>
          <p:nvPr/>
        </p:nvSpPr>
        <p:spPr>
          <a:xfrm>
            <a:off x="493776" y="2542032"/>
            <a:ext cx="3931920" cy="1170432"/>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31520" y="2761488"/>
            <a:ext cx="256032" cy="256032"/>
          </a:xfrm>
          <a:prstGeom prst="ellipse">
            <a:avLst/>
          </a:prstGeom>
          <a:solidFill>
            <a:srgbClr val="80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17" name="TextBox 16"/>
          <p:cNvSpPr txBox="1"/>
          <p:nvPr/>
        </p:nvSpPr>
        <p:spPr>
          <a:xfrm>
            <a:off x="1115568" y="2761488"/>
            <a:ext cx="3108960" cy="201168"/>
          </a:xfrm>
          <a:prstGeom prst="rect">
            <a:avLst/>
          </a:prstGeom>
          <a:noFill/>
        </p:spPr>
        <p:txBody>
          <a:bodyPr wrap="square" lIns="0" rIns="0" tIns="0" bIns="0" anchor="t">
            <a:spAutoFit/>
          </a:bodyPr>
          <a:lstStyle/>
          <a:p>
            <a:pPr algn="l">
              <a:lnSpc>
                <a:spcPct val="100000"/>
              </a:lnSpc>
            </a:pPr>
            <a:r>
              <a:rPr sz="1200" b="1" i="0">
                <a:solidFill>
                  <a:srgbClr val="1A1A1A"/>
                </a:solidFill>
                <a:latin typeface="Arial"/>
              </a:rPr>
              <a:t>Taxonomy backbone</a:t>
            </a:r>
          </a:p>
        </p:txBody>
      </p:sp>
      <p:sp>
        <p:nvSpPr>
          <p:cNvPr id="18" name="TextBox 17"/>
          <p:cNvSpPr txBox="1"/>
          <p:nvPr/>
        </p:nvSpPr>
        <p:spPr>
          <a:xfrm>
            <a:off x="1115568" y="2999232"/>
            <a:ext cx="3108960" cy="365760"/>
          </a:xfrm>
          <a:prstGeom prst="rect">
            <a:avLst/>
          </a:prstGeom>
          <a:noFill/>
        </p:spPr>
        <p:txBody>
          <a:bodyPr wrap="square" lIns="0" rIns="0" tIns="0" bIns="0" anchor="t">
            <a:spAutoFit/>
          </a:bodyPr>
          <a:lstStyle/>
          <a:p>
            <a:pPr algn="l">
              <a:lnSpc>
                <a:spcPct val="115000"/>
              </a:lnSpc>
            </a:pPr>
            <a:r>
              <a:rPr sz="1000" b="1" i="0">
                <a:solidFill>
                  <a:srgbClr val="8000FF"/>
                </a:solidFill>
                <a:latin typeface="Arial"/>
              </a:rPr>
              <a:t>NCBI Taxonomy</a:t>
            </a:r>
          </a:p>
        </p:txBody>
      </p:sp>
      <p:sp>
        <p:nvSpPr>
          <p:cNvPr id="19" name="TextBox 18"/>
          <p:cNvSpPr txBox="1"/>
          <p:nvPr/>
        </p:nvSpPr>
        <p:spPr>
          <a:xfrm>
            <a:off x="731520" y="3438144"/>
            <a:ext cx="3456432" cy="201168"/>
          </a:xfrm>
          <a:prstGeom prst="rect">
            <a:avLst/>
          </a:prstGeom>
          <a:noFill/>
        </p:spPr>
        <p:txBody>
          <a:bodyPr wrap="square" lIns="0" rIns="0" tIns="0" bIns="0" anchor="t">
            <a:spAutoFit/>
          </a:bodyPr>
          <a:lstStyle/>
          <a:p>
            <a:pPr algn="l">
              <a:lnSpc>
                <a:spcPct val="100000"/>
              </a:lnSpc>
            </a:pPr>
            <a:r>
              <a:rPr sz="1000" b="0" i="0">
                <a:solidFill>
                  <a:srgbClr val="5A5A5A"/>
                </a:solidFill>
                <a:latin typeface="Arial"/>
              </a:rPr>
              <a:t>Canonical lineage and tax IDs; resolves synonyms.</a:t>
            </a:r>
          </a:p>
        </p:txBody>
      </p:sp>
      <p:sp>
        <p:nvSpPr>
          <p:cNvPr id="20" name="Rounded Rectangle 19"/>
          <p:cNvSpPr/>
          <p:nvPr/>
        </p:nvSpPr>
        <p:spPr>
          <a:xfrm>
            <a:off x="4681728" y="2542032"/>
            <a:ext cx="3931920" cy="1170432"/>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919472" y="2761488"/>
            <a:ext cx="256032" cy="256032"/>
          </a:xfrm>
          <a:prstGeom prst="ellipse">
            <a:avLst/>
          </a:prstGeom>
          <a:solidFill>
            <a:srgbClr val="00DCA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22" name="TextBox 21"/>
          <p:cNvSpPr txBox="1"/>
          <p:nvPr/>
        </p:nvSpPr>
        <p:spPr>
          <a:xfrm>
            <a:off x="5303520" y="2761488"/>
            <a:ext cx="3108960" cy="201168"/>
          </a:xfrm>
          <a:prstGeom prst="rect">
            <a:avLst/>
          </a:prstGeom>
          <a:noFill/>
        </p:spPr>
        <p:txBody>
          <a:bodyPr wrap="square" lIns="0" rIns="0" tIns="0" bIns="0" anchor="t">
            <a:spAutoFit/>
          </a:bodyPr>
          <a:lstStyle/>
          <a:p>
            <a:pPr algn="l">
              <a:lnSpc>
                <a:spcPct val="100000"/>
              </a:lnSpc>
            </a:pPr>
            <a:r>
              <a:rPr sz="1200" b="1" i="0">
                <a:solidFill>
                  <a:srgbClr val="1A1A1A"/>
                </a:solidFill>
                <a:latin typeface="Arial"/>
              </a:rPr>
              <a:t>Cohort and features</a:t>
            </a:r>
          </a:p>
        </p:txBody>
      </p:sp>
      <p:sp>
        <p:nvSpPr>
          <p:cNvPr id="23" name="TextBox 22"/>
          <p:cNvSpPr txBox="1"/>
          <p:nvPr/>
        </p:nvSpPr>
        <p:spPr>
          <a:xfrm>
            <a:off x="5303520" y="2999232"/>
            <a:ext cx="3108960" cy="365760"/>
          </a:xfrm>
          <a:prstGeom prst="rect">
            <a:avLst/>
          </a:prstGeom>
          <a:noFill/>
        </p:spPr>
        <p:txBody>
          <a:bodyPr wrap="square" lIns="0" rIns="0" tIns="0" bIns="0" anchor="t">
            <a:spAutoFit/>
          </a:bodyPr>
          <a:lstStyle/>
          <a:p>
            <a:pPr algn="l">
              <a:lnSpc>
                <a:spcPct val="115000"/>
              </a:lnSpc>
            </a:pPr>
            <a:r>
              <a:rPr sz="1000" b="1" i="0">
                <a:solidFill>
                  <a:srgbClr val="580F8B"/>
                </a:solidFill>
                <a:latin typeface="Arial"/>
              </a:rPr>
              <a:t>GMrepo runs · NCBI BioSample</a:t>
            </a:r>
          </a:p>
          <a:p>
            <a:pPr algn="l">
              <a:lnSpc>
                <a:spcPct val="115000"/>
              </a:lnSpc>
            </a:pPr>
            <a:r>
              <a:rPr sz="1000" b="1" i="0">
                <a:solidFill>
                  <a:srgbClr val="580F8B"/>
                </a:solidFill>
                <a:latin typeface="Arial"/>
              </a:rPr>
              <a:t>curatedMetagenomicData · MGnify</a:t>
            </a:r>
          </a:p>
        </p:txBody>
      </p:sp>
      <p:sp>
        <p:nvSpPr>
          <p:cNvPr id="24" name="TextBox 23"/>
          <p:cNvSpPr txBox="1"/>
          <p:nvPr/>
        </p:nvSpPr>
        <p:spPr>
          <a:xfrm>
            <a:off x="4919472" y="3438144"/>
            <a:ext cx="3456432" cy="201168"/>
          </a:xfrm>
          <a:prstGeom prst="rect">
            <a:avLst/>
          </a:prstGeom>
          <a:noFill/>
        </p:spPr>
        <p:txBody>
          <a:bodyPr wrap="square" lIns="0" rIns="0" tIns="0" bIns="0" anchor="t">
            <a:spAutoFit/>
          </a:bodyPr>
          <a:lstStyle/>
          <a:p>
            <a:pPr algn="l">
              <a:lnSpc>
                <a:spcPct val="100000"/>
              </a:lnSpc>
            </a:pPr>
            <a:r>
              <a:rPr sz="1000" b="0" i="0">
                <a:solidFill>
                  <a:srgbClr val="5A5A5A"/>
                </a:solidFill>
                <a:latin typeface="Arial"/>
              </a:rPr>
              <a:t>Demographics and per-sample abundance profiles.</a:t>
            </a:r>
          </a:p>
        </p:txBody>
      </p:sp>
      <p:sp>
        <p:nvSpPr>
          <p:cNvPr id="25" name="Oval 24"/>
          <p:cNvSpPr/>
          <p:nvPr/>
        </p:nvSpPr>
        <p:spPr>
          <a:xfrm>
            <a:off x="493776" y="3858768"/>
            <a:ext cx="137160" cy="13716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26" name="TextBox 25"/>
          <p:cNvSpPr txBox="1"/>
          <p:nvPr/>
        </p:nvSpPr>
        <p:spPr>
          <a:xfrm>
            <a:off x="768096" y="3785615"/>
            <a:ext cx="7571232" cy="603504"/>
          </a:xfrm>
          <a:prstGeom prst="rect">
            <a:avLst/>
          </a:prstGeom>
          <a:noFill/>
        </p:spPr>
        <p:txBody>
          <a:bodyPr wrap="square" lIns="0" rIns="0" tIns="0" bIns="0" anchor="t">
            <a:spAutoFit/>
          </a:bodyPr>
          <a:lstStyle/>
          <a:p>
            <a:pPr algn="l">
              <a:lnSpc>
                <a:spcPct val="120000"/>
              </a:lnSpc>
            </a:pPr>
            <a:r>
              <a:rPr sz="1100" b="0" i="1">
                <a:solidFill>
                  <a:srgbClr val="1A1A1A"/>
                </a:solidFill>
                <a:latin typeface="Arial"/>
              </a:rPr>
              <a:t>Sources are kept separable: every association row records its source_database, and literature-curated rows are flagged qualified rather than curated.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Pipeline workflow: eleven commands, three phases</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4</a:t>
            </a:r>
          </a:p>
        </p:txBody>
      </p:sp>
      <p:sp>
        <p:nvSpPr>
          <p:cNvPr id="5" name="Rounded Rectangle 4"/>
          <p:cNvSpPr/>
          <p:nvPr/>
        </p:nvSpPr>
        <p:spPr>
          <a:xfrm>
            <a:off x="493776" y="1225296"/>
            <a:ext cx="2584704" cy="2596896"/>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85800" y="1399032"/>
            <a:ext cx="274320" cy="274320"/>
          </a:xfrm>
          <a:prstGeom prst="ellipse">
            <a:avLst/>
          </a:prstGeom>
          <a:solidFill>
            <a:srgbClr val="580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A</a:t>
            </a:r>
          </a:p>
        </p:txBody>
      </p:sp>
      <p:sp>
        <p:nvSpPr>
          <p:cNvPr id="7" name="TextBox 6"/>
          <p:cNvSpPr txBox="1"/>
          <p:nvPr/>
        </p:nvSpPr>
        <p:spPr>
          <a:xfrm>
            <a:off x="1060704" y="1435608"/>
            <a:ext cx="1853183" cy="201168"/>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Build the backbone</a:t>
            </a:r>
          </a:p>
        </p:txBody>
      </p:sp>
      <p:sp>
        <p:nvSpPr>
          <p:cNvPr id="8" name="Oval 7"/>
          <p:cNvSpPr/>
          <p:nvPr/>
        </p:nvSpPr>
        <p:spPr>
          <a:xfrm>
            <a:off x="726948" y="1860804"/>
            <a:ext cx="192024" cy="192024"/>
          </a:xfrm>
          <a:prstGeom prst="ellipse">
            <a:avLst/>
          </a:prstGeom>
          <a:solidFill>
            <a:srgbClr val="FFFFFF"/>
          </a:solidFill>
          <a:ln w="12700">
            <a:solidFill>
              <a:srgbClr val="580F8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580F8B"/>
                </a:solidFill>
                <a:latin typeface="Arial"/>
              </a:rPr>
              <a:t>1</a:t>
            </a:r>
          </a:p>
        </p:txBody>
      </p:sp>
      <p:sp>
        <p:nvSpPr>
          <p:cNvPr id="9" name="TextBox 8"/>
          <p:cNvSpPr txBox="1"/>
          <p:nvPr/>
        </p:nvSpPr>
        <p:spPr>
          <a:xfrm>
            <a:off x="1024128" y="1847088"/>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init — create schema, 8 tables and 8 views</a:t>
            </a:r>
          </a:p>
        </p:txBody>
      </p:sp>
      <p:sp>
        <p:nvSpPr>
          <p:cNvPr id="10" name="Oval 9"/>
          <p:cNvSpPr/>
          <p:nvPr/>
        </p:nvSpPr>
        <p:spPr>
          <a:xfrm>
            <a:off x="726948" y="2244852"/>
            <a:ext cx="192024" cy="192024"/>
          </a:xfrm>
          <a:prstGeom prst="ellipse">
            <a:avLst/>
          </a:prstGeom>
          <a:solidFill>
            <a:srgbClr val="FFFFFF"/>
          </a:solidFill>
          <a:ln w="12700">
            <a:solidFill>
              <a:srgbClr val="580F8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580F8B"/>
                </a:solidFill>
                <a:latin typeface="Arial"/>
              </a:rPr>
              <a:t>2</a:t>
            </a:r>
          </a:p>
        </p:txBody>
      </p:sp>
      <p:sp>
        <p:nvSpPr>
          <p:cNvPr id="11" name="TextBox 10"/>
          <p:cNvSpPr txBox="1"/>
          <p:nvPr/>
        </p:nvSpPr>
        <p:spPr>
          <a:xfrm>
            <a:off x="1024128" y="2231136"/>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load-baseline — 2,115 curated gut taxa</a:t>
            </a:r>
          </a:p>
        </p:txBody>
      </p:sp>
      <p:sp>
        <p:nvSpPr>
          <p:cNvPr id="12" name="Oval 11"/>
          <p:cNvSpPr/>
          <p:nvPr/>
        </p:nvSpPr>
        <p:spPr>
          <a:xfrm>
            <a:off x="726948" y="2628900"/>
            <a:ext cx="192024" cy="192024"/>
          </a:xfrm>
          <a:prstGeom prst="ellipse">
            <a:avLst/>
          </a:prstGeom>
          <a:solidFill>
            <a:srgbClr val="FFFFFF"/>
          </a:solidFill>
          <a:ln w="12700">
            <a:solidFill>
              <a:srgbClr val="580F8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580F8B"/>
                </a:solidFill>
                <a:latin typeface="Arial"/>
              </a:rPr>
              <a:t>3</a:t>
            </a:r>
          </a:p>
        </p:txBody>
      </p:sp>
      <p:sp>
        <p:nvSpPr>
          <p:cNvPr id="13" name="TextBox 12"/>
          <p:cNvSpPr txBox="1"/>
          <p:nvPr/>
        </p:nvSpPr>
        <p:spPr>
          <a:xfrm>
            <a:off x="1024128" y="2615184"/>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load-mimedb — strains to species, derive traits</a:t>
            </a:r>
          </a:p>
        </p:txBody>
      </p:sp>
      <p:sp>
        <p:nvSpPr>
          <p:cNvPr id="14" name="Oval 13"/>
          <p:cNvSpPr/>
          <p:nvPr/>
        </p:nvSpPr>
        <p:spPr>
          <a:xfrm>
            <a:off x="726948" y="3012948"/>
            <a:ext cx="192024" cy="192024"/>
          </a:xfrm>
          <a:prstGeom prst="ellipse">
            <a:avLst/>
          </a:prstGeom>
          <a:solidFill>
            <a:srgbClr val="FFFFFF"/>
          </a:solidFill>
          <a:ln w="12700">
            <a:solidFill>
              <a:srgbClr val="580F8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580F8B"/>
                </a:solidFill>
                <a:latin typeface="Arial"/>
              </a:rPr>
              <a:t>4</a:t>
            </a:r>
          </a:p>
        </p:txBody>
      </p:sp>
      <p:sp>
        <p:nvSpPr>
          <p:cNvPr id="15" name="TextBox 14"/>
          <p:cNvSpPr txBox="1"/>
          <p:nvPr/>
        </p:nvSpPr>
        <p:spPr>
          <a:xfrm>
            <a:off x="1024128" y="2999232"/>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enrich-taxonomy — NCBI lineage and tax IDs</a:t>
            </a:r>
          </a:p>
        </p:txBody>
      </p:sp>
      <p:sp>
        <p:nvSpPr>
          <p:cNvPr id="16" name="Right Arrow 15"/>
          <p:cNvSpPr/>
          <p:nvPr/>
        </p:nvSpPr>
        <p:spPr>
          <a:xfrm>
            <a:off x="3115056" y="2414016"/>
            <a:ext cx="109728" cy="164592"/>
          </a:xfrm>
          <a:prstGeom prst="rightArrow">
            <a:avLst/>
          </a:prstGeom>
          <a:solidFill>
            <a:srgbClr val="E0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261360" y="1225296"/>
            <a:ext cx="2584704" cy="2596896"/>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453384" y="1399032"/>
            <a:ext cx="274320" cy="27432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A1A1A"/>
                </a:solidFill>
                <a:latin typeface="Arial"/>
              </a:rPr>
              <a:t>B</a:t>
            </a:r>
          </a:p>
        </p:txBody>
      </p:sp>
      <p:sp>
        <p:nvSpPr>
          <p:cNvPr id="19" name="TextBox 18"/>
          <p:cNvSpPr txBox="1"/>
          <p:nvPr/>
        </p:nvSpPr>
        <p:spPr>
          <a:xfrm>
            <a:off x="3828288" y="1435608"/>
            <a:ext cx="1853183" cy="201168"/>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Accumulate evidence</a:t>
            </a:r>
          </a:p>
        </p:txBody>
      </p:sp>
      <p:sp>
        <p:nvSpPr>
          <p:cNvPr id="20" name="Oval 19"/>
          <p:cNvSpPr/>
          <p:nvPr/>
        </p:nvSpPr>
        <p:spPr>
          <a:xfrm>
            <a:off x="3494532" y="1860804"/>
            <a:ext cx="192024" cy="192024"/>
          </a:xfrm>
          <a:prstGeom prst="ellipse">
            <a:avLst/>
          </a:prstGeom>
          <a:solidFill>
            <a:srgbClr val="FFFFFF"/>
          </a:solidFill>
          <a:ln w="12700">
            <a:solidFill>
              <a:srgbClr val="FF93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9300"/>
                </a:solidFill>
                <a:latin typeface="Arial"/>
              </a:rPr>
              <a:t>5</a:t>
            </a:r>
          </a:p>
        </p:txBody>
      </p:sp>
      <p:sp>
        <p:nvSpPr>
          <p:cNvPr id="21" name="TextBox 20"/>
          <p:cNvSpPr txBox="1"/>
          <p:nvPr/>
        </p:nvSpPr>
        <p:spPr>
          <a:xfrm>
            <a:off x="3791712" y="1847088"/>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sync-all-comparisons — traverse GMrepo catalog</a:t>
            </a:r>
          </a:p>
        </p:txBody>
      </p:sp>
      <p:sp>
        <p:nvSpPr>
          <p:cNvPr id="22" name="Oval 21"/>
          <p:cNvSpPr/>
          <p:nvPr/>
        </p:nvSpPr>
        <p:spPr>
          <a:xfrm>
            <a:off x="3494532" y="2244852"/>
            <a:ext cx="192024" cy="192024"/>
          </a:xfrm>
          <a:prstGeom prst="ellipse">
            <a:avLst/>
          </a:prstGeom>
          <a:solidFill>
            <a:srgbClr val="FFFFFF"/>
          </a:solidFill>
          <a:ln w="12700">
            <a:solidFill>
              <a:srgbClr val="FF93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9300"/>
                </a:solidFill>
                <a:latin typeface="Arial"/>
              </a:rPr>
              <a:t>6</a:t>
            </a:r>
          </a:p>
        </p:txBody>
      </p:sp>
      <p:sp>
        <p:nvSpPr>
          <p:cNvPr id="23" name="TextBox 22"/>
          <p:cNvSpPr txBox="1"/>
          <p:nvPr/>
        </p:nvSpPr>
        <p:spPr>
          <a:xfrm>
            <a:off x="3791712" y="2231136"/>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load-associations — curated literature markers</a:t>
            </a:r>
          </a:p>
        </p:txBody>
      </p:sp>
      <p:sp>
        <p:nvSpPr>
          <p:cNvPr id="24" name="Right Arrow 23"/>
          <p:cNvSpPr/>
          <p:nvPr/>
        </p:nvSpPr>
        <p:spPr>
          <a:xfrm>
            <a:off x="5882640" y="2414016"/>
            <a:ext cx="109728" cy="164592"/>
          </a:xfrm>
          <a:prstGeom prst="rightArrow">
            <a:avLst/>
          </a:prstGeom>
          <a:solidFill>
            <a:srgbClr val="E0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028944" y="1225296"/>
            <a:ext cx="2584704" cy="2596896"/>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220968" y="1399032"/>
            <a:ext cx="274320" cy="274320"/>
          </a:xfrm>
          <a:prstGeom prst="ellipse">
            <a:avLst/>
          </a:prstGeom>
          <a:solidFill>
            <a:srgbClr val="80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C</a:t>
            </a:r>
          </a:p>
        </p:txBody>
      </p:sp>
      <p:sp>
        <p:nvSpPr>
          <p:cNvPr id="27" name="TextBox 26"/>
          <p:cNvSpPr txBox="1"/>
          <p:nvPr/>
        </p:nvSpPr>
        <p:spPr>
          <a:xfrm>
            <a:off x="6595872" y="1435608"/>
            <a:ext cx="1853183" cy="201168"/>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Assemble the cohort</a:t>
            </a:r>
          </a:p>
        </p:txBody>
      </p:sp>
      <p:sp>
        <p:nvSpPr>
          <p:cNvPr id="28" name="Oval 27"/>
          <p:cNvSpPr/>
          <p:nvPr/>
        </p:nvSpPr>
        <p:spPr>
          <a:xfrm>
            <a:off x="6262116" y="1860804"/>
            <a:ext cx="192024" cy="192024"/>
          </a:xfrm>
          <a:prstGeom prst="ellipse">
            <a:avLst/>
          </a:prstGeom>
          <a:solidFill>
            <a:srgbClr val="FFFFFF"/>
          </a:solidFill>
          <a:ln w="12700">
            <a:solidFill>
              <a:srgbClr val="8000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8000FF"/>
                </a:solidFill>
                <a:latin typeface="Arial"/>
              </a:rPr>
              <a:t>7</a:t>
            </a:r>
          </a:p>
        </p:txBody>
      </p:sp>
      <p:sp>
        <p:nvSpPr>
          <p:cNvPr id="29" name="TextBox 28"/>
          <p:cNvSpPr txBox="1"/>
          <p:nvPr/>
        </p:nvSpPr>
        <p:spPr>
          <a:xfrm>
            <a:off x="6559296" y="1847088"/>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sync-gmrepo-samples — 34,229 run records</a:t>
            </a:r>
          </a:p>
        </p:txBody>
      </p:sp>
      <p:sp>
        <p:nvSpPr>
          <p:cNvPr id="30" name="Oval 29"/>
          <p:cNvSpPr/>
          <p:nvPr/>
        </p:nvSpPr>
        <p:spPr>
          <a:xfrm>
            <a:off x="6262116" y="2244852"/>
            <a:ext cx="192024" cy="192024"/>
          </a:xfrm>
          <a:prstGeom prst="ellipse">
            <a:avLst/>
          </a:prstGeom>
          <a:solidFill>
            <a:srgbClr val="FFFFFF"/>
          </a:solidFill>
          <a:ln w="12700">
            <a:solidFill>
              <a:srgbClr val="8000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8000FF"/>
                </a:solidFill>
                <a:latin typeface="Arial"/>
              </a:rPr>
              <a:t>8</a:t>
            </a:r>
          </a:p>
        </p:txBody>
      </p:sp>
      <p:sp>
        <p:nvSpPr>
          <p:cNvPr id="31" name="TextBox 30"/>
          <p:cNvSpPr txBox="1"/>
          <p:nvPr/>
        </p:nvSpPr>
        <p:spPr>
          <a:xfrm>
            <a:off x="6559296" y="2231136"/>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enrich-demographics — sex, age, BMI from NCBI</a:t>
            </a:r>
          </a:p>
        </p:txBody>
      </p:sp>
      <p:sp>
        <p:nvSpPr>
          <p:cNvPr id="32" name="Oval 31"/>
          <p:cNvSpPr/>
          <p:nvPr/>
        </p:nvSpPr>
        <p:spPr>
          <a:xfrm>
            <a:off x="6262116" y="2628900"/>
            <a:ext cx="192024" cy="192024"/>
          </a:xfrm>
          <a:prstGeom prst="ellipse">
            <a:avLst/>
          </a:prstGeom>
          <a:solidFill>
            <a:srgbClr val="FFFFFF"/>
          </a:solidFill>
          <a:ln w="12700">
            <a:solidFill>
              <a:srgbClr val="8000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8000FF"/>
                </a:solidFill>
                <a:latin typeface="Arial"/>
              </a:rPr>
              <a:t>9</a:t>
            </a:r>
          </a:p>
        </p:txBody>
      </p:sp>
      <p:sp>
        <p:nvSpPr>
          <p:cNvPr id="33" name="TextBox 32"/>
          <p:cNvSpPr txBox="1"/>
          <p:nvPr/>
        </p:nvSpPr>
        <p:spPr>
          <a:xfrm>
            <a:off x="6559296" y="2615184"/>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enrich-cmd-demographics — curatedMetagenomicData</a:t>
            </a:r>
          </a:p>
        </p:txBody>
      </p:sp>
      <p:sp>
        <p:nvSpPr>
          <p:cNvPr id="34" name="Oval 33"/>
          <p:cNvSpPr/>
          <p:nvPr/>
        </p:nvSpPr>
        <p:spPr>
          <a:xfrm>
            <a:off x="6262116" y="3012948"/>
            <a:ext cx="192024" cy="192024"/>
          </a:xfrm>
          <a:prstGeom prst="ellipse">
            <a:avLst/>
          </a:prstGeom>
          <a:solidFill>
            <a:srgbClr val="FFFFFF"/>
          </a:solidFill>
          <a:ln w="12700">
            <a:solidFill>
              <a:srgbClr val="8000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8000FF"/>
                </a:solidFill>
                <a:latin typeface="Arial"/>
              </a:rPr>
              <a:t>10</a:t>
            </a:r>
          </a:p>
        </p:txBody>
      </p:sp>
      <p:sp>
        <p:nvSpPr>
          <p:cNvPr id="35" name="TextBox 34"/>
          <p:cNvSpPr txBox="1"/>
          <p:nvPr/>
        </p:nvSpPr>
        <p:spPr>
          <a:xfrm>
            <a:off x="6559296" y="2999232"/>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sync-gmrepo-abundances — taxonomic profiles</a:t>
            </a:r>
          </a:p>
        </p:txBody>
      </p:sp>
      <p:sp>
        <p:nvSpPr>
          <p:cNvPr id="36" name="Oval 35"/>
          <p:cNvSpPr/>
          <p:nvPr/>
        </p:nvSpPr>
        <p:spPr>
          <a:xfrm>
            <a:off x="6262116" y="3396996"/>
            <a:ext cx="192024" cy="192024"/>
          </a:xfrm>
          <a:prstGeom prst="ellipse">
            <a:avLst/>
          </a:prstGeom>
          <a:solidFill>
            <a:srgbClr val="FFFFFF"/>
          </a:solidFill>
          <a:ln w="12700">
            <a:solidFill>
              <a:srgbClr val="8000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8000FF"/>
                </a:solidFill>
                <a:latin typeface="Arial"/>
              </a:rPr>
              <a:t>11</a:t>
            </a:r>
          </a:p>
        </p:txBody>
      </p:sp>
      <p:sp>
        <p:nvSpPr>
          <p:cNvPr id="37" name="TextBox 36"/>
          <p:cNvSpPr txBox="1"/>
          <p:nvPr/>
        </p:nvSpPr>
        <p:spPr>
          <a:xfrm>
            <a:off x="6559296" y="3383279"/>
            <a:ext cx="1871472" cy="347472"/>
          </a:xfrm>
          <a:prstGeom prst="rect">
            <a:avLst/>
          </a:prstGeom>
          <a:noFill/>
        </p:spPr>
        <p:txBody>
          <a:bodyPr wrap="square" lIns="0" rIns="0" tIns="0" bIns="0" anchor="t">
            <a:spAutoFit/>
          </a:bodyPr>
          <a:lstStyle/>
          <a:p>
            <a:pPr algn="l">
              <a:lnSpc>
                <a:spcPct val="112000"/>
              </a:lnSpc>
            </a:pPr>
            <a:r>
              <a:rPr sz="900" b="0" i="0">
                <a:solidFill>
                  <a:srgbClr val="1A1A1A"/>
                </a:solidFill>
                <a:latin typeface="Arial"/>
              </a:rPr>
              <a:t>validate — counts and referential integrity</a:t>
            </a:r>
          </a:p>
        </p:txBody>
      </p:sp>
      <p:sp>
        <p:nvSpPr>
          <p:cNvPr id="38" name="Oval 37"/>
          <p:cNvSpPr/>
          <p:nvPr/>
        </p:nvSpPr>
        <p:spPr>
          <a:xfrm>
            <a:off x="493776" y="3986784"/>
            <a:ext cx="109728" cy="109728"/>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39" name="TextBox 38"/>
          <p:cNvSpPr txBox="1"/>
          <p:nvPr/>
        </p:nvSpPr>
        <p:spPr>
          <a:xfrm>
            <a:off x="676656" y="3959352"/>
            <a:ext cx="2468880" cy="182880"/>
          </a:xfrm>
          <a:prstGeom prst="rect">
            <a:avLst/>
          </a:prstGeom>
          <a:noFill/>
        </p:spPr>
        <p:txBody>
          <a:bodyPr wrap="square" lIns="0" rIns="0" tIns="0" bIns="0" anchor="t">
            <a:spAutoFit/>
          </a:bodyPr>
          <a:lstStyle/>
          <a:p>
            <a:pPr algn="l">
              <a:lnSpc>
                <a:spcPct val="100000"/>
              </a:lnSpc>
            </a:pPr>
            <a:r>
              <a:rPr sz="1000" b="0" i="0">
                <a:solidFill>
                  <a:srgbClr val="1A1A1A"/>
                </a:solidFill>
                <a:latin typeface="Arial"/>
              </a:rPr>
              <a:t>Transactional rollback on failure</a:t>
            </a:r>
          </a:p>
        </p:txBody>
      </p:sp>
      <p:sp>
        <p:nvSpPr>
          <p:cNvPr id="40" name="Oval 39"/>
          <p:cNvSpPr/>
          <p:nvPr/>
        </p:nvSpPr>
        <p:spPr>
          <a:xfrm>
            <a:off x="3145536" y="3986784"/>
            <a:ext cx="109728" cy="109728"/>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41" name="TextBox 40"/>
          <p:cNvSpPr txBox="1"/>
          <p:nvPr/>
        </p:nvSpPr>
        <p:spPr>
          <a:xfrm>
            <a:off x="3328416" y="3959352"/>
            <a:ext cx="2468880" cy="182880"/>
          </a:xfrm>
          <a:prstGeom prst="rect">
            <a:avLst/>
          </a:prstGeom>
          <a:noFill/>
        </p:spPr>
        <p:txBody>
          <a:bodyPr wrap="square" lIns="0" rIns="0" tIns="0" bIns="0" anchor="t">
            <a:spAutoFit/>
          </a:bodyPr>
          <a:lstStyle/>
          <a:p>
            <a:pPr algn="l">
              <a:lnSpc>
                <a:spcPct val="100000"/>
              </a:lnSpc>
            </a:pPr>
            <a:r>
              <a:rPr sz="1000" b="0" i="0">
                <a:solidFill>
                  <a:srgbClr val="1A1A1A"/>
                </a:solidFill>
                <a:latin typeface="Arial"/>
              </a:rPr>
              <a:t>Idempotent re-runs</a:t>
            </a:r>
          </a:p>
        </p:txBody>
      </p:sp>
      <p:sp>
        <p:nvSpPr>
          <p:cNvPr id="42" name="Oval 41"/>
          <p:cNvSpPr/>
          <p:nvPr/>
        </p:nvSpPr>
        <p:spPr>
          <a:xfrm>
            <a:off x="5797296" y="3986784"/>
            <a:ext cx="109728" cy="109728"/>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43" name="TextBox 42"/>
          <p:cNvSpPr txBox="1"/>
          <p:nvPr/>
        </p:nvSpPr>
        <p:spPr>
          <a:xfrm>
            <a:off x="5980176" y="3959352"/>
            <a:ext cx="2468880" cy="182880"/>
          </a:xfrm>
          <a:prstGeom prst="rect">
            <a:avLst/>
          </a:prstGeom>
          <a:noFill/>
        </p:spPr>
        <p:txBody>
          <a:bodyPr wrap="square" lIns="0" rIns="0" tIns="0" bIns="0" anchor="t">
            <a:spAutoFit/>
          </a:bodyPr>
          <a:lstStyle/>
          <a:p>
            <a:pPr algn="l">
              <a:lnSpc>
                <a:spcPct val="100000"/>
              </a:lnSpc>
            </a:pPr>
            <a:r>
              <a:rPr sz="1000" b="0" i="0">
                <a:solidFill>
                  <a:srgbClr val="1A1A1A"/>
                </a:solidFill>
                <a:latin typeface="Arial"/>
              </a:rPr>
              <a:t>ingestion_runs audit 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The schema decision that preserves meaning</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5</a:t>
            </a:r>
          </a:p>
        </p:txBody>
      </p:sp>
      <p:sp>
        <p:nvSpPr>
          <p:cNvPr id="5" name="Rounded Rectangle 4"/>
          <p:cNvSpPr/>
          <p:nvPr/>
        </p:nvSpPr>
        <p:spPr>
          <a:xfrm>
            <a:off x="493776" y="1225296"/>
            <a:ext cx="4572000" cy="2377440"/>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676656" y="2029968"/>
            <a:ext cx="1170432" cy="530352"/>
          </a:xfrm>
          <a:prstGeom prst="roundRect">
            <a:avLst>
              <a:gd name="adj" fmla="val 10000"/>
            </a:avLst>
          </a:prstGeom>
          <a:solidFill>
            <a:srgbClr val="FFFFFF"/>
          </a:solidFill>
          <a:ln w="9525">
            <a:solidFill>
              <a:srgbClr val="580F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68096" y="2130552"/>
            <a:ext cx="987552" cy="182880"/>
          </a:xfrm>
          <a:prstGeom prst="rect">
            <a:avLst/>
          </a:prstGeom>
          <a:noFill/>
        </p:spPr>
        <p:txBody>
          <a:bodyPr wrap="square" lIns="0" rIns="0" tIns="0" bIns="0" anchor="t">
            <a:spAutoFit/>
          </a:bodyPr>
          <a:lstStyle/>
          <a:p>
            <a:pPr algn="ctr">
              <a:lnSpc>
                <a:spcPct val="100000"/>
              </a:lnSpc>
            </a:pPr>
            <a:r>
              <a:rPr sz="1000" b="1" i="0">
                <a:solidFill>
                  <a:srgbClr val="1A1A1A"/>
                </a:solidFill>
                <a:latin typeface="Arial"/>
              </a:rPr>
              <a:t>taxa</a:t>
            </a:r>
          </a:p>
        </p:txBody>
      </p:sp>
      <p:sp>
        <p:nvSpPr>
          <p:cNvPr id="8" name="TextBox 7"/>
          <p:cNvSpPr txBox="1"/>
          <p:nvPr/>
        </p:nvSpPr>
        <p:spPr>
          <a:xfrm>
            <a:off x="749808" y="2322576"/>
            <a:ext cx="1024128" cy="164592"/>
          </a:xfrm>
          <a:prstGeom prst="rect">
            <a:avLst/>
          </a:prstGeom>
          <a:noFill/>
        </p:spPr>
        <p:txBody>
          <a:bodyPr wrap="square" lIns="0" rIns="0" tIns="0" bIns="0" anchor="t">
            <a:spAutoFit/>
          </a:bodyPr>
          <a:lstStyle/>
          <a:p>
            <a:pPr algn="ctr">
              <a:lnSpc>
                <a:spcPct val="100000"/>
              </a:lnSpc>
            </a:pPr>
            <a:r>
              <a:rPr sz="750" b="0" i="0">
                <a:solidFill>
                  <a:srgbClr val="5A5A5A"/>
                </a:solidFill>
                <a:latin typeface="Arial"/>
              </a:rPr>
              <a:t>6,019 rows</a:t>
            </a:r>
          </a:p>
        </p:txBody>
      </p:sp>
      <p:sp>
        <p:nvSpPr>
          <p:cNvPr id="9" name="Rounded Rectangle 8"/>
          <p:cNvSpPr/>
          <p:nvPr/>
        </p:nvSpPr>
        <p:spPr>
          <a:xfrm>
            <a:off x="2194560" y="2029968"/>
            <a:ext cx="1170432" cy="530352"/>
          </a:xfrm>
          <a:prstGeom prst="roundRect">
            <a:avLst>
              <a:gd name="adj" fmla="val 10000"/>
            </a:avLst>
          </a:prstGeom>
          <a:solidFill>
            <a:srgbClr val="FDF1E4"/>
          </a:solidFill>
          <a:ln w="9525">
            <a:solidFill>
              <a:srgbClr val="FF93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286000" y="2130552"/>
            <a:ext cx="987552" cy="182880"/>
          </a:xfrm>
          <a:prstGeom prst="rect">
            <a:avLst/>
          </a:prstGeom>
          <a:noFill/>
        </p:spPr>
        <p:txBody>
          <a:bodyPr wrap="square" lIns="0" rIns="0" tIns="0" bIns="0" anchor="t">
            <a:spAutoFit/>
          </a:bodyPr>
          <a:lstStyle/>
          <a:p>
            <a:pPr algn="ctr">
              <a:lnSpc>
                <a:spcPct val="100000"/>
              </a:lnSpc>
            </a:pPr>
            <a:r>
              <a:rPr sz="1000" b="1" i="0">
                <a:solidFill>
                  <a:srgbClr val="1A1A1A"/>
                </a:solidFill>
                <a:latin typeface="Arial"/>
              </a:rPr>
              <a:t>associations</a:t>
            </a:r>
          </a:p>
        </p:txBody>
      </p:sp>
      <p:sp>
        <p:nvSpPr>
          <p:cNvPr id="11" name="TextBox 10"/>
          <p:cNvSpPr txBox="1"/>
          <p:nvPr/>
        </p:nvSpPr>
        <p:spPr>
          <a:xfrm>
            <a:off x="2267712" y="2322576"/>
            <a:ext cx="1024128" cy="164592"/>
          </a:xfrm>
          <a:prstGeom prst="rect">
            <a:avLst/>
          </a:prstGeom>
          <a:noFill/>
        </p:spPr>
        <p:txBody>
          <a:bodyPr wrap="square" lIns="0" rIns="0" tIns="0" bIns="0" anchor="t">
            <a:spAutoFit/>
          </a:bodyPr>
          <a:lstStyle/>
          <a:p>
            <a:pPr algn="ctr">
              <a:lnSpc>
                <a:spcPct val="100000"/>
              </a:lnSpc>
            </a:pPr>
            <a:r>
              <a:rPr sz="750" b="0" i="0">
                <a:solidFill>
                  <a:srgbClr val="5A5A5A"/>
                </a:solidFill>
                <a:latin typeface="Arial"/>
              </a:rPr>
              <a:t>16,388 rows</a:t>
            </a:r>
          </a:p>
        </p:txBody>
      </p:sp>
      <p:sp>
        <p:nvSpPr>
          <p:cNvPr id="12" name="Rounded Rectangle 11"/>
          <p:cNvSpPr/>
          <p:nvPr/>
        </p:nvSpPr>
        <p:spPr>
          <a:xfrm>
            <a:off x="3712464" y="2029968"/>
            <a:ext cx="1170432" cy="530352"/>
          </a:xfrm>
          <a:prstGeom prst="roundRect">
            <a:avLst>
              <a:gd name="adj" fmla="val 10000"/>
            </a:avLst>
          </a:prstGeom>
          <a:solidFill>
            <a:srgbClr val="FFFFFF"/>
          </a:solidFill>
          <a:ln w="9525">
            <a:solidFill>
              <a:srgbClr val="580F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803904" y="2130552"/>
            <a:ext cx="987552" cy="182880"/>
          </a:xfrm>
          <a:prstGeom prst="rect">
            <a:avLst/>
          </a:prstGeom>
          <a:noFill/>
        </p:spPr>
        <p:txBody>
          <a:bodyPr wrap="square" lIns="0" rIns="0" tIns="0" bIns="0" anchor="t">
            <a:spAutoFit/>
          </a:bodyPr>
          <a:lstStyle/>
          <a:p>
            <a:pPr algn="ctr">
              <a:lnSpc>
                <a:spcPct val="100000"/>
              </a:lnSpc>
            </a:pPr>
            <a:r>
              <a:rPr sz="1000" b="1" i="0">
                <a:solidFill>
                  <a:srgbClr val="1A1A1A"/>
                </a:solidFill>
                <a:latin typeface="Arial"/>
              </a:rPr>
              <a:t>diseases</a:t>
            </a:r>
          </a:p>
        </p:txBody>
      </p:sp>
      <p:sp>
        <p:nvSpPr>
          <p:cNvPr id="14" name="TextBox 13"/>
          <p:cNvSpPr txBox="1"/>
          <p:nvPr/>
        </p:nvSpPr>
        <p:spPr>
          <a:xfrm>
            <a:off x="3785616" y="2322576"/>
            <a:ext cx="1024128" cy="164592"/>
          </a:xfrm>
          <a:prstGeom prst="rect">
            <a:avLst/>
          </a:prstGeom>
          <a:noFill/>
        </p:spPr>
        <p:txBody>
          <a:bodyPr wrap="square" lIns="0" rIns="0" tIns="0" bIns="0" anchor="t">
            <a:spAutoFit/>
          </a:bodyPr>
          <a:lstStyle/>
          <a:p>
            <a:pPr algn="ctr">
              <a:lnSpc>
                <a:spcPct val="100000"/>
              </a:lnSpc>
            </a:pPr>
            <a:r>
              <a:rPr sz="750" b="0" i="0">
                <a:solidFill>
                  <a:srgbClr val="5A5A5A"/>
                </a:solidFill>
                <a:latin typeface="Arial"/>
              </a:rPr>
              <a:t>159 rows</a:t>
            </a:r>
          </a:p>
        </p:txBody>
      </p:sp>
      <p:sp>
        <p:nvSpPr>
          <p:cNvPr id="15" name="Rounded Rectangle 14"/>
          <p:cNvSpPr/>
          <p:nvPr/>
        </p:nvSpPr>
        <p:spPr>
          <a:xfrm>
            <a:off x="2194560" y="2798064"/>
            <a:ext cx="1170432" cy="475488"/>
          </a:xfrm>
          <a:prstGeom prst="roundRect">
            <a:avLst>
              <a:gd name="adj" fmla="val 10000"/>
            </a:avLst>
          </a:prstGeom>
          <a:solidFill>
            <a:srgbClr val="FFFFFF"/>
          </a:solidFill>
          <a:ln w="9525">
            <a:solidFill>
              <a:srgbClr val="80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286000" y="2898648"/>
            <a:ext cx="987552" cy="182880"/>
          </a:xfrm>
          <a:prstGeom prst="rect">
            <a:avLst/>
          </a:prstGeom>
          <a:noFill/>
        </p:spPr>
        <p:txBody>
          <a:bodyPr wrap="square" lIns="0" rIns="0" tIns="0" bIns="0" anchor="t">
            <a:spAutoFit/>
          </a:bodyPr>
          <a:lstStyle/>
          <a:p>
            <a:pPr algn="ctr">
              <a:lnSpc>
                <a:spcPct val="100000"/>
              </a:lnSpc>
            </a:pPr>
            <a:r>
              <a:rPr sz="1000" b="1" i="0">
                <a:solidFill>
                  <a:srgbClr val="1A1A1A"/>
                </a:solidFill>
                <a:latin typeface="Arial"/>
              </a:rPr>
              <a:t>comparisons</a:t>
            </a:r>
          </a:p>
        </p:txBody>
      </p:sp>
      <p:sp>
        <p:nvSpPr>
          <p:cNvPr id="17" name="TextBox 16"/>
          <p:cNvSpPr txBox="1"/>
          <p:nvPr/>
        </p:nvSpPr>
        <p:spPr>
          <a:xfrm>
            <a:off x="2267712" y="3090672"/>
            <a:ext cx="1024128" cy="164592"/>
          </a:xfrm>
          <a:prstGeom prst="rect">
            <a:avLst/>
          </a:prstGeom>
          <a:noFill/>
        </p:spPr>
        <p:txBody>
          <a:bodyPr wrap="square" lIns="0" rIns="0" tIns="0" bIns="0" anchor="t">
            <a:spAutoFit/>
          </a:bodyPr>
          <a:lstStyle/>
          <a:p>
            <a:pPr algn="ctr">
              <a:lnSpc>
                <a:spcPct val="100000"/>
              </a:lnSpc>
            </a:pPr>
            <a:r>
              <a:rPr sz="750" b="0" i="0">
                <a:solidFill>
                  <a:srgbClr val="5A5A5A"/>
                </a:solidFill>
                <a:latin typeface="Arial"/>
              </a:rPr>
              <a:t>study + direction</a:t>
            </a:r>
          </a:p>
        </p:txBody>
      </p:sp>
      <p:sp>
        <p:nvSpPr>
          <p:cNvPr id="18" name="Rounded Rectangle 17"/>
          <p:cNvSpPr/>
          <p:nvPr/>
        </p:nvSpPr>
        <p:spPr>
          <a:xfrm>
            <a:off x="2194560" y="1371600"/>
            <a:ext cx="1170432" cy="438912"/>
          </a:xfrm>
          <a:prstGeom prst="roundRect">
            <a:avLst>
              <a:gd name="adj" fmla="val 10000"/>
            </a:avLst>
          </a:prstGeom>
          <a:solidFill>
            <a:srgbClr val="FFFFFF"/>
          </a:solidFill>
          <a:ln w="9525">
            <a:solidFill>
              <a:srgbClr val="80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286000" y="1472184"/>
            <a:ext cx="987552" cy="182880"/>
          </a:xfrm>
          <a:prstGeom prst="rect">
            <a:avLst/>
          </a:prstGeom>
          <a:noFill/>
        </p:spPr>
        <p:txBody>
          <a:bodyPr wrap="square" lIns="0" rIns="0" tIns="0" bIns="0" anchor="t">
            <a:spAutoFit/>
          </a:bodyPr>
          <a:lstStyle/>
          <a:p>
            <a:pPr algn="ctr">
              <a:lnSpc>
                <a:spcPct val="100000"/>
              </a:lnSpc>
            </a:pPr>
            <a:r>
              <a:rPr sz="1000" b="1" i="0">
                <a:solidFill>
                  <a:srgbClr val="1A1A1A"/>
                </a:solidFill>
                <a:latin typeface="Arial"/>
              </a:rPr>
              <a:t>studies</a:t>
            </a:r>
          </a:p>
        </p:txBody>
      </p:sp>
      <p:sp>
        <p:nvSpPr>
          <p:cNvPr id="20" name="TextBox 19"/>
          <p:cNvSpPr txBox="1"/>
          <p:nvPr/>
        </p:nvSpPr>
        <p:spPr>
          <a:xfrm>
            <a:off x="2267712" y="1664208"/>
            <a:ext cx="1024128" cy="164592"/>
          </a:xfrm>
          <a:prstGeom prst="rect">
            <a:avLst/>
          </a:prstGeom>
          <a:noFill/>
        </p:spPr>
        <p:txBody>
          <a:bodyPr wrap="square" lIns="0" rIns="0" tIns="0" bIns="0" anchor="t">
            <a:spAutoFit/>
          </a:bodyPr>
          <a:lstStyle/>
          <a:p>
            <a:pPr algn="ctr">
              <a:lnSpc>
                <a:spcPct val="100000"/>
              </a:lnSpc>
            </a:pPr>
            <a:r>
              <a:rPr sz="750" b="0" i="0">
                <a:solidFill>
                  <a:srgbClr val="5A5A5A"/>
                </a:solidFill>
                <a:latin typeface="Arial"/>
              </a:rPr>
              <a:t>314 rows</a:t>
            </a:r>
          </a:p>
        </p:txBody>
      </p:sp>
      <p:cxnSp>
        <p:nvCxnSpPr>
          <p:cNvPr id="21" name="Connector 20"/>
          <p:cNvCxnSpPr/>
          <p:nvPr/>
        </p:nvCxnSpPr>
        <p:spPr>
          <a:xfrm>
            <a:off x="1847088" y="2295144"/>
            <a:ext cx="347472" cy="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364992" y="2295144"/>
            <a:ext cx="347472" cy="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779776" y="1810512"/>
            <a:ext cx="0" cy="219456"/>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779776" y="2560320"/>
            <a:ext cx="0" cy="237744"/>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847088" y="2322576"/>
            <a:ext cx="347472" cy="164592"/>
          </a:xfrm>
          <a:prstGeom prst="rect">
            <a:avLst/>
          </a:prstGeom>
          <a:noFill/>
        </p:spPr>
        <p:txBody>
          <a:bodyPr wrap="square" lIns="0" rIns="0" tIns="0" bIns="0" anchor="t">
            <a:spAutoFit/>
          </a:bodyPr>
          <a:lstStyle/>
          <a:p>
            <a:pPr algn="ctr">
              <a:lnSpc>
                <a:spcPct val="100000"/>
              </a:lnSpc>
            </a:pPr>
            <a:r>
              <a:rPr sz="700" b="0" i="0">
                <a:solidFill>
                  <a:srgbClr val="5A5A5A"/>
                </a:solidFill>
                <a:latin typeface="Arial"/>
              </a:rPr>
              <a:t>1 — *</a:t>
            </a:r>
          </a:p>
        </p:txBody>
      </p:sp>
      <p:sp>
        <p:nvSpPr>
          <p:cNvPr id="26" name="TextBox 25"/>
          <p:cNvSpPr txBox="1"/>
          <p:nvPr/>
        </p:nvSpPr>
        <p:spPr>
          <a:xfrm>
            <a:off x="3364992" y="2322576"/>
            <a:ext cx="347472" cy="164592"/>
          </a:xfrm>
          <a:prstGeom prst="rect">
            <a:avLst/>
          </a:prstGeom>
          <a:noFill/>
        </p:spPr>
        <p:txBody>
          <a:bodyPr wrap="square" lIns="0" rIns="0" tIns="0" bIns="0" anchor="t">
            <a:spAutoFit/>
          </a:bodyPr>
          <a:lstStyle/>
          <a:p>
            <a:pPr algn="ctr">
              <a:lnSpc>
                <a:spcPct val="100000"/>
              </a:lnSpc>
            </a:pPr>
            <a:r>
              <a:rPr sz="700" b="0" i="0">
                <a:solidFill>
                  <a:srgbClr val="5A5A5A"/>
                </a:solidFill>
                <a:latin typeface="Arial"/>
              </a:rPr>
              <a:t>* — 1</a:t>
            </a:r>
          </a:p>
        </p:txBody>
      </p:sp>
      <p:sp>
        <p:nvSpPr>
          <p:cNvPr id="27" name="TextBox 26"/>
          <p:cNvSpPr txBox="1"/>
          <p:nvPr/>
        </p:nvSpPr>
        <p:spPr>
          <a:xfrm>
            <a:off x="5248656" y="1261872"/>
            <a:ext cx="3364992" cy="201168"/>
          </a:xfrm>
          <a:prstGeom prst="rect">
            <a:avLst/>
          </a:prstGeom>
          <a:noFill/>
        </p:spPr>
        <p:txBody>
          <a:bodyPr wrap="square" lIns="0" rIns="0" tIns="0" bIns="0" anchor="t">
            <a:spAutoFit/>
          </a:bodyPr>
          <a:lstStyle/>
          <a:p>
            <a:pPr algn="l">
              <a:lnSpc>
                <a:spcPct val="100000"/>
              </a:lnSpc>
            </a:pPr>
            <a:r>
              <a:rPr sz="950" b="1" i="0">
                <a:solidFill>
                  <a:srgbClr val="580F8B"/>
                </a:solidFill>
                <a:latin typeface="Arial"/>
              </a:rPr>
              <a:t>WHY THIS SHAPE</a:t>
            </a:r>
          </a:p>
        </p:txBody>
      </p:sp>
      <p:sp>
        <p:nvSpPr>
          <p:cNvPr id="28" name="TextBox 27"/>
          <p:cNvSpPr txBox="1"/>
          <p:nvPr/>
        </p:nvSpPr>
        <p:spPr>
          <a:xfrm>
            <a:off x="5248656" y="1554480"/>
            <a:ext cx="3364992" cy="2011680"/>
          </a:xfrm>
          <a:prstGeom prst="rect">
            <a:avLst/>
          </a:prstGeom>
          <a:noFill/>
        </p:spPr>
        <p:txBody>
          <a:bodyPr wrap="square" lIns="0" rIns="0" tIns="0" bIns="0">
            <a:spAutoFit/>
          </a:bodyPr>
          <a:lstStyle/>
          <a:p>
            <a:pPr>
              <a:lnSpc>
                <a:spcPct val="120000"/>
              </a:lnSpc>
              <a:spcAft>
                <a:spcPts val="900"/>
              </a:spcAft>
            </a:pPr>
            <a:r>
              <a:rPr sz="1050" b="1">
                <a:solidFill>
                  <a:srgbClr val="1A1A1A"/>
                </a:solidFill>
                <a:latin typeface="Arial"/>
              </a:rPr>
              <a:t>Many-to-many is real. </a:t>
            </a:r>
            <a:r>
              <a:rPr sz="1050">
                <a:solidFill>
                  <a:srgbClr val="1A1A1A"/>
                </a:solidFill>
                <a:latin typeface="Arial"/>
              </a:rPr>
              <a:t>A taxon relates to many diseases and a disease to many taxa, so the relationship is its own table with foreign keys to both.</a:t>
            </a:r>
          </a:p>
          <a:p>
            <a:pPr>
              <a:lnSpc>
                <a:spcPct val="120000"/>
              </a:lnSpc>
              <a:spcAft>
                <a:spcPts val="900"/>
              </a:spcAft>
            </a:pPr>
            <a:r>
              <a:rPr sz="1050" b="1">
                <a:solidFill>
                  <a:srgbClr val="1A1A1A"/>
                </a:solidFill>
                <a:latin typeface="Arial"/>
              </a:rPr>
              <a:t>Context is not discardable. </a:t>
            </a:r>
            <a:r>
              <a:rPr sz="1050">
                <a:solidFill>
                  <a:srgbClr val="1A1A1A"/>
                </a:solidFill>
                <a:latin typeface="Arial"/>
              </a:rPr>
              <a:t>phenotype_comparisons stores the study, the two phenotype groups, the method, and which group a positive score refers to.</a:t>
            </a:r>
          </a:p>
        </p:txBody>
      </p:sp>
      <p:sp>
        <p:nvSpPr>
          <p:cNvPr id="29" name="Rounded Rectangle 28"/>
          <p:cNvSpPr/>
          <p:nvPr/>
        </p:nvSpPr>
        <p:spPr>
          <a:xfrm>
            <a:off x="493776" y="3712463"/>
            <a:ext cx="8119872" cy="603504"/>
          </a:xfrm>
          <a:prstGeom prst="roundRect">
            <a:avLst>
              <a:gd name="adj" fmla="val 6000"/>
            </a:avLst>
          </a:prstGeom>
          <a:solidFill>
            <a:srgbClr val="FD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76656" y="3904487"/>
            <a:ext cx="219456" cy="219456"/>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A1A1A"/>
                </a:solidFill>
                <a:latin typeface="Arial"/>
              </a:rPr>
              <a:t>!</a:t>
            </a:r>
          </a:p>
        </p:txBody>
      </p:sp>
      <p:sp>
        <p:nvSpPr>
          <p:cNvPr id="31" name="TextBox 30"/>
          <p:cNvSpPr txBox="1"/>
          <p:nvPr/>
        </p:nvSpPr>
        <p:spPr>
          <a:xfrm>
            <a:off x="1005840" y="3813048"/>
            <a:ext cx="7351776" cy="420624"/>
          </a:xfrm>
          <a:prstGeom prst="rect">
            <a:avLst/>
          </a:prstGeom>
          <a:noFill/>
        </p:spPr>
        <p:txBody>
          <a:bodyPr wrap="square" lIns="0" rIns="0" tIns="0" bIns="0" anchor="t">
            <a:spAutoFit/>
          </a:bodyPr>
          <a:lstStyle/>
          <a:p>
            <a:pPr algn="l">
              <a:lnSpc>
                <a:spcPct val="116000"/>
              </a:lnSpc>
            </a:pPr>
            <a:r>
              <a:rPr sz="1000" b="0" i="0">
                <a:solidFill>
                  <a:srgbClr val="1A1A1A"/>
                </a:solidFill>
                <a:latin typeface="Arial"/>
              </a:rPr>
              <a:t>A negative LDA score is not intrinsically “protective” — its meaning depends on the order of the comparison. The schema stores that order explicitly, so sign cannot be misread downstream.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Engineering safeguards</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6</a:t>
            </a:r>
          </a:p>
        </p:txBody>
      </p:sp>
      <p:sp>
        <p:nvSpPr>
          <p:cNvPr id="5" name="Rounded Rectangle 4"/>
          <p:cNvSpPr/>
          <p:nvPr/>
        </p:nvSpPr>
        <p:spPr>
          <a:xfrm>
            <a:off x="493776" y="1261872"/>
            <a:ext cx="3931920" cy="1207008"/>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31520" y="1481328"/>
            <a:ext cx="219456" cy="219456"/>
          </a:xfrm>
          <a:prstGeom prst="ellipse">
            <a:avLst/>
          </a:prstGeom>
          <a:solidFill>
            <a:srgbClr val="580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7" name="TextBox 6"/>
          <p:cNvSpPr txBox="1"/>
          <p:nvPr/>
        </p:nvSpPr>
        <p:spPr>
          <a:xfrm>
            <a:off x="1078992" y="1490472"/>
            <a:ext cx="3145536" cy="201168"/>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Idempotent by key</a:t>
            </a:r>
          </a:p>
        </p:txBody>
      </p:sp>
      <p:sp>
        <p:nvSpPr>
          <p:cNvPr id="8" name="TextBox 7"/>
          <p:cNvSpPr txBox="1"/>
          <p:nvPr/>
        </p:nvSpPr>
        <p:spPr>
          <a:xfrm>
            <a:off x="731520" y="1828800"/>
            <a:ext cx="3456432" cy="566928"/>
          </a:xfrm>
          <a:prstGeom prst="rect">
            <a:avLst/>
          </a:prstGeom>
          <a:noFill/>
        </p:spPr>
        <p:txBody>
          <a:bodyPr wrap="square" lIns="0" rIns="0" tIns="0" bIns="0" anchor="t">
            <a:spAutoFit/>
          </a:bodyPr>
          <a:lstStyle/>
          <a:p>
            <a:pPr algn="l">
              <a:lnSpc>
                <a:spcPct val="116000"/>
              </a:lnSpc>
            </a:pPr>
            <a:r>
              <a:rPr sz="950" b="0" i="0">
                <a:solidFill>
                  <a:srgbClr val="5A5A5A"/>
                </a:solidFill>
                <a:latin typeface="Arial"/>
              </a:rPr>
              <a:t>Every table has a natural unique key, so re-running a loader updates in place rather than duplicating.</a:t>
            </a:r>
          </a:p>
        </p:txBody>
      </p:sp>
      <p:sp>
        <p:nvSpPr>
          <p:cNvPr id="9" name="Rounded Rectangle 8"/>
          <p:cNvSpPr/>
          <p:nvPr/>
        </p:nvSpPr>
        <p:spPr>
          <a:xfrm>
            <a:off x="4681728" y="1261872"/>
            <a:ext cx="3931920" cy="1207008"/>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19472" y="1481328"/>
            <a:ext cx="219456" cy="219456"/>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11" name="TextBox 10"/>
          <p:cNvSpPr txBox="1"/>
          <p:nvPr/>
        </p:nvSpPr>
        <p:spPr>
          <a:xfrm>
            <a:off x="5266944" y="1490472"/>
            <a:ext cx="3145536" cy="201168"/>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Transactional rollback</a:t>
            </a:r>
          </a:p>
        </p:txBody>
      </p:sp>
      <p:sp>
        <p:nvSpPr>
          <p:cNvPr id="12" name="TextBox 11"/>
          <p:cNvSpPr txBox="1"/>
          <p:nvPr/>
        </p:nvSpPr>
        <p:spPr>
          <a:xfrm>
            <a:off x="4919472" y="1828800"/>
            <a:ext cx="3456432" cy="566928"/>
          </a:xfrm>
          <a:prstGeom prst="rect">
            <a:avLst/>
          </a:prstGeom>
          <a:noFill/>
        </p:spPr>
        <p:txBody>
          <a:bodyPr wrap="square" lIns="0" rIns="0" tIns="0" bIns="0" anchor="t">
            <a:spAutoFit/>
          </a:bodyPr>
          <a:lstStyle/>
          <a:p>
            <a:pPr algn="l">
              <a:lnSpc>
                <a:spcPct val="116000"/>
              </a:lnSpc>
            </a:pPr>
            <a:r>
              <a:rPr sz="950" b="0" i="0">
                <a:solidFill>
                  <a:srgbClr val="5A5A5A"/>
                </a:solidFill>
                <a:latin typeface="Arial"/>
              </a:rPr>
              <a:t>A failed load rolls back its data changes and retains the error message in its audit row.</a:t>
            </a:r>
          </a:p>
        </p:txBody>
      </p:sp>
      <p:sp>
        <p:nvSpPr>
          <p:cNvPr id="13" name="Rounded Rectangle 12"/>
          <p:cNvSpPr/>
          <p:nvPr/>
        </p:nvSpPr>
        <p:spPr>
          <a:xfrm>
            <a:off x="493776" y="2615184"/>
            <a:ext cx="3931920" cy="1207008"/>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31520" y="2834640"/>
            <a:ext cx="219456" cy="219456"/>
          </a:xfrm>
          <a:prstGeom prst="ellipse">
            <a:avLst/>
          </a:prstGeom>
          <a:solidFill>
            <a:srgbClr val="80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15" name="TextBox 14"/>
          <p:cNvSpPr txBox="1"/>
          <p:nvPr/>
        </p:nvSpPr>
        <p:spPr>
          <a:xfrm>
            <a:off x="1078992" y="2843784"/>
            <a:ext cx="3145536" cy="201168"/>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Fill-only enrichment</a:t>
            </a:r>
          </a:p>
        </p:txBody>
      </p:sp>
      <p:sp>
        <p:nvSpPr>
          <p:cNvPr id="16" name="TextBox 15"/>
          <p:cNvSpPr txBox="1"/>
          <p:nvPr/>
        </p:nvSpPr>
        <p:spPr>
          <a:xfrm>
            <a:off x="731520" y="3182112"/>
            <a:ext cx="3456432" cy="566928"/>
          </a:xfrm>
          <a:prstGeom prst="rect">
            <a:avLst/>
          </a:prstGeom>
          <a:noFill/>
        </p:spPr>
        <p:txBody>
          <a:bodyPr wrap="square" lIns="0" rIns="0" tIns="0" bIns="0" anchor="t">
            <a:spAutoFit/>
          </a:bodyPr>
          <a:lstStyle/>
          <a:p>
            <a:pPr algn="l">
              <a:lnSpc>
                <a:spcPct val="116000"/>
              </a:lnSpc>
            </a:pPr>
            <a:r>
              <a:rPr sz="950" b="0" i="0">
                <a:solidFill>
                  <a:srgbClr val="5A5A5A"/>
                </a:solidFill>
                <a:latin typeface="Arial"/>
              </a:rPr>
              <a:t>NCBI and MiMeDB backfills touch NULL fields only; curated values are never overwritten without --overwrite.</a:t>
            </a:r>
          </a:p>
        </p:txBody>
      </p:sp>
      <p:sp>
        <p:nvSpPr>
          <p:cNvPr id="17" name="Rounded Rectangle 16"/>
          <p:cNvSpPr/>
          <p:nvPr/>
        </p:nvSpPr>
        <p:spPr>
          <a:xfrm>
            <a:off x="4681728" y="2615184"/>
            <a:ext cx="3931920" cy="1207008"/>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919472" y="2834640"/>
            <a:ext cx="219456" cy="219456"/>
          </a:xfrm>
          <a:prstGeom prst="ellipse">
            <a:avLst/>
          </a:prstGeom>
          <a:solidFill>
            <a:srgbClr val="00DCA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19" name="TextBox 18"/>
          <p:cNvSpPr txBox="1"/>
          <p:nvPr/>
        </p:nvSpPr>
        <p:spPr>
          <a:xfrm>
            <a:off x="5266944" y="2843784"/>
            <a:ext cx="3145536" cy="201168"/>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Complete audit trail</a:t>
            </a:r>
          </a:p>
        </p:txBody>
      </p:sp>
      <p:sp>
        <p:nvSpPr>
          <p:cNvPr id="20" name="TextBox 19"/>
          <p:cNvSpPr txBox="1"/>
          <p:nvPr/>
        </p:nvSpPr>
        <p:spPr>
          <a:xfrm>
            <a:off x="4919472" y="3182112"/>
            <a:ext cx="3456432" cy="566928"/>
          </a:xfrm>
          <a:prstGeom prst="rect">
            <a:avLst/>
          </a:prstGeom>
          <a:noFill/>
        </p:spPr>
        <p:txBody>
          <a:bodyPr wrap="square" lIns="0" rIns="0" tIns="0" bIns="0" anchor="t">
            <a:spAutoFit/>
          </a:bodyPr>
          <a:lstStyle/>
          <a:p>
            <a:pPr algn="l">
              <a:lnSpc>
                <a:spcPct val="116000"/>
              </a:lnSpc>
            </a:pPr>
            <a:r>
              <a:rPr sz="950" b="0" i="0">
                <a:solidFill>
                  <a:srgbClr val="5A5A5A"/>
                </a:solidFill>
                <a:latin typeface="Arial"/>
              </a:rPr>
              <a:t>Rows read, inserted, updated and skipped are recorded for all 61 runs to date, including the 2 that rolled back.</a:t>
            </a:r>
          </a:p>
        </p:txBody>
      </p:sp>
      <p:sp>
        <p:nvSpPr>
          <p:cNvPr id="21" name="Oval 20"/>
          <p:cNvSpPr/>
          <p:nvPr/>
        </p:nvSpPr>
        <p:spPr>
          <a:xfrm>
            <a:off x="493776" y="4005072"/>
            <a:ext cx="137160" cy="13716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22" name="TextBox 21"/>
          <p:cNvSpPr txBox="1"/>
          <p:nvPr/>
        </p:nvSpPr>
        <p:spPr>
          <a:xfrm>
            <a:off x="768096" y="3931920"/>
            <a:ext cx="7571232" cy="603504"/>
          </a:xfrm>
          <a:prstGeom prst="rect">
            <a:avLst/>
          </a:prstGeom>
          <a:noFill/>
        </p:spPr>
        <p:txBody>
          <a:bodyPr wrap="square" lIns="0" rIns="0" tIns="0" bIns="0" anchor="t">
            <a:spAutoFit/>
          </a:bodyPr>
          <a:lstStyle/>
          <a:p>
            <a:pPr algn="l">
              <a:lnSpc>
                <a:spcPct val="120000"/>
              </a:lnSpc>
            </a:pPr>
            <a:r>
              <a:rPr sz="1100" b="0" i="1">
                <a:solidFill>
                  <a:srgbClr val="1A1A1A"/>
                </a:solidFill>
                <a:latin typeface="Arial"/>
              </a:rPr>
              <a:t>NULL is treated as unknown, not as a negative result: MiMeDB only ever records a positive pathogen flag, so absence carries no evidence and is never stored as zero.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Current database state</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FFFFFF"/>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FFFFFF"/>
                </a:solidFill>
                <a:latin typeface="Arial"/>
              </a:rPr>
              <a:t>7</a:t>
            </a:r>
          </a:p>
        </p:txBody>
      </p:sp>
      <p:sp>
        <p:nvSpPr>
          <p:cNvPr id="5" name="Rounded Rectangle 4"/>
          <p:cNvSpPr/>
          <p:nvPr/>
        </p:nvSpPr>
        <p:spPr>
          <a:xfrm>
            <a:off x="493776" y="1225296"/>
            <a:ext cx="2535936" cy="1170432"/>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13232" y="1371600"/>
            <a:ext cx="2115312" cy="438912"/>
          </a:xfrm>
          <a:prstGeom prst="rect">
            <a:avLst/>
          </a:prstGeom>
          <a:noFill/>
        </p:spPr>
        <p:txBody>
          <a:bodyPr wrap="square" lIns="0" rIns="0" tIns="0" bIns="0" anchor="t">
            <a:spAutoFit/>
          </a:bodyPr>
          <a:lstStyle/>
          <a:p>
            <a:pPr algn="l">
              <a:lnSpc>
                <a:spcPct val="100000"/>
              </a:lnSpc>
            </a:pPr>
            <a:r>
              <a:rPr sz="2600" b="1" i="0">
                <a:solidFill>
                  <a:srgbClr val="00DCA5"/>
                </a:solidFill>
                <a:latin typeface="Arial"/>
              </a:rPr>
              <a:t>6,019</a:t>
            </a:r>
          </a:p>
        </p:txBody>
      </p:sp>
      <p:sp>
        <p:nvSpPr>
          <p:cNvPr id="7" name="TextBox 6"/>
          <p:cNvSpPr txBox="1"/>
          <p:nvPr/>
        </p:nvSpPr>
        <p:spPr>
          <a:xfrm>
            <a:off x="713232" y="1865376"/>
            <a:ext cx="2115312" cy="182880"/>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TAXA</a:t>
            </a:r>
          </a:p>
        </p:txBody>
      </p:sp>
      <p:sp>
        <p:nvSpPr>
          <p:cNvPr id="8" name="TextBox 7"/>
          <p:cNvSpPr txBox="1"/>
          <p:nvPr/>
        </p:nvSpPr>
        <p:spPr>
          <a:xfrm>
            <a:off x="713232" y="2075688"/>
            <a:ext cx="2151888" cy="201168"/>
          </a:xfrm>
          <a:prstGeom prst="rect">
            <a:avLst/>
          </a:prstGeom>
          <a:noFill/>
        </p:spPr>
        <p:txBody>
          <a:bodyPr wrap="square" lIns="0" rIns="0" tIns="0" bIns="0" anchor="t">
            <a:spAutoFit/>
          </a:bodyPr>
          <a:lstStyle/>
          <a:p>
            <a:pPr algn="l">
              <a:lnSpc>
                <a:spcPct val="100000"/>
              </a:lnSpc>
            </a:pPr>
            <a:r>
              <a:rPr sz="850" b="0" i="0">
                <a:solidFill>
                  <a:srgbClr val="C9A6E8"/>
                </a:solidFill>
                <a:latin typeface="Arial"/>
              </a:rPr>
              <a:t>3,990 species · 2,029 genera</a:t>
            </a:r>
          </a:p>
        </p:txBody>
      </p:sp>
      <p:sp>
        <p:nvSpPr>
          <p:cNvPr id="9" name="Rounded Rectangle 8"/>
          <p:cNvSpPr/>
          <p:nvPr/>
        </p:nvSpPr>
        <p:spPr>
          <a:xfrm>
            <a:off x="3285744" y="1225296"/>
            <a:ext cx="2535936" cy="1170432"/>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05200" y="1371600"/>
            <a:ext cx="2115312" cy="438912"/>
          </a:xfrm>
          <a:prstGeom prst="rect">
            <a:avLst/>
          </a:prstGeom>
          <a:noFill/>
        </p:spPr>
        <p:txBody>
          <a:bodyPr wrap="square" lIns="0" rIns="0" tIns="0" bIns="0" anchor="t">
            <a:spAutoFit/>
          </a:bodyPr>
          <a:lstStyle/>
          <a:p>
            <a:pPr algn="l">
              <a:lnSpc>
                <a:spcPct val="100000"/>
              </a:lnSpc>
            </a:pPr>
            <a:r>
              <a:rPr sz="2600" b="1" i="0">
                <a:solidFill>
                  <a:srgbClr val="00DCA5"/>
                </a:solidFill>
                <a:latin typeface="Arial"/>
              </a:rPr>
              <a:t>159</a:t>
            </a:r>
          </a:p>
        </p:txBody>
      </p:sp>
      <p:sp>
        <p:nvSpPr>
          <p:cNvPr id="11" name="TextBox 10"/>
          <p:cNvSpPr txBox="1"/>
          <p:nvPr/>
        </p:nvSpPr>
        <p:spPr>
          <a:xfrm>
            <a:off x="3505200" y="1865376"/>
            <a:ext cx="2115312" cy="182880"/>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DISEASES</a:t>
            </a:r>
          </a:p>
        </p:txBody>
      </p:sp>
      <p:sp>
        <p:nvSpPr>
          <p:cNvPr id="12" name="TextBox 11"/>
          <p:cNvSpPr txBox="1"/>
          <p:nvPr/>
        </p:nvSpPr>
        <p:spPr>
          <a:xfrm>
            <a:off x="3505200" y="2075688"/>
            <a:ext cx="2151888" cy="201168"/>
          </a:xfrm>
          <a:prstGeom prst="rect">
            <a:avLst/>
          </a:prstGeom>
          <a:noFill/>
        </p:spPr>
        <p:txBody>
          <a:bodyPr wrap="square" lIns="0" rIns="0" tIns="0" bIns="0" anchor="t">
            <a:spAutoFit/>
          </a:bodyPr>
          <a:lstStyle/>
          <a:p>
            <a:pPr algn="l">
              <a:lnSpc>
                <a:spcPct val="100000"/>
              </a:lnSpc>
            </a:pPr>
            <a:r>
              <a:rPr sz="850" b="0" i="0">
                <a:solidFill>
                  <a:srgbClr val="C9A6E8"/>
                </a:solidFill>
                <a:latin typeface="Arial"/>
              </a:rPr>
              <a:t>MeSH-identified phenotypes</a:t>
            </a:r>
          </a:p>
        </p:txBody>
      </p:sp>
      <p:sp>
        <p:nvSpPr>
          <p:cNvPr id="13" name="Rounded Rectangle 12"/>
          <p:cNvSpPr/>
          <p:nvPr/>
        </p:nvSpPr>
        <p:spPr>
          <a:xfrm>
            <a:off x="6077712" y="1225296"/>
            <a:ext cx="2535936" cy="1170432"/>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97168" y="1371600"/>
            <a:ext cx="2115312" cy="438912"/>
          </a:xfrm>
          <a:prstGeom prst="rect">
            <a:avLst/>
          </a:prstGeom>
          <a:noFill/>
        </p:spPr>
        <p:txBody>
          <a:bodyPr wrap="square" lIns="0" rIns="0" tIns="0" bIns="0" anchor="t">
            <a:spAutoFit/>
          </a:bodyPr>
          <a:lstStyle/>
          <a:p>
            <a:pPr algn="l">
              <a:lnSpc>
                <a:spcPct val="100000"/>
              </a:lnSpc>
            </a:pPr>
            <a:r>
              <a:rPr sz="2600" b="1" i="0">
                <a:solidFill>
                  <a:srgbClr val="00DCA5"/>
                </a:solidFill>
                <a:latin typeface="Arial"/>
              </a:rPr>
              <a:t>314</a:t>
            </a:r>
          </a:p>
        </p:txBody>
      </p:sp>
      <p:sp>
        <p:nvSpPr>
          <p:cNvPr id="15" name="TextBox 14"/>
          <p:cNvSpPr txBox="1"/>
          <p:nvPr/>
        </p:nvSpPr>
        <p:spPr>
          <a:xfrm>
            <a:off x="6297168" y="1865376"/>
            <a:ext cx="2115312" cy="182880"/>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STUDIES</a:t>
            </a:r>
          </a:p>
        </p:txBody>
      </p:sp>
      <p:sp>
        <p:nvSpPr>
          <p:cNvPr id="16" name="TextBox 15"/>
          <p:cNvSpPr txBox="1"/>
          <p:nvPr/>
        </p:nvSpPr>
        <p:spPr>
          <a:xfrm>
            <a:off x="6297168" y="2075688"/>
            <a:ext cx="2151888" cy="201168"/>
          </a:xfrm>
          <a:prstGeom prst="rect">
            <a:avLst/>
          </a:prstGeom>
          <a:noFill/>
        </p:spPr>
        <p:txBody>
          <a:bodyPr wrap="square" lIns="0" rIns="0" tIns="0" bIns="0" anchor="t">
            <a:spAutoFit/>
          </a:bodyPr>
          <a:lstStyle/>
          <a:p>
            <a:pPr algn="l">
              <a:lnSpc>
                <a:spcPct val="100000"/>
              </a:lnSpc>
            </a:pPr>
            <a:r>
              <a:rPr sz="850" b="0" i="0">
                <a:solidFill>
                  <a:srgbClr val="C9A6E8"/>
                </a:solidFill>
                <a:latin typeface="Arial"/>
              </a:rPr>
              <a:t>273 curated · 41 qualified</a:t>
            </a:r>
          </a:p>
        </p:txBody>
      </p:sp>
      <p:sp>
        <p:nvSpPr>
          <p:cNvPr id="17" name="Rounded Rectangle 16"/>
          <p:cNvSpPr/>
          <p:nvPr/>
        </p:nvSpPr>
        <p:spPr>
          <a:xfrm>
            <a:off x="493776" y="2542032"/>
            <a:ext cx="2535936" cy="1170432"/>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3232" y="2688336"/>
            <a:ext cx="2115312" cy="438912"/>
          </a:xfrm>
          <a:prstGeom prst="rect">
            <a:avLst/>
          </a:prstGeom>
          <a:noFill/>
        </p:spPr>
        <p:txBody>
          <a:bodyPr wrap="square" lIns="0" rIns="0" tIns="0" bIns="0" anchor="t">
            <a:spAutoFit/>
          </a:bodyPr>
          <a:lstStyle/>
          <a:p>
            <a:pPr algn="l">
              <a:lnSpc>
                <a:spcPct val="100000"/>
              </a:lnSpc>
            </a:pPr>
            <a:r>
              <a:rPr sz="2600" b="1" i="0">
                <a:solidFill>
                  <a:srgbClr val="FF9300"/>
                </a:solidFill>
                <a:latin typeface="Arial"/>
              </a:rPr>
              <a:t>16,388</a:t>
            </a:r>
          </a:p>
        </p:txBody>
      </p:sp>
      <p:sp>
        <p:nvSpPr>
          <p:cNvPr id="19" name="TextBox 18"/>
          <p:cNvSpPr txBox="1"/>
          <p:nvPr/>
        </p:nvSpPr>
        <p:spPr>
          <a:xfrm>
            <a:off x="713232" y="3182112"/>
            <a:ext cx="2115312" cy="182880"/>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ASSOCIATIONS</a:t>
            </a:r>
          </a:p>
        </p:txBody>
      </p:sp>
      <p:sp>
        <p:nvSpPr>
          <p:cNvPr id="20" name="TextBox 19"/>
          <p:cNvSpPr txBox="1"/>
          <p:nvPr/>
        </p:nvSpPr>
        <p:spPr>
          <a:xfrm>
            <a:off x="713232" y="3392424"/>
            <a:ext cx="2151888" cy="201168"/>
          </a:xfrm>
          <a:prstGeom prst="rect">
            <a:avLst/>
          </a:prstGeom>
          <a:noFill/>
        </p:spPr>
        <p:txBody>
          <a:bodyPr wrap="square" lIns="0" rIns="0" tIns="0" bIns="0" anchor="t">
            <a:spAutoFit/>
          </a:bodyPr>
          <a:lstStyle/>
          <a:p>
            <a:pPr algn="l">
              <a:lnSpc>
                <a:spcPct val="100000"/>
              </a:lnSpc>
            </a:pPr>
            <a:r>
              <a:rPr sz="850" b="0" i="0">
                <a:solidFill>
                  <a:srgbClr val="C9A6E8"/>
                </a:solidFill>
                <a:latin typeface="Arial"/>
              </a:rPr>
              <a:t>across 11,292 unique pairs</a:t>
            </a:r>
          </a:p>
        </p:txBody>
      </p:sp>
      <p:sp>
        <p:nvSpPr>
          <p:cNvPr id="21" name="Rounded Rectangle 20"/>
          <p:cNvSpPr/>
          <p:nvPr/>
        </p:nvSpPr>
        <p:spPr>
          <a:xfrm>
            <a:off x="3285744" y="2542032"/>
            <a:ext cx="2535936" cy="1170432"/>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505200" y="2688336"/>
            <a:ext cx="2115312" cy="438912"/>
          </a:xfrm>
          <a:prstGeom prst="rect">
            <a:avLst/>
          </a:prstGeom>
          <a:noFill/>
        </p:spPr>
        <p:txBody>
          <a:bodyPr wrap="square" lIns="0" rIns="0" tIns="0" bIns="0" anchor="t">
            <a:spAutoFit/>
          </a:bodyPr>
          <a:lstStyle/>
          <a:p>
            <a:pPr algn="l">
              <a:lnSpc>
                <a:spcPct val="100000"/>
              </a:lnSpc>
            </a:pPr>
            <a:r>
              <a:rPr sz="2600" b="1" i="0">
                <a:solidFill>
                  <a:srgbClr val="FF9300"/>
                </a:solidFill>
                <a:latin typeface="Arial"/>
              </a:rPr>
              <a:t>34,229</a:t>
            </a:r>
          </a:p>
        </p:txBody>
      </p:sp>
      <p:sp>
        <p:nvSpPr>
          <p:cNvPr id="23" name="TextBox 22"/>
          <p:cNvSpPr txBox="1"/>
          <p:nvPr/>
        </p:nvSpPr>
        <p:spPr>
          <a:xfrm>
            <a:off x="3505200" y="3182112"/>
            <a:ext cx="2115312" cy="182880"/>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SAMPLES</a:t>
            </a:r>
          </a:p>
        </p:txBody>
      </p:sp>
      <p:sp>
        <p:nvSpPr>
          <p:cNvPr id="24" name="TextBox 23"/>
          <p:cNvSpPr txBox="1"/>
          <p:nvPr/>
        </p:nvSpPr>
        <p:spPr>
          <a:xfrm>
            <a:off x="3505200" y="3392424"/>
            <a:ext cx="2151888" cy="201168"/>
          </a:xfrm>
          <a:prstGeom prst="rect">
            <a:avLst/>
          </a:prstGeom>
          <a:noFill/>
        </p:spPr>
        <p:txBody>
          <a:bodyPr wrap="square" lIns="0" rIns="0" tIns="0" bIns="0" anchor="t">
            <a:spAutoFit/>
          </a:bodyPr>
          <a:lstStyle/>
          <a:p>
            <a:pPr algn="l">
              <a:lnSpc>
                <a:spcPct val="100000"/>
              </a:lnSpc>
            </a:pPr>
            <a:r>
              <a:rPr sz="850" b="0" i="0">
                <a:solidFill>
                  <a:srgbClr val="C9A6E8"/>
                </a:solidFill>
                <a:latin typeface="Arial"/>
              </a:rPr>
              <a:t>48 countries represented</a:t>
            </a:r>
          </a:p>
        </p:txBody>
      </p:sp>
      <p:sp>
        <p:nvSpPr>
          <p:cNvPr id="25" name="Rounded Rectangle 24"/>
          <p:cNvSpPr/>
          <p:nvPr/>
        </p:nvSpPr>
        <p:spPr>
          <a:xfrm>
            <a:off x="6077712" y="2542032"/>
            <a:ext cx="2535936" cy="1170432"/>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97168" y="2688336"/>
            <a:ext cx="2115312" cy="438912"/>
          </a:xfrm>
          <a:prstGeom prst="rect">
            <a:avLst/>
          </a:prstGeom>
          <a:noFill/>
        </p:spPr>
        <p:txBody>
          <a:bodyPr wrap="square" lIns="0" rIns="0" tIns="0" bIns="0" anchor="t">
            <a:spAutoFit/>
          </a:bodyPr>
          <a:lstStyle/>
          <a:p>
            <a:pPr algn="l">
              <a:lnSpc>
                <a:spcPct val="100000"/>
              </a:lnSpc>
            </a:pPr>
            <a:r>
              <a:rPr sz="2600" b="1" i="0">
                <a:solidFill>
                  <a:srgbClr val="FF9300"/>
                </a:solidFill>
                <a:latin typeface="Arial"/>
              </a:rPr>
              <a:t>2,582,952</a:t>
            </a:r>
          </a:p>
        </p:txBody>
      </p:sp>
      <p:sp>
        <p:nvSpPr>
          <p:cNvPr id="27" name="TextBox 26"/>
          <p:cNvSpPr txBox="1"/>
          <p:nvPr/>
        </p:nvSpPr>
        <p:spPr>
          <a:xfrm>
            <a:off x="6297168" y="3182112"/>
            <a:ext cx="2115312" cy="182880"/>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ABUNDANCE ROWS</a:t>
            </a:r>
          </a:p>
        </p:txBody>
      </p:sp>
      <p:sp>
        <p:nvSpPr>
          <p:cNvPr id="28" name="TextBox 27"/>
          <p:cNvSpPr txBox="1"/>
          <p:nvPr/>
        </p:nvSpPr>
        <p:spPr>
          <a:xfrm>
            <a:off x="6297168" y="3392424"/>
            <a:ext cx="2151888" cy="201168"/>
          </a:xfrm>
          <a:prstGeom prst="rect">
            <a:avLst/>
          </a:prstGeom>
          <a:noFill/>
        </p:spPr>
        <p:txBody>
          <a:bodyPr wrap="square" lIns="0" rIns="0" tIns="0" bIns="0" anchor="t">
            <a:spAutoFit/>
          </a:bodyPr>
          <a:lstStyle/>
          <a:p>
            <a:pPr algn="l">
              <a:lnSpc>
                <a:spcPct val="100000"/>
              </a:lnSpc>
            </a:pPr>
            <a:r>
              <a:rPr sz="850" b="0" i="0">
                <a:solidFill>
                  <a:srgbClr val="C9A6E8"/>
                </a:solidFill>
                <a:latin typeface="Arial"/>
              </a:rPr>
              <a:t>29,863 samples, two ranks</a:t>
            </a:r>
          </a:p>
        </p:txBody>
      </p:sp>
      <p:sp>
        <p:nvSpPr>
          <p:cNvPr id="29" name="TextBox 28"/>
          <p:cNvSpPr txBox="1"/>
          <p:nvPr/>
        </p:nvSpPr>
        <p:spPr>
          <a:xfrm>
            <a:off x="493776" y="3968496"/>
            <a:ext cx="8119872" cy="219456"/>
          </a:xfrm>
          <a:prstGeom prst="rect">
            <a:avLst/>
          </a:prstGeom>
          <a:noFill/>
        </p:spPr>
        <p:txBody>
          <a:bodyPr wrap="square" lIns="0" rIns="0" tIns="0" bIns="0" anchor="t">
            <a:spAutoFit/>
          </a:bodyPr>
          <a:lstStyle/>
          <a:p>
            <a:pPr algn="l">
              <a:lnSpc>
                <a:spcPct val="100000"/>
              </a:lnSpc>
            </a:pPr>
            <a:r>
              <a:rPr sz="1050" b="0" i="1">
                <a:solidFill>
                  <a:srgbClr val="C9A6E8"/>
                </a:solidFill>
                <a:latin typeface="Arial"/>
              </a:rPr>
              <a:t>Integrity checks pass: 0 orphan associations, 0 orphan abundances, and every rank group sums to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Taxon annotation completeness</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8</a:t>
            </a:r>
          </a:p>
        </p:txBody>
      </p:sp>
      <p:graphicFrame>
        <p:nvGraphicFramePr>
          <p:cNvPr id="5" name="Chart 4"/>
          <p:cNvGraphicFramePr>
            <a:graphicFrameLocks noGrp="1"/>
          </p:cNvGraphicFramePr>
          <p:nvPr/>
        </p:nvGraphicFramePr>
        <p:xfrm>
          <a:off x="493776" y="1188720"/>
          <a:ext cx="4754880" cy="2542032"/>
        </p:xfrm>
        <a:graphic>
          <a:graphicData uri="http://schemas.openxmlformats.org/drawingml/2006/chart">
            <c:chart xmlns:c="http://schemas.openxmlformats.org/drawingml/2006/chart" r:id="rId2"/>
          </a:graphicData>
        </a:graphic>
      </p:graphicFrame>
      <p:sp>
        <p:nvSpPr>
          <p:cNvPr id="6" name="TextBox 5"/>
          <p:cNvSpPr txBox="1"/>
          <p:nvPr/>
        </p:nvSpPr>
        <p:spPr>
          <a:xfrm>
            <a:off x="5468112" y="1243584"/>
            <a:ext cx="3145536" cy="201168"/>
          </a:xfrm>
          <a:prstGeom prst="rect">
            <a:avLst/>
          </a:prstGeom>
          <a:noFill/>
        </p:spPr>
        <p:txBody>
          <a:bodyPr wrap="square" lIns="0" rIns="0" tIns="0" bIns="0" anchor="t">
            <a:spAutoFit/>
          </a:bodyPr>
          <a:lstStyle/>
          <a:p>
            <a:pPr algn="l">
              <a:lnSpc>
                <a:spcPct val="100000"/>
              </a:lnSpc>
            </a:pPr>
            <a:r>
              <a:rPr sz="950" b="1" i="0">
                <a:solidFill>
                  <a:srgbClr val="580F8B"/>
                </a:solidFill>
                <a:latin typeface="Arial"/>
              </a:rPr>
              <a:t>READING THIS</a:t>
            </a:r>
          </a:p>
        </p:txBody>
      </p:sp>
      <p:sp>
        <p:nvSpPr>
          <p:cNvPr id="7" name="TextBox 6"/>
          <p:cNvSpPr txBox="1"/>
          <p:nvPr/>
        </p:nvSpPr>
        <p:spPr>
          <a:xfrm>
            <a:off x="5468112" y="1536192"/>
            <a:ext cx="3145536" cy="2103120"/>
          </a:xfrm>
          <a:prstGeom prst="rect">
            <a:avLst/>
          </a:prstGeom>
          <a:noFill/>
        </p:spPr>
        <p:txBody>
          <a:bodyPr wrap="square" lIns="0" rIns="0" tIns="0" bIns="0">
            <a:spAutoFit/>
          </a:bodyPr>
          <a:lstStyle/>
          <a:p>
            <a:pPr>
              <a:lnSpc>
                <a:spcPct val="120000"/>
              </a:lnSpc>
              <a:spcAft>
                <a:spcPts val="900"/>
              </a:spcAft>
            </a:pPr>
            <a:r>
              <a:rPr sz="1050" b="1">
                <a:solidFill>
                  <a:srgbClr val="1A1A1A"/>
                </a:solidFill>
                <a:latin typeface="Arial"/>
              </a:rPr>
              <a:t>Identifiers hold up. </a:t>
            </a:r>
            <a:r>
              <a:rPr sz="1050">
                <a:solidFill>
                  <a:srgbClr val="1A1A1A"/>
                </a:solidFill>
                <a:latin typeface="Arial"/>
              </a:rPr>
              <a:t>5,728 of 6,019 taxa carry an NCBI tax ID, so joins across sources stay reliable even as the table grows.</a:t>
            </a:r>
          </a:p>
          <a:p>
            <a:pPr>
              <a:lnSpc>
                <a:spcPct val="120000"/>
              </a:lnSpc>
              <a:spcAft>
                <a:spcPts val="900"/>
              </a:spcAft>
            </a:pPr>
            <a:r>
              <a:rPr sz="1050" b="1">
                <a:solidFill>
                  <a:srgbClr val="1A1A1A"/>
                </a:solidFill>
                <a:latin typeface="Arial"/>
              </a:rPr>
              <a:t>Two different gaps. </a:t>
            </a:r>
            <a:r>
              <a:rPr sz="1050">
                <a:solidFill>
                  <a:srgbClr val="1A1A1A"/>
                </a:solidFill>
                <a:latin typeface="Arial"/>
              </a:rPr>
              <a:t>Phylum is missing for 1,479 newly loaded species — one enrich-taxonomy run closes that. The metabolic traits are a MiMeDB coverage limit and will not close.</a:t>
            </a:r>
          </a:p>
        </p:txBody>
      </p:sp>
      <p:sp>
        <p:nvSpPr>
          <p:cNvPr id="8" name="Oval 7"/>
          <p:cNvSpPr/>
          <p:nvPr/>
        </p:nvSpPr>
        <p:spPr>
          <a:xfrm>
            <a:off x="493776" y="3931920"/>
            <a:ext cx="137160" cy="13716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9" name="TextBox 8"/>
          <p:cNvSpPr txBox="1"/>
          <p:nvPr/>
        </p:nvSpPr>
        <p:spPr>
          <a:xfrm>
            <a:off x="768096" y="3858768"/>
            <a:ext cx="7571232" cy="603504"/>
          </a:xfrm>
          <a:prstGeom prst="rect">
            <a:avLst/>
          </a:prstGeom>
          <a:noFill/>
        </p:spPr>
        <p:txBody>
          <a:bodyPr wrap="square" lIns="0" rIns="0" tIns="0" bIns="0" anchor="t">
            <a:spAutoFit/>
          </a:bodyPr>
          <a:lstStyle/>
          <a:p>
            <a:pPr algn="l">
              <a:lnSpc>
                <a:spcPct val="120000"/>
              </a:lnSpc>
            </a:pPr>
            <a:r>
              <a:rPr sz="1100" b="0" i="1">
                <a:solidFill>
                  <a:srgbClr val="1A1A1A"/>
                </a:solidFill>
                <a:latin typeface="Arial"/>
              </a:rPr>
              <a:t>The species ingestion added 1,301 taxa faster than the annotation layers could follow. The lineage gap is mechanical and closes with a re-run; the trait gap is a source-coverage limit.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Evidence depth is the real constraint</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9</a:t>
            </a:r>
          </a:p>
        </p:txBody>
      </p:sp>
      <p:graphicFrame>
        <p:nvGraphicFramePr>
          <p:cNvPr id="5" name="Chart 4"/>
          <p:cNvGraphicFramePr>
            <a:graphicFrameLocks noGrp="1"/>
          </p:cNvGraphicFramePr>
          <p:nvPr/>
        </p:nvGraphicFramePr>
        <p:xfrm>
          <a:off x="493776" y="1225296"/>
          <a:ext cx="3803904" cy="2286000"/>
        </p:xfrm>
        <a:graphic>
          <a:graphicData uri="http://schemas.openxmlformats.org/drawingml/2006/chart">
            <c:chart xmlns:c="http://schemas.openxmlformats.org/drawingml/2006/chart" r:id="rId2"/>
          </a:graphicData>
        </a:graphic>
      </p:graphicFrame>
      <p:sp>
        <p:nvSpPr>
          <p:cNvPr id="6" name="TextBox 5"/>
          <p:cNvSpPr txBox="1"/>
          <p:nvPr/>
        </p:nvSpPr>
        <p:spPr>
          <a:xfrm>
            <a:off x="493776" y="3547872"/>
            <a:ext cx="3803904" cy="182880"/>
          </a:xfrm>
          <a:prstGeom prst="rect">
            <a:avLst/>
          </a:prstGeom>
          <a:noFill/>
        </p:spPr>
        <p:txBody>
          <a:bodyPr wrap="square" lIns="0" rIns="0" tIns="0" bIns="0" anchor="t">
            <a:spAutoFit/>
          </a:bodyPr>
          <a:lstStyle/>
          <a:p>
            <a:pPr algn="ctr">
              <a:lnSpc>
                <a:spcPct val="100000"/>
              </a:lnSpc>
            </a:pPr>
            <a:r>
              <a:rPr sz="850" b="0" i="0">
                <a:solidFill>
                  <a:srgbClr val="5A5A5A"/>
                </a:solidFill>
                <a:latin typeface="Arial"/>
              </a:rPr>
              <a:t>Unique taxon–disease pairs by supporting studies</a:t>
            </a:r>
          </a:p>
        </p:txBody>
      </p:sp>
      <p:sp>
        <p:nvSpPr>
          <p:cNvPr id="7" name="Rounded Rectangle 6"/>
          <p:cNvSpPr/>
          <p:nvPr/>
        </p:nvSpPr>
        <p:spPr>
          <a:xfrm>
            <a:off x="4553712" y="1243584"/>
            <a:ext cx="4059936" cy="676656"/>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754880" y="1389888"/>
            <a:ext cx="960120" cy="384048"/>
          </a:xfrm>
          <a:prstGeom prst="rect">
            <a:avLst/>
          </a:prstGeom>
          <a:noFill/>
        </p:spPr>
        <p:txBody>
          <a:bodyPr wrap="square" lIns="0" rIns="0" tIns="0" bIns="0" anchor="t">
            <a:spAutoFit/>
          </a:bodyPr>
          <a:lstStyle/>
          <a:p>
            <a:pPr algn="l">
              <a:lnSpc>
                <a:spcPct val="100000"/>
              </a:lnSpc>
            </a:pPr>
            <a:r>
              <a:rPr sz="1900" b="1" i="0">
                <a:solidFill>
                  <a:srgbClr val="FF9300"/>
                </a:solidFill>
                <a:latin typeface="Arial"/>
              </a:rPr>
              <a:t>81%</a:t>
            </a:r>
          </a:p>
        </p:txBody>
      </p:sp>
      <p:sp>
        <p:nvSpPr>
          <p:cNvPr id="9" name="TextBox 8"/>
          <p:cNvSpPr txBox="1"/>
          <p:nvPr/>
        </p:nvSpPr>
        <p:spPr>
          <a:xfrm>
            <a:off x="5760720" y="1408176"/>
            <a:ext cx="2615184" cy="384048"/>
          </a:xfrm>
          <a:prstGeom prst="rect">
            <a:avLst/>
          </a:prstGeom>
          <a:noFill/>
        </p:spPr>
        <p:txBody>
          <a:bodyPr wrap="square" lIns="0" rIns="0" tIns="0" bIns="0" anchor="t">
            <a:spAutoFit/>
          </a:bodyPr>
          <a:lstStyle/>
          <a:p>
            <a:pPr algn="l">
              <a:lnSpc>
                <a:spcPct val="114000"/>
              </a:lnSpc>
            </a:pPr>
            <a:r>
              <a:rPr sz="1050" b="0" i="0">
                <a:solidFill>
                  <a:srgbClr val="1A1A1A"/>
                </a:solidFill>
                <a:latin typeface="Arial"/>
              </a:rPr>
              <a:t>of pairs rest on a single study</a:t>
            </a:r>
          </a:p>
        </p:txBody>
      </p:sp>
      <p:sp>
        <p:nvSpPr>
          <p:cNvPr id="10" name="Rounded Rectangle 9"/>
          <p:cNvSpPr/>
          <p:nvPr/>
        </p:nvSpPr>
        <p:spPr>
          <a:xfrm>
            <a:off x="4553712" y="2029968"/>
            <a:ext cx="4059936" cy="676656"/>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54880" y="2176272"/>
            <a:ext cx="960120" cy="384048"/>
          </a:xfrm>
          <a:prstGeom prst="rect">
            <a:avLst/>
          </a:prstGeom>
          <a:noFill/>
        </p:spPr>
        <p:txBody>
          <a:bodyPr wrap="square" lIns="0" rIns="0" tIns="0" bIns="0" anchor="t">
            <a:spAutoFit/>
          </a:bodyPr>
          <a:lstStyle/>
          <a:p>
            <a:pPr algn="l">
              <a:lnSpc>
                <a:spcPct val="100000"/>
              </a:lnSpc>
            </a:pPr>
            <a:r>
              <a:rPr sz="1900" b="1" i="0">
                <a:solidFill>
                  <a:srgbClr val="8000FF"/>
                </a:solidFill>
                <a:latin typeface="Arial"/>
              </a:rPr>
              <a:t>1.36</a:t>
            </a:r>
          </a:p>
        </p:txBody>
      </p:sp>
      <p:sp>
        <p:nvSpPr>
          <p:cNvPr id="12" name="TextBox 11"/>
          <p:cNvSpPr txBox="1"/>
          <p:nvPr/>
        </p:nvSpPr>
        <p:spPr>
          <a:xfrm>
            <a:off x="5760720" y="2194560"/>
            <a:ext cx="2615184" cy="384048"/>
          </a:xfrm>
          <a:prstGeom prst="rect">
            <a:avLst/>
          </a:prstGeom>
          <a:noFill/>
        </p:spPr>
        <p:txBody>
          <a:bodyPr wrap="square" lIns="0" rIns="0" tIns="0" bIns="0" anchor="t">
            <a:spAutoFit/>
          </a:bodyPr>
          <a:lstStyle/>
          <a:p>
            <a:pPr algn="l">
              <a:lnSpc>
                <a:spcPct val="114000"/>
              </a:lnSpc>
            </a:pPr>
            <a:r>
              <a:rPr sz="1050" b="0" i="0">
                <a:solidFill>
                  <a:srgbClr val="1A1A1A"/>
                </a:solidFill>
                <a:latin typeface="Arial"/>
              </a:rPr>
              <a:t>mean studies per pair</a:t>
            </a:r>
          </a:p>
        </p:txBody>
      </p:sp>
      <p:sp>
        <p:nvSpPr>
          <p:cNvPr id="13" name="Rounded Rectangle 12"/>
          <p:cNvSpPr/>
          <p:nvPr/>
        </p:nvSpPr>
        <p:spPr>
          <a:xfrm>
            <a:off x="4553712" y="2816352"/>
            <a:ext cx="4059936" cy="676656"/>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2962656"/>
            <a:ext cx="960120" cy="384048"/>
          </a:xfrm>
          <a:prstGeom prst="rect">
            <a:avLst/>
          </a:prstGeom>
          <a:noFill/>
        </p:spPr>
        <p:txBody>
          <a:bodyPr wrap="square" lIns="0" rIns="0" tIns="0" bIns="0" anchor="t">
            <a:spAutoFit/>
          </a:bodyPr>
          <a:lstStyle/>
          <a:p>
            <a:pPr algn="l">
              <a:lnSpc>
                <a:spcPct val="100000"/>
              </a:lnSpc>
            </a:pPr>
            <a:r>
              <a:rPr sz="1900" b="1" i="0">
                <a:solidFill>
                  <a:srgbClr val="FF0057"/>
                </a:solidFill>
                <a:latin typeface="Arial"/>
              </a:rPr>
              <a:t>913</a:t>
            </a:r>
          </a:p>
        </p:txBody>
      </p:sp>
      <p:sp>
        <p:nvSpPr>
          <p:cNvPr id="15" name="TextBox 14"/>
          <p:cNvSpPr txBox="1"/>
          <p:nvPr/>
        </p:nvSpPr>
        <p:spPr>
          <a:xfrm>
            <a:off x="5760720" y="2980944"/>
            <a:ext cx="2615184" cy="384048"/>
          </a:xfrm>
          <a:prstGeom prst="rect">
            <a:avLst/>
          </a:prstGeom>
          <a:noFill/>
        </p:spPr>
        <p:txBody>
          <a:bodyPr wrap="square" lIns="0" rIns="0" tIns="0" bIns="0" anchor="t">
            <a:spAutoFit/>
          </a:bodyPr>
          <a:lstStyle/>
          <a:p>
            <a:pPr algn="l">
              <a:lnSpc>
                <a:spcPct val="114000"/>
              </a:lnSpc>
            </a:pPr>
            <a:r>
              <a:rPr sz="1050" b="0" i="0">
                <a:solidFill>
                  <a:srgbClr val="1A1A1A"/>
                </a:solidFill>
                <a:latin typeface="Arial"/>
              </a:rPr>
              <a:t>pairs where studies disagree on direction</a:t>
            </a:r>
          </a:p>
        </p:txBody>
      </p:sp>
      <p:sp>
        <p:nvSpPr>
          <p:cNvPr id="16" name="Oval 15"/>
          <p:cNvSpPr/>
          <p:nvPr/>
        </p:nvSpPr>
        <p:spPr>
          <a:xfrm>
            <a:off x="493776" y="3858768"/>
            <a:ext cx="137160" cy="13716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17" name="TextBox 16"/>
          <p:cNvSpPr txBox="1"/>
          <p:nvPr/>
        </p:nvSpPr>
        <p:spPr>
          <a:xfrm>
            <a:off x="768096" y="3785615"/>
            <a:ext cx="7571232" cy="603504"/>
          </a:xfrm>
          <a:prstGeom prst="rect">
            <a:avLst/>
          </a:prstGeom>
          <a:noFill/>
        </p:spPr>
        <p:txBody>
          <a:bodyPr wrap="square" lIns="0" rIns="0" tIns="0" bIns="0" anchor="t">
            <a:spAutoFit/>
          </a:bodyPr>
          <a:lstStyle/>
          <a:p>
            <a:pPr algn="l">
              <a:lnSpc>
                <a:spcPct val="120000"/>
              </a:lnSpc>
            </a:pPr>
            <a:r>
              <a:rPr sz="1100" b="0" i="1">
                <a:solidFill>
                  <a:srgbClr val="1A1A1A"/>
                </a:solidFill>
                <a:latin typeface="Arial"/>
              </a:rPr>
              <a:t>Two thirds of the 913 conflicts involve three or fewer studies, but 172 disagree across five or more. The agreement ratio in v_taxon_disease_evidence separates the two rather than forcing a consensus.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Highest-confidence recovered signals</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10</a:t>
            </a:r>
          </a:p>
        </p:txBody>
      </p:sp>
      <p:graphicFrame>
        <p:nvGraphicFramePr>
          <p:cNvPr id="5" name="Table 4"/>
          <p:cNvGraphicFramePr>
            <a:graphicFrameLocks noGrp="1"/>
          </p:cNvGraphicFramePr>
          <p:nvPr/>
        </p:nvGraphicFramePr>
        <p:xfrm>
          <a:off x="493776" y="1225296"/>
          <a:ext cx="7278624" cy="2432304"/>
        </p:xfrm>
        <a:graphic>
          <a:graphicData uri="http://schemas.openxmlformats.org/drawingml/2006/table">
            <a:tbl>
              <a:tblPr bandRow="1">
                <a:tableStyleId>{5C22544A-7EE6-4342-B048-85BDC9FD1C3A}</a:tableStyleId>
              </a:tblPr>
              <a:tblGrid>
                <a:gridCol w="1719072"/>
                <a:gridCol w="1792224"/>
                <a:gridCol w="768096"/>
                <a:gridCol w="1024128"/>
                <a:gridCol w="1024128"/>
                <a:gridCol w="950976"/>
              </a:tblGrid>
              <a:tr h="347472">
                <a:tc>
                  <a:txBody>
                    <a:bodyPr/>
                    <a:lstStyle/>
                    <a:p>
                      <a:pPr algn="l"/>
                      <a:r>
                        <a:rPr sz="900" b="1">
                          <a:solidFill>
                            <a:srgbClr val="FFFFFF"/>
                          </a:solidFill>
                          <a:latin typeface="Arial"/>
                        </a:rPr>
                        <a:t>Taxon</a:t>
                      </a:r>
                    </a:p>
                  </a:txBody>
                  <a:tcPr marL="82296" marR="82296" anchor="ctr">
                    <a:solidFill>
                      <a:srgbClr val="580F8B"/>
                    </a:solidFill>
                  </a:tcPr>
                </a:tc>
                <a:tc>
                  <a:txBody>
                    <a:bodyPr/>
                    <a:lstStyle/>
                    <a:p>
                      <a:pPr algn="l"/>
                      <a:r>
                        <a:rPr sz="900" b="1">
                          <a:solidFill>
                            <a:srgbClr val="FFFFFF"/>
                          </a:solidFill>
                          <a:latin typeface="Arial"/>
                        </a:rPr>
                        <a:t>Disease</a:t>
                      </a:r>
                    </a:p>
                  </a:txBody>
                  <a:tcPr marL="82296" marR="82296" anchor="ctr">
                    <a:solidFill>
                      <a:srgbClr val="580F8B"/>
                    </a:solidFill>
                  </a:tcPr>
                </a:tc>
                <a:tc>
                  <a:txBody>
                    <a:bodyPr/>
                    <a:lstStyle/>
                    <a:p>
                      <a:pPr algn="ctr"/>
                      <a:r>
                        <a:rPr sz="900" b="1">
                          <a:solidFill>
                            <a:srgbClr val="FFFFFF"/>
                          </a:solidFill>
                          <a:latin typeface="Arial"/>
                        </a:rPr>
                        <a:t>Studies</a:t>
                      </a:r>
                    </a:p>
                  </a:txBody>
                  <a:tcPr marL="82296" marR="82296" anchor="ctr">
                    <a:solidFill>
                      <a:srgbClr val="580F8B"/>
                    </a:solidFill>
                  </a:tcPr>
                </a:tc>
                <a:tc>
                  <a:txBody>
                    <a:bodyPr/>
                    <a:lstStyle/>
                    <a:p>
                      <a:pPr algn="ctr"/>
                      <a:r>
                        <a:rPr sz="900" b="1">
                          <a:solidFill>
                            <a:srgbClr val="FFFFFF"/>
                          </a:solidFill>
                          <a:latin typeface="Arial"/>
                        </a:rPr>
                        <a:t>Direction</a:t>
                      </a:r>
                    </a:p>
                  </a:txBody>
                  <a:tcPr marL="82296" marR="82296" anchor="ctr">
                    <a:solidFill>
                      <a:srgbClr val="580F8B"/>
                    </a:solidFill>
                  </a:tcPr>
                </a:tc>
                <a:tc>
                  <a:txBody>
                    <a:bodyPr/>
                    <a:lstStyle/>
                    <a:p>
                      <a:pPr algn="ctr"/>
                      <a:r>
                        <a:rPr sz="900" b="1">
                          <a:solidFill>
                            <a:srgbClr val="FFFFFF"/>
                          </a:solidFill>
                          <a:latin typeface="Arial"/>
                        </a:rPr>
                        <a:t>Agreement</a:t>
                      </a:r>
                    </a:p>
                  </a:txBody>
                  <a:tcPr marL="82296" marR="82296" anchor="ctr">
                    <a:solidFill>
                      <a:srgbClr val="580F8B"/>
                    </a:solidFill>
                  </a:tcPr>
                </a:tc>
                <a:tc>
                  <a:txBody>
                    <a:bodyPr/>
                    <a:lstStyle/>
                    <a:p>
                      <a:pPr algn="ctr"/>
                      <a:r>
                        <a:rPr sz="900" b="1">
                          <a:solidFill>
                            <a:srgbClr val="FFFFFF"/>
                          </a:solidFill>
                          <a:latin typeface="Arial"/>
                        </a:rPr>
                        <a:t>Mean |LDA|</a:t>
                      </a:r>
                    </a:p>
                  </a:txBody>
                  <a:tcPr marL="82296" marR="82296" anchor="ctr">
                    <a:solidFill>
                      <a:srgbClr val="580F8B"/>
                    </a:solidFill>
                  </a:tcPr>
                </a:tc>
              </a:tr>
              <a:tr h="347472">
                <a:tc>
                  <a:txBody>
                    <a:bodyPr/>
                    <a:lstStyle/>
                    <a:p>
                      <a:pPr algn="l"/>
                      <a:r>
                        <a:rPr sz="950" i="1" b="0">
                          <a:solidFill>
                            <a:srgbClr val="1A1A1A"/>
                          </a:solidFill>
                          <a:latin typeface="Arial"/>
                        </a:rPr>
                        <a:t>Peptostreptococcus</a:t>
                      </a:r>
                    </a:p>
                  </a:txBody>
                  <a:tcPr marL="82296" marR="82296" anchor="ctr">
                    <a:solidFill>
                      <a:srgbClr val="FFFFFF"/>
                    </a:solidFill>
                  </a:tcPr>
                </a:tc>
                <a:tc>
                  <a:txBody>
                    <a:bodyPr/>
                    <a:lstStyle/>
                    <a:p>
                      <a:pPr algn="l"/>
                      <a:r>
                        <a:rPr sz="950" i="0" b="0">
                          <a:solidFill>
                            <a:srgbClr val="1A1A1A"/>
                          </a:solidFill>
                          <a:latin typeface="Arial"/>
                        </a:rPr>
                        <a:t>Colorectal neoplasms</a:t>
                      </a:r>
                    </a:p>
                  </a:txBody>
                  <a:tcPr marL="82296" marR="82296" anchor="ctr">
                    <a:solidFill>
                      <a:srgbClr val="FFFFFF"/>
                    </a:solidFill>
                  </a:tcPr>
                </a:tc>
                <a:tc>
                  <a:txBody>
                    <a:bodyPr/>
                    <a:lstStyle/>
                    <a:p>
                      <a:pPr algn="ctr"/>
                      <a:r>
                        <a:rPr sz="950" i="0" b="0">
                          <a:solidFill>
                            <a:srgbClr val="1A1A1A"/>
                          </a:solidFill>
                          <a:latin typeface="Arial"/>
                        </a:rPr>
                        <a:t>16</a:t>
                      </a:r>
                    </a:p>
                  </a:txBody>
                  <a:tcPr marL="82296" marR="82296" anchor="ctr">
                    <a:solidFill>
                      <a:srgbClr val="FFFFFF"/>
                    </a:solidFill>
                  </a:tcPr>
                </a:tc>
                <a:tc>
                  <a:txBody>
                    <a:bodyPr/>
                    <a:lstStyle/>
                    <a:p>
                      <a:pPr algn="ctr"/>
                      <a:r>
                        <a:rPr sz="950" i="0" b="1">
                          <a:solidFill>
                            <a:srgbClr val="8000FF"/>
                          </a:solidFill>
                          <a:latin typeface="Arial"/>
                        </a:rPr>
                        <a:t>Enriched</a:t>
                      </a:r>
                    </a:p>
                  </a:txBody>
                  <a:tcPr marL="82296" marR="82296" anchor="ctr">
                    <a:solidFill>
                      <a:srgbClr val="FFFFFF"/>
                    </a:solidFill>
                  </a:tcPr>
                </a:tc>
                <a:tc>
                  <a:txBody>
                    <a:bodyPr/>
                    <a:lstStyle/>
                    <a:p>
                      <a:pPr algn="ctr"/>
                      <a:r>
                        <a:rPr sz="950" i="0" b="0">
                          <a:solidFill>
                            <a:srgbClr val="1A1A1A"/>
                          </a:solidFill>
                          <a:latin typeface="Arial"/>
                        </a:rPr>
                        <a:t>0.94</a:t>
                      </a:r>
                    </a:p>
                  </a:txBody>
                  <a:tcPr marL="82296" marR="82296" anchor="ctr">
                    <a:solidFill>
                      <a:srgbClr val="FFFFFF"/>
                    </a:solidFill>
                  </a:tcPr>
                </a:tc>
                <a:tc>
                  <a:txBody>
                    <a:bodyPr/>
                    <a:lstStyle/>
                    <a:p>
                      <a:pPr algn="ctr"/>
                      <a:r>
                        <a:rPr sz="950" i="0" b="0">
                          <a:solidFill>
                            <a:srgbClr val="1A1A1A"/>
                          </a:solidFill>
                          <a:latin typeface="Arial"/>
                        </a:rPr>
                        <a:t>3.26</a:t>
                      </a:r>
                    </a:p>
                  </a:txBody>
                  <a:tcPr marL="82296" marR="82296" anchor="ctr">
                    <a:solidFill>
                      <a:srgbClr val="FFFFFF"/>
                    </a:solidFill>
                  </a:tcPr>
                </a:tc>
              </a:tr>
              <a:tr h="347472">
                <a:tc>
                  <a:txBody>
                    <a:bodyPr/>
                    <a:lstStyle/>
                    <a:p>
                      <a:pPr algn="l"/>
                      <a:r>
                        <a:rPr sz="950" i="1" b="0">
                          <a:solidFill>
                            <a:srgbClr val="1A1A1A"/>
                          </a:solidFill>
                          <a:latin typeface="Arial"/>
                        </a:rPr>
                        <a:t>Parvimonas</a:t>
                      </a:r>
                    </a:p>
                  </a:txBody>
                  <a:tcPr marL="82296" marR="82296" anchor="ctr">
                    <a:solidFill>
                      <a:srgbClr val="F4EEFA"/>
                    </a:solidFill>
                  </a:tcPr>
                </a:tc>
                <a:tc>
                  <a:txBody>
                    <a:bodyPr/>
                    <a:lstStyle/>
                    <a:p>
                      <a:pPr algn="l"/>
                      <a:r>
                        <a:rPr sz="950" i="0" b="0">
                          <a:solidFill>
                            <a:srgbClr val="1A1A1A"/>
                          </a:solidFill>
                          <a:latin typeface="Arial"/>
                        </a:rPr>
                        <a:t>Colorectal neoplasms</a:t>
                      </a:r>
                    </a:p>
                  </a:txBody>
                  <a:tcPr marL="82296" marR="82296" anchor="ctr">
                    <a:solidFill>
                      <a:srgbClr val="F4EEFA"/>
                    </a:solidFill>
                  </a:tcPr>
                </a:tc>
                <a:tc>
                  <a:txBody>
                    <a:bodyPr/>
                    <a:lstStyle/>
                    <a:p>
                      <a:pPr algn="ctr"/>
                      <a:r>
                        <a:rPr sz="950" i="0" b="0">
                          <a:solidFill>
                            <a:srgbClr val="1A1A1A"/>
                          </a:solidFill>
                          <a:latin typeface="Arial"/>
                        </a:rPr>
                        <a:t>15</a:t>
                      </a:r>
                    </a:p>
                  </a:txBody>
                  <a:tcPr marL="82296" marR="82296" anchor="ctr">
                    <a:solidFill>
                      <a:srgbClr val="F4EEFA"/>
                    </a:solidFill>
                  </a:tcPr>
                </a:tc>
                <a:tc>
                  <a:txBody>
                    <a:bodyPr/>
                    <a:lstStyle/>
                    <a:p>
                      <a:pPr algn="ctr"/>
                      <a:r>
                        <a:rPr sz="950" i="0" b="1">
                          <a:solidFill>
                            <a:srgbClr val="8000FF"/>
                          </a:solidFill>
                          <a:latin typeface="Arial"/>
                        </a:rPr>
                        <a:t>Enriched</a:t>
                      </a:r>
                    </a:p>
                  </a:txBody>
                  <a:tcPr marL="82296" marR="82296" anchor="ctr">
                    <a:solidFill>
                      <a:srgbClr val="F4EEFA"/>
                    </a:solidFill>
                  </a:tcPr>
                </a:tc>
                <a:tc>
                  <a:txBody>
                    <a:bodyPr/>
                    <a:lstStyle/>
                    <a:p>
                      <a:pPr algn="ctr"/>
                      <a:r>
                        <a:rPr sz="950" i="0" b="0">
                          <a:solidFill>
                            <a:srgbClr val="1A1A1A"/>
                          </a:solidFill>
                          <a:latin typeface="Arial"/>
                        </a:rPr>
                        <a:t>1.00</a:t>
                      </a:r>
                    </a:p>
                  </a:txBody>
                  <a:tcPr marL="82296" marR="82296" anchor="ctr">
                    <a:solidFill>
                      <a:srgbClr val="F4EEFA"/>
                    </a:solidFill>
                  </a:tcPr>
                </a:tc>
                <a:tc>
                  <a:txBody>
                    <a:bodyPr/>
                    <a:lstStyle/>
                    <a:p>
                      <a:pPr algn="ctr"/>
                      <a:r>
                        <a:rPr sz="950" i="0" b="0">
                          <a:solidFill>
                            <a:srgbClr val="1A1A1A"/>
                          </a:solidFill>
                          <a:latin typeface="Arial"/>
                        </a:rPr>
                        <a:t>3.35</a:t>
                      </a:r>
                    </a:p>
                  </a:txBody>
                  <a:tcPr marL="82296" marR="82296" anchor="ctr">
                    <a:solidFill>
                      <a:srgbClr val="F4EEFA"/>
                    </a:solidFill>
                  </a:tcPr>
                </a:tc>
              </a:tr>
              <a:tr h="347472">
                <a:tc>
                  <a:txBody>
                    <a:bodyPr/>
                    <a:lstStyle/>
                    <a:p>
                      <a:pPr algn="l"/>
                      <a:r>
                        <a:rPr sz="950" i="1" b="0">
                          <a:solidFill>
                            <a:srgbClr val="1A1A1A"/>
                          </a:solidFill>
                          <a:latin typeface="Arial"/>
                        </a:rPr>
                        <a:t>Fusobacterium</a:t>
                      </a:r>
                    </a:p>
                  </a:txBody>
                  <a:tcPr marL="82296" marR="82296" anchor="ctr">
                    <a:solidFill>
                      <a:srgbClr val="FFFFFF"/>
                    </a:solidFill>
                  </a:tcPr>
                </a:tc>
                <a:tc>
                  <a:txBody>
                    <a:bodyPr/>
                    <a:lstStyle/>
                    <a:p>
                      <a:pPr algn="l"/>
                      <a:r>
                        <a:rPr sz="950" i="0" b="0">
                          <a:solidFill>
                            <a:srgbClr val="1A1A1A"/>
                          </a:solidFill>
                          <a:latin typeface="Arial"/>
                        </a:rPr>
                        <a:t>Colorectal neoplasms</a:t>
                      </a:r>
                    </a:p>
                  </a:txBody>
                  <a:tcPr marL="82296" marR="82296" anchor="ctr">
                    <a:solidFill>
                      <a:srgbClr val="FFFFFF"/>
                    </a:solidFill>
                  </a:tcPr>
                </a:tc>
                <a:tc>
                  <a:txBody>
                    <a:bodyPr/>
                    <a:lstStyle/>
                    <a:p>
                      <a:pPr algn="ctr"/>
                      <a:r>
                        <a:rPr sz="950" i="0" b="0">
                          <a:solidFill>
                            <a:srgbClr val="1A1A1A"/>
                          </a:solidFill>
                          <a:latin typeface="Arial"/>
                        </a:rPr>
                        <a:t>14</a:t>
                      </a:r>
                    </a:p>
                  </a:txBody>
                  <a:tcPr marL="82296" marR="82296" anchor="ctr">
                    <a:solidFill>
                      <a:srgbClr val="FFFFFF"/>
                    </a:solidFill>
                  </a:tcPr>
                </a:tc>
                <a:tc>
                  <a:txBody>
                    <a:bodyPr/>
                    <a:lstStyle/>
                    <a:p>
                      <a:pPr algn="ctr"/>
                      <a:r>
                        <a:rPr sz="950" i="0" b="1">
                          <a:solidFill>
                            <a:srgbClr val="8000FF"/>
                          </a:solidFill>
                          <a:latin typeface="Arial"/>
                        </a:rPr>
                        <a:t>Enriched</a:t>
                      </a:r>
                    </a:p>
                  </a:txBody>
                  <a:tcPr marL="82296" marR="82296" anchor="ctr">
                    <a:solidFill>
                      <a:srgbClr val="FFFFFF"/>
                    </a:solidFill>
                  </a:tcPr>
                </a:tc>
                <a:tc>
                  <a:txBody>
                    <a:bodyPr/>
                    <a:lstStyle/>
                    <a:p>
                      <a:pPr algn="ctr"/>
                      <a:r>
                        <a:rPr sz="950" i="0" b="0">
                          <a:solidFill>
                            <a:srgbClr val="1A1A1A"/>
                          </a:solidFill>
                          <a:latin typeface="Arial"/>
                        </a:rPr>
                        <a:t>1.00</a:t>
                      </a:r>
                    </a:p>
                  </a:txBody>
                  <a:tcPr marL="82296" marR="82296" anchor="ctr">
                    <a:solidFill>
                      <a:srgbClr val="FFFFFF"/>
                    </a:solidFill>
                  </a:tcPr>
                </a:tc>
                <a:tc>
                  <a:txBody>
                    <a:bodyPr/>
                    <a:lstStyle/>
                    <a:p>
                      <a:pPr algn="ctr"/>
                      <a:r>
                        <a:rPr sz="950" i="0" b="0">
                          <a:solidFill>
                            <a:srgbClr val="1A1A1A"/>
                          </a:solidFill>
                          <a:latin typeface="Arial"/>
                        </a:rPr>
                        <a:t>3.90</a:t>
                      </a:r>
                    </a:p>
                  </a:txBody>
                  <a:tcPr marL="82296" marR="82296" anchor="ctr">
                    <a:solidFill>
                      <a:srgbClr val="FFFFFF"/>
                    </a:solidFill>
                  </a:tcPr>
                </a:tc>
              </a:tr>
              <a:tr h="347472">
                <a:tc>
                  <a:txBody>
                    <a:bodyPr/>
                    <a:lstStyle/>
                    <a:p>
                      <a:pPr algn="l"/>
                      <a:r>
                        <a:rPr sz="950" i="1" b="0">
                          <a:solidFill>
                            <a:srgbClr val="1A1A1A"/>
                          </a:solidFill>
                          <a:latin typeface="Arial"/>
                        </a:rPr>
                        <a:t>Fusicatenibacter</a:t>
                      </a:r>
                    </a:p>
                  </a:txBody>
                  <a:tcPr marL="82296" marR="82296" anchor="ctr">
                    <a:solidFill>
                      <a:srgbClr val="F4EEFA"/>
                    </a:solidFill>
                  </a:tcPr>
                </a:tc>
                <a:tc>
                  <a:txBody>
                    <a:bodyPr/>
                    <a:lstStyle/>
                    <a:p>
                      <a:pPr algn="l"/>
                      <a:r>
                        <a:rPr sz="950" i="0" b="0">
                          <a:solidFill>
                            <a:srgbClr val="1A1A1A"/>
                          </a:solidFill>
                          <a:latin typeface="Arial"/>
                        </a:rPr>
                        <a:t>Colorectal neoplasms</a:t>
                      </a:r>
                    </a:p>
                  </a:txBody>
                  <a:tcPr marL="82296" marR="82296" anchor="ctr">
                    <a:solidFill>
                      <a:srgbClr val="F4EEFA"/>
                    </a:solidFill>
                  </a:tcPr>
                </a:tc>
                <a:tc>
                  <a:txBody>
                    <a:bodyPr/>
                    <a:lstStyle/>
                    <a:p>
                      <a:pPr algn="ctr"/>
                      <a:r>
                        <a:rPr sz="950" i="0" b="0">
                          <a:solidFill>
                            <a:srgbClr val="1A1A1A"/>
                          </a:solidFill>
                          <a:latin typeface="Arial"/>
                        </a:rPr>
                        <a:t>13</a:t>
                      </a:r>
                    </a:p>
                  </a:txBody>
                  <a:tcPr marL="82296" marR="82296" anchor="ctr">
                    <a:solidFill>
                      <a:srgbClr val="F4EEFA"/>
                    </a:solidFill>
                  </a:tcPr>
                </a:tc>
                <a:tc>
                  <a:txBody>
                    <a:bodyPr/>
                    <a:lstStyle/>
                    <a:p>
                      <a:pPr algn="ctr"/>
                      <a:r>
                        <a:rPr sz="950" i="0" b="1">
                          <a:solidFill>
                            <a:srgbClr val="580F8B"/>
                          </a:solidFill>
                          <a:latin typeface="Arial"/>
                        </a:rPr>
                        <a:t>Depleted</a:t>
                      </a:r>
                    </a:p>
                  </a:txBody>
                  <a:tcPr marL="82296" marR="82296" anchor="ctr">
                    <a:solidFill>
                      <a:srgbClr val="F4EEFA"/>
                    </a:solidFill>
                  </a:tcPr>
                </a:tc>
                <a:tc>
                  <a:txBody>
                    <a:bodyPr/>
                    <a:lstStyle/>
                    <a:p>
                      <a:pPr algn="ctr"/>
                      <a:r>
                        <a:rPr sz="950" i="0" b="0">
                          <a:solidFill>
                            <a:srgbClr val="1A1A1A"/>
                          </a:solidFill>
                          <a:latin typeface="Arial"/>
                        </a:rPr>
                        <a:t>1.00</a:t>
                      </a:r>
                    </a:p>
                  </a:txBody>
                  <a:tcPr marL="82296" marR="82296" anchor="ctr">
                    <a:solidFill>
                      <a:srgbClr val="F4EEFA"/>
                    </a:solidFill>
                  </a:tcPr>
                </a:tc>
                <a:tc>
                  <a:txBody>
                    <a:bodyPr/>
                    <a:lstStyle/>
                    <a:p>
                      <a:pPr algn="ctr"/>
                      <a:r>
                        <a:rPr sz="950" i="0" b="0">
                          <a:solidFill>
                            <a:srgbClr val="1A1A1A"/>
                          </a:solidFill>
                          <a:latin typeface="Arial"/>
                        </a:rPr>
                        <a:t>3.65</a:t>
                      </a:r>
                    </a:p>
                  </a:txBody>
                  <a:tcPr marL="82296" marR="82296" anchor="ctr">
                    <a:solidFill>
                      <a:srgbClr val="F4EEFA"/>
                    </a:solidFill>
                  </a:tcPr>
                </a:tc>
              </a:tr>
              <a:tr h="347472">
                <a:tc>
                  <a:txBody>
                    <a:bodyPr/>
                    <a:lstStyle/>
                    <a:p>
                      <a:pPr algn="l"/>
                      <a:r>
                        <a:rPr sz="950" i="1" b="0">
                          <a:solidFill>
                            <a:srgbClr val="1A1A1A"/>
                          </a:solidFill>
                          <a:latin typeface="Arial"/>
                        </a:rPr>
                        <a:t>Faecalibacterium</a:t>
                      </a:r>
                    </a:p>
                  </a:txBody>
                  <a:tcPr marL="82296" marR="82296" anchor="ctr">
                    <a:solidFill>
                      <a:srgbClr val="FFFFFF"/>
                    </a:solidFill>
                  </a:tcPr>
                </a:tc>
                <a:tc>
                  <a:txBody>
                    <a:bodyPr/>
                    <a:lstStyle/>
                    <a:p>
                      <a:pPr algn="l"/>
                      <a:r>
                        <a:rPr sz="950" i="0" b="0">
                          <a:solidFill>
                            <a:srgbClr val="1A1A1A"/>
                          </a:solidFill>
                          <a:latin typeface="Arial"/>
                        </a:rPr>
                        <a:t>Crohn disease</a:t>
                      </a:r>
                    </a:p>
                  </a:txBody>
                  <a:tcPr marL="82296" marR="82296" anchor="ctr">
                    <a:solidFill>
                      <a:srgbClr val="FFFFFF"/>
                    </a:solidFill>
                  </a:tcPr>
                </a:tc>
                <a:tc>
                  <a:txBody>
                    <a:bodyPr/>
                    <a:lstStyle/>
                    <a:p>
                      <a:pPr algn="ctr"/>
                      <a:r>
                        <a:rPr sz="950" i="0" b="0">
                          <a:solidFill>
                            <a:srgbClr val="1A1A1A"/>
                          </a:solidFill>
                          <a:latin typeface="Arial"/>
                        </a:rPr>
                        <a:t>10</a:t>
                      </a:r>
                    </a:p>
                  </a:txBody>
                  <a:tcPr marL="82296" marR="82296" anchor="ctr">
                    <a:solidFill>
                      <a:srgbClr val="FFFFFF"/>
                    </a:solidFill>
                  </a:tcPr>
                </a:tc>
                <a:tc>
                  <a:txBody>
                    <a:bodyPr/>
                    <a:lstStyle/>
                    <a:p>
                      <a:pPr algn="ctr"/>
                      <a:r>
                        <a:rPr sz="950" i="0" b="1">
                          <a:solidFill>
                            <a:srgbClr val="580F8B"/>
                          </a:solidFill>
                          <a:latin typeface="Arial"/>
                        </a:rPr>
                        <a:t>Depleted</a:t>
                      </a:r>
                    </a:p>
                  </a:txBody>
                  <a:tcPr marL="82296" marR="82296" anchor="ctr">
                    <a:solidFill>
                      <a:srgbClr val="FFFFFF"/>
                    </a:solidFill>
                  </a:tcPr>
                </a:tc>
                <a:tc>
                  <a:txBody>
                    <a:bodyPr/>
                    <a:lstStyle/>
                    <a:p>
                      <a:pPr algn="ctr"/>
                      <a:r>
                        <a:rPr sz="950" i="0" b="0">
                          <a:solidFill>
                            <a:srgbClr val="1A1A1A"/>
                          </a:solidFill>
                          <a:latin typeface="Arial"/>
                        </a:rPr>
                        <a:t>1.00</a:t>
                      </a:r>
                    </a:p>
                  </a:txBody>
                  <a:tcPr marL="82296" marR="82296" anchor="ctr">
                    <a:solidFill>
                      <a:srgbClr val="FFFFFF"/>
                    </a:solidFill>
                  </a:tcPr>
                </a:tc>
                <a:tc>
                  <a:txBody>
                    <a:bodyPr/>
                    <a:lstStyle/>
                    <a:p>
                      <a:pPr algn="ctr"/>
                      <a:r>
                        <a:rPr sz="950" i="0" b="0">
                          <a:solidFill>
                            <a:srgbClr val="1A1A1A"/>
                          </a:solidFill>
                          <a:latin typeface="Arial"/>
                        </a:rPr>
                        <a:t>4.65</a:t>
                      </a:r>
                    </a:p>
                  </a:txBody>
                  <a:tcPr marL="82296" marR="82296" anchor="ctr">
                    <a:solidFill>
                      <a:srgbClr val="FFFFFF"/>
                    </a:solidFill>
                  </a:tcPr>
                </a:tc>
              </a:tr>
              <a:tr h="347472">
                <a:tc>
                  <a:txBody>
                    <a:bodyPr/>
                    <a:lstStyle/>
                    <a:p>
                      <a:pPr algn="l"/>
                      <a:r>
                        <a:rPr sz="950" i="1" b="0">
                          <a:solidFill>
                            <a:srgbClr val="1A1A1A"/>
                          </a:solidFill>
                          <a:latin typeface="Arial"/>
                        </a:rPr>
                        <a:t>Coprococcus</a:t>
                      </a:r>
                    </a:p>
                  </a:txBody>
                  <a:tcPr marL="82296" marR="82296" anchor="ctr">
                    <a:solidFill>
                      <a:srgbClr val="F4EEFA"/>
                    </a:solidFill>
                  </a:tcPr>
                </a:tc>
                <a:tc>
                  <a:txBody>
                    <a:bodyPr/>
                    <a:lstStyle/>
                    <a:p>
                      <a:pPr algn="l"/>
                      <a:r>
                        <a:rPr sz="950" i="0" b="0">
                          <a:solidFill>
                            <a:srgbClr val="1A1A1A"/>
                          </a:solidFill>
                          <a:latin typeface="Arial"/>
                        </a:rPr>
                        <a:t>Crohn disease</a:t>
                      </a:r>
                    </a:p>
                  </a:txBody>
                  <a:tcPr marL="82296" marR="82296" anchor="ctr">
                    <a:solidFill>
                      <a:srgbClr val="F4EEFA"/>
                    </a:solidFill>
                  </a:tcPr>
                </a:tc>
                <a:tc>
                  <a:txBody>
                    <a:bodyPr/>
                    <a:lstStyle/>
                    <a:p>
                      <a:pPr algn="ctr"/>
                      <a:r>
                        <a:rPr sz="950" i="0" b="0">
                          <a:solidFill>
                            <a:srgbClr val="1A1A1A"/>
                          </a:solidFill>
                          <a:latin typeface="Arial"/>
                        </a:rPr>
                        <a:t>10</a:t>
                      </a:r>
                    </a:p>
                  </a:txBody>
                  <a:tcPr marL="82296" marR="82296" anchor="ctr">
                    <a:solidFill>
                      <a:srgbClr val="F4EEFA"/>
                    </a:solidFill>
                  </a:tcPr>
                </a:tc>
                <a:tc>
                  <a:txBody>
                    <a:bodyPr/>
                    <a:lstStyle/>
                    <a:p>
                      <a:pPr algn="ctr"/>
                      <a:r>
                        <a:rPr sz="950" i="0" b="1">
                          <a:solidFill>
                            <a:srgbClr val="580F8B"/>
                          </a:solidFill>
                          <a:latin typeface="Arial"/>
                        </a:rPr>
                        <a:t>Depleted</a:t>
                      </a:r>
                    </a:p>
                  </a:txBody>
                  <a:tcPr marL="82296" marR="82296" anchor="ctr">
                    <a:solidFill>
                      <a:srgbClr val="F4EEFA"/>
                    </a:solidFill>
                  </a:tcPr>
                </a:tc>
                <a:tc>
                  <a:txBody>
                    <a:bodyPr/>
                    <a:lstStyle/>
                    <a:p>
                      <a:pPr algn="ctr"/>
                      <a:r>
                        <a:rPr sz="950" i="0" b="0">
                          <a:solidFill>
                            <a:srgbClr val="1A1A1A"/>
                          </a:solidFill>
                          <a:latin typeface="Arial"/>
                        </a:rPr>
                        <a:t>0.91</a:t>
                      </a:r>
                    </a:p>
                  </a:txBody>
                  <a:tcPr marL="82296" marR="82296" anchor="ctr">
                    <a:solidFill>
                      <a:srgbClr val="F4EEFA"/>
                    </a:solidFill>
                  </a:tcPr>
                </a:tc>
                <a:tc>
                  <a:txBody>
                    <a:bodyPr/>
                    <a:lstStyle/>
                    <a:p>
                      <a:pPr algn="ctr"/>
                      <a:r>
                        <a:rPr sz="950" i="0" b="0">
                          <a:solidFill>
                            <a:srgbClr val="1A1A1A"/>
                          </a:solidFill>
                          <a:latin typeface="Arial"/>
                        </a:rPr>
                        <a:t>3.85</a:t>
                      </a:r>
                    </a:p>
                  </a:txBody>
                  <a:tcPr marL="82296" marR="82296" anchor="ctr">
                    <a:solidFill>
                      <a:srgbClr val="F4EEFA"/>
                    </a:solidFill>
                  </a:tcPr>
                </a:tc>
              </a:tr>
            </a:tbl>
          </a:graphicData>
        </a:graphic>
      </p:graphicFrame>
      <p:sp>
        <p:nvSpPr>
          <p:cNvPr id="6" name="Oval 5"/>
          <p:cNvSpPr/>
          <p:nvPr/>
        </p:nvSpPr>
        <p:spPr>
          <a:xfrm>
            <a:off x="493776" y="3877056"/>
            <a:ext cx="137160" cy="13716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7" name="TextBox 6"/>
          <p:cNvSpPr txBox="1"/>
          <p:nvPr/>
        </p:nvSpPr>
        <p:spPr>
          <a:xfrm>
            <a:off x="768096" y="3803904"/>
            <a:ext cx="7571232" cy="603504"/>
          </a:xfrm>
          <a:prstGeom prst="rect">
            <a:avLst/>
          </a:prstGeom>
          <a:noFill/>
        </p:spPr>
        <p:txBody>
          <a:bodyPr wrap="square" lIns="0" rIns="0" tIns="0" bIns="0" anchor="t">
            <a:spAutoFit/>
          </a:bodyPr>
          <a:lstStyle/>
          <a:p>
            <a:pPr algn="l">
              <a:lnSpc>
                <a:spcPct val="120000"/>
              </a:lnSpc>
            </a:pPr>
            <a:r>
              <a:rPr sz="1100" b="0" i="1">
                <a:solidFill>
                  <a:srgbClr val="1A1A1A"/>
                </a:solidFill>
                <a:latin typeface="Arial"/>
              </a:rPr>
              <a:t>The known colorectal-cancer oral-pathogen axis — Fusobacterium, Parvimonas, Peptostreptococcus — re-emerges unprompted from the aggregate: a useful positive control on the ingestion and direction logic.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Not every frequent taxon is a useful feature</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11</a:t>
            </a:r>
          </a:p>
        </p:txBody>
      </p:sp>
      <p:graphicFrame>
        <p:nvGraphicFramePr>
          <p:cNvPr id="5" name="Chart 4"/>
          <p:cNvGraphicFramePr>
            <a:graphicFrameLocks noGrp="1"/>
          </p:cNvGraphicFramePr>
          <p:nvPr/>
        </p:nvGraphicFramePr>
        <p:xfrm>
          <a:off x="493776" y="1225296"/>
          <a:ext cx="3803904" cy="2286000"/>
        </p:xfrm>
        <a:graphic>
          <a:graphicData uri="http://schemas.openxmlformats.org/drawingml/2006/chart">
            <c:chart xmlns:c="http://schemas.openxmlformats.org/drawingml/2006/chart" r:id="rId2"/>
          </a:graphicData>
        </a:graphic>
      </p:graphicFrame>
      <p:sp>
        <p:nvSpPr>
          <p:cNvPr id="6" name="TextBox 5"/>
          <p:cNvSpPr txBox="1"/>
          <p:nvPr/>
        </p:nvSpPr>
        <p:spPr>
          <a:xfrm>
            <a:off x="493776" y="3547872"/>
            <a:ext cx="3803904" cy="182880"/>
          </a:xfrm>
          <a:prstGeom prst="rect">
            <a:avLst/>
          </a:prstGeom>
          <a:noFill/>
        </p:spPr>
        <p:txBody>
          <a:bodyPr wrap="square" lIns="0" rIns="0" tIns="0" bIns="0" anchor="t">
            <a:spAutoFit/>
          </a:bodyPr>
          <a:lstStyle/>
          <a:p>
            <a:pPr algn="ctr">
              <a:lnSpc>
                <a:spcPct val="100000"/>
              </a:lnSpc>
            </a:pPr>
            <a:r>
              <a:rPr sz="850" b="0" i="0">
                <a:solidFill>
                  <a:srgbClr val="5A5A5A"/>
                </a:solidFill>
                <a:latin typeface="Arial"/>
              </a:rPr>
              <a:t>Taxa by number of distinct diseases associated</a:t>
            </a:r>
          </a:p>
        </p:txBody>
      </p:sp>
      <p:sp>
        <p:nvSpPr>
          <p:cNvPr id="7" name="TextBox 6"/>
          <p:cNvSpPr txBox="1"/>
          <p:nvPr/>
        </p:nvSpPr>
        <p:spPr>
          <a:xfrm>
            <a:off x="4553712" y="1243584"/>
            <a:ext cx="4059936" cy="201168"/>
          </a:xfrm>
          <a:prstGeom prst="rect">
            <a:avLst/>
          </a:prstGeom>
          <a:noFill/>
        </p:spPr>
        <p:txBody>
          <a:bodyPr wrap="square" lIns="0" rIns="0" tIns="0" bIns="0" anchor="t">
            <a:spAutoFit/>
          </a:bodyPr>
          <a:lstStyle/>
          <a:p>
            <a:pPr algn="l">
              <a:lnSpc>
                <a:spcPct val="100000"/>
              </a:lnSpc>
            </a:pPr>
            <a:r>
              <a:rPr sz="950" b="1" i="0">
                <a:solidFill>
                  <a:srgbClr val="580F8B"/>
                </a:solidFill>
                <a:latin typeface="Arial"/>
              </a:rPr>
              <a:t>THE PAN-DISEASE PROBLEM</a:t>
            </a:r>
          </a:p>
        </p:txBody>
      </p:sp>
      <p:sp>
        <p:nvSpPr>
          <p:cNvPr id="8" name="TextBox 7"/>
          <p:cNvSpPr txBox="1"/>
          <p:nvPr/>
        </p:nvSpPr>
        <p:spPr>
          <a:xfrm>
            <a:off x="4553712" y="1517904"/>
            <a:ext cx="4059936" cy="822960"/>
          </a:xfrm>
          <a:prstGeom prst="rect">
            <a:avLst/>
          </a:prstGeom>
          <a:noFill/>
        </p:spPr>
        <p:txBody>
          <a:bodyPr wrap="square" lIns="0" rIns="0" tIns="0" bIns="0">
            <a:spAutoFit/>
          </a:bodyPr>
          <a:lstStyle/>
          <a:p>
            <a:pPr>
              <a:lnSpc>
                <a:spcPct val="120000"/>
              </a:lnSpc>
              <a:spcAft>
                <a:spcPts val="400"/>
              </a:spcAft>
            </a:pPr>
            <a:r>
              <a:rPr sz="1050">
                <a:solidFill>
                  <a:srgbClr val="1A1A1A"/>
                </a:solidFill>
                <a:latin typeface="Arial"/>
              </a:rPr>
              <a:t>143 taxa are associated with more than 20 diseases each. These behave as general dysbiosis markers rather than disease-specific signals.</a:t>
            </a:r>
          </a:p>
        </p:txBody>
      </p:sp>
      <p:sp>
        <p:nvSpPr>
          <p:cNvPr id="9" name="Rounded Rectangle 8"/>
          <p:cNvSpPr/>
          <p:nvPr/>
        </p:nvSpPr>
        <p:spPr>
          <a:xfrm>
            <a:off x="4553712" y="2468880"/>
            <a:ext cx="4059936" cy="969264"/>
          </a:xfrm>
          <a:prstGeom prst="roundRect">
            <a:avLst>
              <a:gd name="adj" fmla="val 6000"/>
            </a:avLst>
          </a:prstGeom>
          <a:solidFill>
            <a:srgbClr val="FD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54880" y="2615184"/>
            <a:ext cx="3566160" cy="201168"/>
          </a:xfrm>
          <a:prstGeom prst="rect">
            <a:avLst/>
          </a:prstGeom>
          <a:noFill/>
        </p:spPr>
        <p:txBody>
          <a:bodyPr wrap="square" lIns="0" rIns="0" tIns="0" bIns="0" anchor="t">
            <a:spAutoFit/>
          </a:bodyPr>
          <a:lstStyle/>
          <a:p>
            <a:pPr algn="l">
              <a:lnSpc>
                <a:spcPct val="100000"/>
              </a:lnSpc>
            </a:pPr>
            <a:r>
              <a:rPr sz="1200" b="1" i="1">
                <a:solidFill>
                  <a:srgbClr val="1A1A1A"/>
                </a:solidFill>
                <a:latin typeface="Arial"/>
              </a:rPr>
              <a:t>Faecalibacterium</a:t>
            </a:r>
          </a:p>
        </p:txBody>
      </p:sp>
      <p:sp>
        <p:nvSpPr>
          <p:cNvPr id="11" name="TextBox 10"/>
          <p:cNvSpPr txBox="1"/>
          <p:nvPr/>
        </p:nvSpPr>
        <p:spPr>
          <a:xfrm>
            <a:off x="4754880" y="2862072"/>
            <a:ext cx="3566160" cy="420624"/>
          </a:xfrm>
          <a:prstGeom prst="rect">
            <a:avLst/>
          </a:prstGeom>
          <a:noFill/>
        </p:spPr>
        <p:txBody>
          <a:bodyPr wrap="square" lIns="0" rIns="0" tIns="0" bIns="0" anchor="t">
            <a:spAutoFit/>
          </a:bodyPr>
          <a:lstStyle/>
          <a:p>
            <a:pPr algn="l">
              <a:lnSpc>
                <a:spcPct val="116000"/>
              </a:lnSpc>
            </a:pPr>
            <a:r>
              <a:rPr sz="1000" b="0" i="0">
                <a:solidFill>
                  <a:srgbClr val="5A5A5A"/>
                </a:solidFill>
                <a:latin typeface="Arial"/>
              </a:rPr>
              <a:t>Depleted in 74 distinct diseases across 109 studies; 81% of its associations are depletions.</a:t>
            </a:r>
          </a:p>
        </p:txBody>
      </p:sp>
      <p:sp>
        <p:nvSpPr>
          <p:cNvPr id="12" name="Oval 11"/>
          <p:cNvSpPr/>
          <p:nvPr/>
        </p:nvSpPr>
        <p:spPr>
          <a:xfrm>
            <a:off x="493776" y="3858768"/>
            <a:ext cx="137160" cy="13716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13" name="TextBox 12"/>
          <p:cNvSpPr txBox="1"/>
          <p:nvPr/>
        </p:nvSpPr>
        <p:spPr>
          <a:xfrm>
            <a:off x="768096" y="3785615"/>
            <a:ext cx="7571232" cy="603504"/>
          </a:xfrm>
          <a:prstGeom prst="rect">
            <a:avLst/>
          </a:prstGeom>
          <a:noFill/>
        </p:spPr>
        <p:txBody>
          <a:bodyPr wrap="square" lIns="0" rIns="0" tIns="0" bIns="0" anchor="t">
            <a:spAutoFit/>
          </a:bodyPr>
          <a:lstStyle/>
          <a:p>
            <a:pPr algn="l">
              <a:lnSpc>
                <a:spcPct val="120000"/>
              </a:lnSpc>
            </a:pPr>
            <a:r>
              <a:rPr sz="1100" b="0" i="1">
                <a:solidFill>
                  <a:srgbClr val="1A1A1A"/>
                </a:solidFill>
                <a:latin typeface="Arial"/>
              </a:rPr>
              <a:t>Choosing such a taxon as a discriminative feature is a silent modelling error rather than a loud one. v_taxon_specificity surfaces it before modelling begins.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The modelling-ready cohort after August ingestion</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12</a:t>
            </a:r>
          </a:p>
        </p:txBody>
      </p:sp>
      <p:sp>
        <p:nvSpPr>
          <p:cNvPr id="5" name="Rounded Rectangle 4"/>
          <p:cNvSpPr/>
          <p:nvPr/>
        </p:nvSpPr>
        <p:spPr>
          <a:xfrm>
            <a:off x="493776" y="1225296"/>
            <a:ext cx="8119872" cy="329184"/>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493776" y="1225296"/>
            <a:ext cx="6400800" cy="329184"/>
          </a:xfrm>
          <a:prstGeom prst="roundRect">
            <a:avLst>
              <a:gd name="adj" fmla="val 16000"/>
            </a:avLst>
          </a:prstGeom>
          <a:solidFill>
            <a:srgbClr val="580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9304"/>
            <a:ext cx="960120" cy="201168"/>
          </a:xfrm>
          <a:prstGeom prst="rect">
            <a:avLst/>
          </a:prstGeom>
          <a:noFill/>
        </p:spPr>
        <p:txBody>
          <a:bodyPr wrap="square" lIns="0" rIns="0" tIns="0" bIns="0" anchor="t">
            <a:spAutoFit/>
          </a:bodyPr>
          <a:lstStyle/>
          <a:p>
            <a:pPr algn="l">
              <a:lnSpc>
                <a:spcPct val="100000"/>
              </a:lnSpc>
            </a:pPr>
            <a:r>
              <a:rPr sz="1200" b="1" i="0">
                <a:solidFill>
                  <a:srgbClr val="FFFFFF"/>
                </a:solidFill>
                <a:latin typeface="Arial"/>
              </a:rPr>
              <a:t>34,229</a:t>
            </a:r>
          </a:p>
        </p:txBody>
      </p:sp>
      <p:sp>
        <p:nvSpPr>
          <p:cNvPr id="8" name="TextBox 7"/>
          <p:cNvSpPr txBox="1"/>
          <p:nvPr/>
        </p:nvSpPr>
        <p:spPr>
          <a:xfrm>
            <a:off x="1700784" y="1298448"/>
            <a:ext cx="5047488" cy="201168"/>
          </a:xfrm>
          <a:prstGeom prst="rect">
            <a:avLst/>
          </a:prstGeom>
          <a:noFill/>
        </p:spPr>
        <p:txBody>
          <a:bodyPr wrap="square" lIns="0" rIns="0" tIns="0" bIns="0" anchor="t">
            <a:spAutoFit/>
          </a:bodyPr>
          <a:lstStyle/>
          <a:p>
            <a:pPr algn="l">
              <a:lnSpc>
                <a:spcPct val="100000"/>
              </a:lnSpc>
            </a:pPr>
            <a:r>
              <a:rPr sz="950" b="0" i="0">
                <a:solidFill>
                  <a:srgbClr val="FFFFFF"/>
                </a:solidFill>
                <a:latin typeface="Arial"/>
              </a:rPr>
              <a:t>Samples loaded</a:t>
            </a:r>
          </a:p>
        </p:txBody>
      </p:sp>
      <p:sp>
        <p:nvSpPr>
          <p:cNvPr id="9" name="Rounded Rectangle 8"/>
          <p:cNvSpPr/>
          <p:nvPr/>
        </p:nvSpPr>
        <p:spPr>
          <a:xfrm>
            <a:off x="493776" y="1627632"/>
            <a:ext cx="8119872" cy="329184"/>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493776" y="1627632"/>
            <a:ext cx="5584360" cy="329184"/>
          </a:xfrm>
          <a:prstGeom prst="roundRect">
            <a:avLst>
              <a:gd name="adj" fmla="val 16000"/>
            </a:avLst>
          </a:prstGeom>
          <a:solidFill>
            <a:srgbClr val="580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91640"/>
            <a:ext cx="960120" cy="201168"/>
          </a:xfrm>
          <a:prstGeom prst="rect">
            <a:avLst/>
          </a:prstGeom>
          <a:noFill/>
        </p:spPr>
        <p:txBody>
          <a:bodyPr wrap="square" lIns="0" rIns="0" tIns="0" bIns="0" anchor="t">
            <a:spAutoFit/>
          </a:bodyPr>
          <a:lstStyle/>
          <a:p>
            <a:pPr algn="l">
              <a:lnSpc>
                <a:spcPct val="100000"/>
              </a:lnSpc>
            </a:pPr>
            <a:r>
              <a:rPr sz="1200" b="1" i="0">
                <a:solidFill>
                  <a:srgbClr val="FFFFFF"/>
                </a:solidFill>
                <a:latin typeface="Arial"/>
              </a:rPr>
              <a:t>29,863</a:t>
            </a:r>
          </a:p>
        </p:txBody>
      </p:sp>
      <p:sp>
        <p:nvSpPr>
          <p:cNvPr id="12" name="TextBox 11"/>
          <p:cNvSpPr txBox="1"/>
          <p:nvPr/>
        </p:nvSpPr>
        <p:spPr>
          <a:xfrm>
            <a:off x="6206152" y="1700784"/>
            <a:ext cx="2389207" cy="201168"/>
          </a:xfrm>
          <a:prstGeom prst="rect">
            <a:avLst/>
          </a:prstGeom>
          <a:noFill/>
        </p:spPr>
        <p:txBody>
          <a:bodyPr wrap="square" lIns="0" rIns="0" tIns="0" bIns="0" anchor="t">
            <a:spAutoFit/>
          </a:bodyPr>
          <a:lstStyle/>
          <a:p>
            <a:pPr algn="l">
              <a:lnSpc>
                <a:spcPct val="100000"/>
              </a:lnSpc>
            </a:pPr>
            <a:r>
              <a:rPr sz="950" b="0" i="0">
                <a:solidFill>
                  <a:srgbClr val="1A1A1A"/>
                </a:solidFill>
                <a:latin typeface="Arial"/>
              </a:rPr>
              <a:t>Taxonomic profile present</a:t>
            </a:r>
          </a:p>
        </p:txBody>
      </p:sp>
      <p:sp>
        <p:nvSpPr>
          <p:cNvPr id="13" name="Rounded Rectangle 12"/>
          <p:cNvSpPr/>
          <p:nvPr/>
        </p:nvSpPr>
        <p:spPr>
          <a:xfrm>
            <a:off x="493776" y="2029968"/>
            <a:ext cx="8119872" cy="329184"/>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493776" y="2029968"/>
            <a:ext cx="2714669" cy="329184"/>
          </a:xfrm>
          <a:prstGeom prst="roundRect">
            <a:avLst>
              <a:gd name="adj" fmla="val 16000"/>
            </a:avLst>
          </a:prstGeom>
          <a:solidFill>
            <a:srgbClr val="580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093976"/>
            <a:ext cx="960120" cy="201168"/>
          </a:xfrm>
          <a:prstGeom prst="rect">
            <a:avLst/>
          </a:prstGeom>
          <a:noFill/>
        </p:spPr>
        <p:txBody>
          <a:bodyPr wrap="square" lIns="0" rIns="0" tIns="0" bIns="0" anchor="t">
            <a:spAutoFit/>
          </a:bodyPr>
          <a:lstStyle/>
          <a:p>
            <a:pPr algn="l">
              <a:lnSpc>
                <a:spcPct val="100000"/>
              </a:lnSpc>
            </a:pPr>
            <a:r>
              <a:rPr sz="1200" b="1" i="0">
                <a:solidFill>
                  <a:srgbClr val="FFFFFF"/>
                </a:solidFill>
                <a:latin typeface="Arial"/>
              </a:rPr>
              <a:t>14,517</a:t>
            </a:r>
          </a:p>
        </p:txBody>
      </p:sp>
      <p:sp>
        <p:nvSpPr>
          <p:cNvPr id="16" name="TextBox 15"/>
          <p:cNvSpPr txBox="1"/>
          <p:nvPr/>
        </p:nvSpPr>
        <p:spPr>
          <a:xfrm>
            <a:off x="3336461" y="2103120"/>
            <a:ext cx="5258898" cy="201168"/>
          </a:xfrm>
          <a:prstGeom prst="rect">
            <a:avLst/>
          </a:prstGeom>
          <a:noFill/>
        </p:spPr>
        <p:txBody>
          <a:bodyPr wrap="square" lIns="0" rIns="0" tIns="0" bIns="0" anchor="t">
            <a:spAutoFit/>
          </a:bodyPr>
          <a:lstStyle/>
          <a:p>
            <a:pPr algn="l">
              <a:lnSpc>
                <a:spcPct val="100000"/>
              </a:lnSpc>
            </a:pPr>
            <a:r>
              <a:rPr sz="950" b="0" i="0">
                <a:solidFill>
                  <a:srgbClr val="1A1A1A"/>
                </a:solidFill>
                <a:latin typeface="Arial"/>
              </a:rPr>
              <a:t>Age recorded</a:t>
            </a:r>
          </a:p>
        </p:txBody>
      </p:sp>
      <p:sp>
        <p:nvSpPr>
          <p:cNvPr id="17" name="Rounded Rectangle 16"/>
          <p:cNvSpPr/>
          <p:nvPr/>
        </p:nvSpPr>
        <p:spPr>
          <a:xfrm>
            <a:off x="493776" y="2432304"/>
            <a:ext cx="8119872" cy="329184"/>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93776" y="2432304"/>
            <a:ext cx="2629584" cy="329184"/>
          </a:xfrm>
          <a:prstGeom prst="roundRect">
            <a:avLst>
              <a:gd name="adj" fmla="val 16000"/>
            </a:avLst>
          </a:prstGeom>
          <a:solidFill>
            <a:srgbClr val="580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496312"/>
            <a:ext cx="960120" cy="201168"/>
          </a:xfrm>
          <a:prstGeom prst="rect">
            <a:avLst/>
          </a:prstGeom>
          <a:noFill/>
        </p:spPr>
        <p:txBody>
          <a:bodyPr wrap="square" lIns="0" rIns="0" tIns="0" bIns="0" anchor="t">
            <a:spAutoFit/>
          </a:bodyPr>
          <a:lstStyle/>
          <a:p>
            <a:pPr algn="l">
              <a:lnSpc>
                <a:spcPct val="100000"/>
              </a:lnSpc>
            </a:pPr>
            <a:r>
              <a:rPr sz="1200" b="1" i="0">
                <a:solidFill>
                  <a:srgbClr val="FFFFFF"/>
                </a:solidFill>
                <a:latin typeface="Arial"/>
              </a:rPr>
              <a:t>14,062</a:t>
            </a:r>
          </a:p>
        </p:txBody>
      </p:sp>
      <p:sp>
        <p:nvSpPr>
          <p:cNvPr id="20" name="TextBox 19"/>
          <p:cNvSpPr txBox="1"/>
          <p:nvPr/>
        </p:nvSpPr>
        <p:spPr>
          <a:xfrm>
            <a:off x="3251376" y="2505456"/>
            <a:ext cx="5343983" cy="201168"/>
          </a:xfrm>
          <a:prstGeom prst="rect">
            <a:avLst/>
          </a:prstGeom>
          <a:noFill/>
        </p:spPr>
        <p:txBody>
          <a:bodyPr wrap="square" lIns="0" rIns="0" tIns="0" bIns="0" anchor="t">
            <a:spAutoFit/>
          </a:bodyPr>
          <a:lstStyle/>
          <a:p>
            <a:pPr algn="l">
              <a:lnSpc>
                <a:spcPct val="100000"/>
              </a:lnSpc>
            </a:pPr>
            <a:r>
              <a:rPr sz="950" b="0" i="0">
                <a:solidFill>
                  <a:srgbClr val="1A1A1A"/>
                </a:solidFill>
                <a:latin typeface="Arial"/>
              </a:rPr>
              <a:t>Sex recorded</a:t>
            </a:r>
          </a:p>
        </p:txBody>
      </p:sp>
      <p:sp>
        <p:nvSpPr>
          <p:cNvPr id="21" name="Rounded Rectangle 20"/>
          <p:cNvSpPr/>
          <p:nvPr/>
        </p:nvSpPr>
        <p:spPr>
          <a:xfrm>
            <a:off x="493776" y="2834640"/>
            <a:ext cx="8119872" cy="329184"/>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493776" y="2834640"/>
            <a:ext cx="2470261" cy="329184"/>
          </a:xfrm>
          <a:prstGeom prst="roundRect">
            <a:avLst>
              <a:gd name="adj" fmla="val 16000"/>
            </a:avLst>
          </a:prstGeom>
          <a:solidFill>
            <a:srgbClr val="8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898648"/>
            <a:ext cx="960120" cy="201168"/>
          </a:xfrm>
          <a:prstGeom prst="rect">
            <a:avLst/>
          </a:prstGeom>
          <a:noFill/>
        </p:spPr>
        <p:txBody>
          <a:bodyPr wrap="square" lIns="0" rIns="0" tIns="0" bIns="0" anchor="t">
            <a:spAutoFit/>
          </a:bodyPr>
          <a:lstStyle/>
          <a:p>
            <a:pPr algn="l">
              <a:lnSpc>
                <a:spcPct val="100000"/>
              </a:lnSpc>
            </a:pPr>
            <a:r>
              <a:rPr sz="1200" b="1" i="0">
                <a:solidFill>
                  <a:srgbClr val="FFFFFF"/>
                </a:solidFill>
                <a:latin typeface="Arial"/>
              </a:rPr>
              <a:t>13,210</a:t>
            </a:r>
          </a:p>
        </p:txBody>
      </p:sp>
      <p:sp>
        <p:nvSpPr>
          <p:cNvPr id="24" name="TextBox 23"/>
          <p:cNvSpPr txBox="1"/>
          <p:nvPr/>
        </p:nvSpPr>
        <p:spPr>
          <a:xfrm>
            <a:off x="3092053" y="2907792"/>
            <a:ext cx="5503306" cy="201168"/>
          </a:xfrm>
          <a:prstGeom prst="rect">
            <a:avLst/>
          </a:prstGeom>
          <a:noFill/>
        </p:spPr>
        <p:txBody>
          <a:bodyPr wrap="square" lIns="0" rIns="0" tIns="0" bIns="0" anchor="t">
            <a:spAutoFit/>
          </a:bodyPr>
          <a:lstStyle/>
          <a:p>
            <a:pPr algn="l">
              <a:lnSpc>
                <a:spcPct val="100000"/>
              </a:lnSpc>
            </a:pPr>
            <a:r>
              <a:rPr sz="950" b="0" i="0">
                <a:solidFill>
                  <a:srgbClr val="1A1A1A"/>
                </a:solidFill>
                <a:latin typeface="Arial"/>
              </a:rPr>
              <a:t>Both covariates present</a:t>
            </a:r>
          </a:p>
        </p:txBody>
      </p:sp>
      <p:sp>
        <p:nvSpPr>
          <p:cNvPr id="25" name="Rounded Rectangle 24"/>
          <p:cNvSpPr/>
          <p:nvPr/>
        </p:nvSpPr>
        <p:spPr>
          <a:xfrm>
            <a:off x="493776" y="3236976"/>
            <a:ext cx="8119872" cy="329184"/>
          </a:xfrm>
          <a:prstGeom prst="roundRect">
            <a:avLst>
              <a:gd name="adj" fmla="val 6000"/>
            </a:avLst>
          </a:prstGeom>
          <a:solidFill>
            <a:srgbClr val="F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93776" y="3236976"/>
            <a:ext cx="2189388" cy="329184"/>
          </a:xfrm>
          <a:prstGeom prst="roundRect">
            <a:avLst>
              <a:gd name="adj" fmla="val 16000"/>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300984"/>
            <a:ext cx="960120" cy="201168"/>
          </a:xfrm>
          <a:prstGeom prst="rect">
            <a:avLst/>
          </a:prstGeom>
          <a:noFill/>
        </p:spPr>
        <p:txBody>
          <a:bodyPr wrap="square" lIns="0" rIns="0" tIns="0" bIns="0" anchor="t">
            <a:spAutoFit/>
          </a:bodyPr>
          <a:lstStyle/>
          <a:p>
            <a:pPr algn="l">
              <a:lnSpc>
                <a:spcPct val="100000"/>
              </a:lnSpc>
            </a:pPr>
            <a:r>
              <a:rPr sz="1200" b="1" i="0">
                <a:solidFill>
                  <a:srgbClr val="1A1A1A"/>
                </a:solidFill>
                <a:latin typeface="Arial"/>
              </a:rPr>
              <a:t>11,708</a:t>
            </a:r>
          </a:p>
        </p:txBody>
      </p:sp>
      <p:sp>
        <p:nvSpPr>
          <p:cNvPr id="28" name="TextBox 27"/>
          <p:cNvSpPr txBox="1"/>
          <p:nvPr/>
        </p:nvSpPr>
        <p:spPr>
          <a:xfrm>
            <a:off x="2811180" y="3310128"/>
            <a:ext cx="5784179" cy="201168"/>
          </a:xfrm>
          <a:prstGeom prst="rect">
            <a:avLst/>
          </a:prstGeom>
          <a:noFill/>
        </p:spPr>
        <p:txBody>
          <a:bodyPr wrap="square" lIns="0" rIns="0" tIns="0" bIns="0" anchor="t">
            <a:spAutoFit/>
          </a:bodyPr>
          <a:lstStyle/>
          <a:p>
            <a:pPr algn="l">
              <a:lnSpc>
                <a:spcPct val="100000"/>
              </a:lnSpc>
            </a:pPr>
            <a:r>
              <a:rPr sz="950" b="0" i="0">
                <a:solidFill>
                  <a:srgbClr val="1A1A1A"/>
                </a:solidFill>
                <a:latin typeface="Arial"/>
              </a:rPr>
              <a:t>Modelling-ready: covariates and features</a:t>
            </a:r>
          </a:p>
        </p:txBody>
      </p:sp>
      <p:sp>
        <p:nvSpPr>
          <p:cNvPr id="29" name="TextBox 28"/>
          <p:cNvSpPr txBox="1"/>
          <p:nvPr/>
        </p:nvSpPr>
        <p:spPr>
          <a:xfrm>
            <a:off x="493776" y="3730752"/>
            <a:ext cx="7571232" cy="676656"/>
          </a:xfrm>
          <a:prstGeom prst="rect">
            <a:avLst/>
          </a:prstGeom>
          <a:noFill/>
        </p:spPr>
        <p:txBody>
          <a:bodyPr wrap="square" lIns="0" rIns="0" tIns="0" bIns="0" anchor="t">
            <a:spAutoFit/>
          </a:bodyPr>
          <a:lstStyle/>
          <a:p>
            <a:pPr algn="l">
              <a:lnSpc>
                <a:spcPct val="116000"/>
              </a:lnSpc>
            </a:pPr>
            <a:r>
              <a:rPr sz="950" b="0" i="0">
                <a:solidFill>
                  <a:srgbClr val="5A5A5A"/>
                </a:solidFill>
                <a:latin typeface="Arial"/>
              </a:rPr>
              <a:t>11,708 samples are modelling-ready — 6,959 case and 4,749 control — spread across 97 cohorts with at least 20 ready samples each. Demographic completeness is now the binding constraint: 169 studies (19,550 samples) report neither sex nor age. 12,566 profiled samples carry species as well as genus; abundances sum to 1 within each rank, never across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Known limitations</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580F8B"/>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580F8B"/>
                </a:solidFill>
                <a:latin typeface="Arial"/>
              </a:rPr>
              <a:t>13</a:t>
            </a:r>
          </a:p>
        </p:txBody>
      </p:sp>
      <p:sp>
        <p:nvSpPr>
          <p:cNvPr id="5" name="Oval 4"/>
          <p:cNvSpPr/>
          <p:nvPr/>
        </p:nvSpPr>
        <p:spPr>
          <a:xfrm>
            <a:off x="493776" y="1243584"/>
            <a:ext cx="219456" cy="219456"/>
          </a:xfrm>
          <a:prstGeom prst="ellipse">
            <a:avLst/>
          </a:prstGeom>
          <a:solidFill>
            <a:srgbClr val="580F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1</a:t>
            </a:r>
          </a:p>
        </p:txBody>
      </p:sp>
      <p:sp>
        <p:nvSpPr>
          <p:cNvPr id="6" name="TextBox 5"/>
          <p:cNvSpPr txBox="1"/>
          <p:nvPr/>
        </p:nvSpPr>
        <p:spPr>
          <a:xfrm>
            <a:off x="859536" y="1225296"/>
            <a:ext cx="7699248" cy="219456"/>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Effect sizes are not directly comparable</a:t>
            </a:r>
          </a:p>
        </p:txBody>
      </p:sp>
      <p:sp>
        <p:nvSpPr>
          <p:cNvPr id="7" name="TextBox 6"/>
          <p:cNvSpPr txBox="1"/>
          <p:nvPr/>
        </p:nvSpPr>
        <p:spPr>
          <a:xfrm>
            <a:off x="859536" y="1472184"/>
            <a:ext cx="7699248" cy="365760"/>
          </a:xfrm>
          <a:prstGeom prst="rect">
            <a:avLst/>
          </a:prstGeom>
          <a:noFill/>
        </p:spPr>
        <p:txBody>
          <a:bodyPr wrap="square" lIns="0" rIns="0" tIns="0" bIns="0" anchor="t">
            <a:spAutoFit/>
          </a:bodyPr>
          <a:lstStyle/>
          <a:p>
            <a:pPr algn="l">
              <a:lnSpc>
                <a:spcPct val="116000"/>
              </a:lnSpc>
            </a:pPr>
            <a:r>
              <a:rPr sz="1000" b="0" i="0">
                <a:solidFill>
                  <a:srgbClr val="5A5A5A"/>
                </a:solidFill>
                <a:latin typeface="Arial"/>
              </a:rPr>
              <a:t>LDA scores originate from differing upstream pipelines and thresholds. They rank taxa within a comparison; they should not be pooled numerically across studies.</a:t>
            </a:r>
          </a:p>
        </p:txBody>
      </p:sp>
      <p:sp>
        <p:nvSpPr>
          <p:cNvPr id="8" name="Oval 7"/>
          <p:cNvSpPr/>
          <p:nvPr/>
        </p:nvSpPr>
        <p:spPr>
          <a:xfrm>
            <a:off x="493776" y="1901952"/>
            <a:ext cx="219456" cy="219456"/>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1A1A1A"/>
                </a:solidFill>
                <a:latin typeface="Arial"/>
              </a:rPr>
              <a:t>2</a:t>
            </a:r>
          </a:p>
        </p:txBody>
      </p:sp>
      <p:sp>
        <p:nvSpPr>
          <p:cNvPr id="9" name="TextBox 8"/>
          <p:cNvSpPr txBox="1"/>
          <p:nvPr/>
        </p:nvSpPr>
        <p:spPr>
          <a:xfrm>
            <a:off x="859536" y="1883664"/>
            <a:ext cx="7699248" cy="219456"/>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Replication is thin for most pairs</a:t>
            </a:r>
          </a:p>
        </p:txBody>
      </p:sp>
      <p:sp>
        <p:nvSpPr>
          <p:cNvPr id="10" name="TextBox 9"/>
          <p:cNvSpPr txBox="1"/>
          <p:nvPr/>
        </p:nvSpPr>
        <p:spPr>
          <a:xfrm>
            <a:off x="859536" y="2130552"/>
            <a:ext cx="7699248" cy="365760"/>
          </a:xfrm>
          <a:prstGeom prst="rect">
            <a:avLst/>
          </a:prstGeom>
          <a:noFill/>
        </p:spPr>
        <p:txBody>
          <a:bodyPr wrap="square" lIns="0" rIns="0" tIns="0" bIns="0" anchor="t">
            <a:spAutoFit/>
          </a:bodyPr>
          <a:lstStyle/>
          <a:p>
            <a:pPr algn="l">
              <a:lnSpc>
                <a:spcPct val="116000"/>
              </a:lnSpc>
            </a:pPr>
            <a:r>
              <a:rPr sz="1000" b="0" i="0">
                <a:solidFill>
                  <a:srgbClr val="5A5A5A"/>
                </a:solidFill>
                <a:latin typeface="Arial"/>
              </a:rPr>
              <a:t>81% of taxon–disease pairs rest on one study, so any aggregate ranking is dominated by which cohorts happen to be in GMrepo.</a:t>
            </a:r>
          </a:p>
        </p:txBody>
      </p:sp>
      <p:sp>
        <p:nvSpPr>
          <p:cNvPr id="11" name="Oval 10"/>
          <p:cNvSpPr/>
          <p:nvPr/>
        </p:nvSpPr>
        <p:spPr>
          <a:xfrm>
            <a:off x="493776" y="2560320"/>
            <a:ext cx="219456" cy="219456"/>
          </a:xfrm>
          <a:prstGeom prst="ellipse">
            <a:avLst/>
          </a:prstGeom>
          <a:solidFill>
            <a:srgbClr val="80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3</a:t>
            </a:r>
          </a:p>
        </p:txBody>
      </p:sp>
      <p:sp>
        <p:nvSpPr>
          <p:cNvPr id="12" name="TextBox 11"/>
          <p:cNvSpPr txBox="1"/>
          <p:nvPr/>
        </p:nvSpPr>
        <p:spPr>
          <a:xfrm>
            <a:off x="859536" y="2542032"/>
            <a:ext cx="7699248" cy="219456"/>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Species coverage is shotgun-only</a:t>
            </a:r>
          </a:p>
        </p:txBody>
      </p:sp>
      <p:sp>
        <p:nvSpPr>
          <p:cNvPr id="13" name="TextBox 12"/>
          <p:cNvSpPr txBox="1"/>
          <p:nvPr/>
        </p:nvSpPr>
        <p:spPr>
          <a:xfrm>
            <a:off x="859536" y="2788920"/>
            <a:ext cx="7699248" cy="365760"/>
          </a:xfrm>
          <a:prstGeom prst="rect">
            <a:avLst/>
          </a:prstGeom>
          <a:noFill/>
        </p:spPr>
        <p:txBody>
          <a:bodyPr wrap="square" lIns="0" rIns="0" tIns="0" bIns="0" anchor="t">
            <a:spAutoFit/>
          </a:bodyPr>
          <a:lstStyle/>
          <a:p>
            <a:pPr algn="l">
              <a:lnSpc>
                <a:spcPct val="116000"/>
              </a:lnSpc>
            </a:pPr>
            <a:r>
              <a:rPr sz="1000" b="0" i="0">
                <a:solidFill>
                  <a:srgbClr val="5A5A5A"/>
                </a:solidFill>
                <a:latin typeface="Arial"/>
              </a:rPr>
              <a:t>12,566 of 29,863 profiled samples carry species; the other 17,297 are 16S amplicon, which cannot resolve below genus. About 20% of reads are unclassified on average.</a:t>
            </a:r>
          </a:p>
        </p:txBody>
      </p:sp>
      <p:sp>
        <p:nvSpPr>
          <p:cNvPr id="14" name="Oval 13"/>
          <p:cNvSpPr/>
          <p:nvPr/>
        </p:nvSpPr>
        <p:spPr>
          <a:xfrm>
            <a:off x="493776" y="3218688"/>
            <a:ext cx="219456" cy="219456"/>
          </a:xfrm>
          <a:prstGeom prst="ellipse">
            <a:avLst/>
          </a:prstGeom>
          <a:solidFill>
            <a:srgbClr val="00DCA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1A1A1A"/>
                </a:solidFill>
                <a:latin typeface="Arial"/>
              </a:rPr>
              <a:t>4</a:t>
            </a:r>
          </a:p>
        </p:txBody>
      </p:sp>
      <p:sp>
        <p:nvSpPr>
          <p:cNvPr id="15" name="TextBox 14"/>
          <p:cNvSpPr txBox="1"/>
          <p:nvPr/>
        </p:nvSpPr>
        <p:spPr>
          <a:xfrm>
            <a:off x="859536" y="3200400"/>
            <a:ext cx="7699248" cy="219456"/>
          </a:xfrm>
          <a:prstGeom prst="rect">
            <a:avLst/>
          </a:prstGeom>
          <a:noFill/>
        </p:spPr>
        <p:txBody>
          <a:bodyPr wrap="square" lIns="0" rIns="0" tIns="0" bIns="0" anchor="t">
            <a:spAutoFit/>
          </a:bodyPr>
          <a:lstStyle/>
          <a:p>
            <a:pPr algn="l">
              <a:lnSpc>
                <a:spcPct val="100000"/>
              </a:lnSpc>
            </a:pPr>
            <a:r>
              <a:rPr sz="1150" b="1" i="0">
                <a:solidFill>
                  <a:srgbClr val="1A1A1A"/>
                </a:solidFill>
                <a:latin typeface="Arial"/>
              </a:rPr>
              <a:t>Phenotype is confounded with cohort</a:t>
            </a:r>
          </a:p>
        </p:txBody>
      </p:sp>
      <p:sp>
        <p:nvSpPr>
          <p:cNvPr id="16" name="TextBox 15"/>
          <p:cNvSpPr txBox="1"/>
          <p:nvPr/>
        </p:nvSpPr>
        <p:spPr>
          <a:xfrm>
            <a:off x="859536" y="3447288"/>
            <a:ext cx="7699248" cy="365760"/>
          </a:xfrm>
          <a:prstGeom prst="rect">
            <a:avLst/>
          </a:prstGeom>
          <a:noFill/>
        </p:spPr>
        <p:txBody>
          <a:bodyPr wrap="square" lIns="0" rIns="0" tIns="0" bIns="0" anchor="t">
            <a:spAutoFit/>
          </a:bodyPr>
          <a:lstStyle/>
          <a:p>
            <a:pPr algn="l">
              <a:lnSpc>
                <a:spcPct val="116000"/>
              </a:lnSpc>
            </a:pPr>
            <a:r>
              <a:rPr sz="1000" b="0" i="0">
                <a:solidFill>
                  <a:srgbClr val="5A5A5A"/>
                </a:solidFill>
                <a:latin typeface="Arial"/>
              </a:rPr>
              <a:t>Country, sequencing platform and study are collinear with disease label, so between-study comparisons cannot be read as biological effects.</a:t>
            </a:r>
          </a:p>
        </p:txBody>
      </p:sp>
      <p:sp>
        <p:nvSpPr>
          <p:cNvPr id="17" name="Oval 16"/>
          <p:cNvSpPr/>
          <p:nvPr/>
        </p:nvSpPr>
        <p:spPr>
          <a:xfrm>
            <a:off x="493776" y="3931920"/>
            <a:ext cx="137160" cy="13716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
            </a:r>
          </a:p>
        </p:txBody>
      </p:sp>
      <p:sp>
        <p:nvSpPr>
          <p:cNvPr id="18" name="TextBox 17"/>
          <p:cNvSpPr txBox="1"/>
          <p:nvPr/>
        </p:nvSpPr>
        <p:spPr>
          <a:xfrm>
            <a:off x="768096" y="3858768"/>
            <a:ext cx="7571232" cy="603504"/>
          </a:xfrm>
          <a:prstGeom prst="rect">
            <a:avLst/>
          </a:prstGeom>
          <a:noFill/>
        </p:spPr>
        <p:txBody>
          <a:bodyPr wrap="square" lIns="0" rIns="0" tIns="0" bIns="0" anchor="t">
            <a:spAutoFit/>
          </a:bodyPr>
          <a:lstStyle/>
          <a:p>
            <a:pPr algn="l">
              <a:lnSpc>
                <a:spcPct val="120000"/>
              </a:lnSpc>
            </a:pPr>
            <a:r>
              <a:rPr sz="1100" b="0" i="1">
                <a:solidFill>
                  <a:srgbClr val="1A1A1A"/>
                </a:solidFill>
                <a:latin typeface="Arial"/>
              </a:rPr>
              <a:t>The 318 literature-derived associations also stay flagged qualified rather than curated. Every constraint here is written into the schema as column comments and view headers, so it travels with the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latin typeface="Arial"/>
              </a:rPr>
              <a:t>Proposed next steps</a:t>
            </a:r>
          </a:p>
        </p:txBody>
      </p:sp>
      <p:sp>
        <p:nvSpPr>
          <p:cNvPr id="3" name="TextBox 2"/>
          <p:cNvSpPr txBox="1"/>
          <p:nvPr/>
        </p:nvSpPr>
        <p:spPr>
          <a:xfrm>
            <a:off x="5486400" y="4517136"/>
            <a:ext cx="2706624" cy="164592"/>
          </a:xfrm>
          <a:prstGeom prst="rect">
            <a:avLst/>
          </a:prstGeom>
          <a:noFill/>
        </p:spPr>
        <p:txBody>
          <a:bodyPr wrap="square" lIns="0" rIns="0" tIns="0" bIns="0" anchor="t">
            <a:spAutoFit/>
          </a:bodyPr>
          <a:lstStyle/>
          <a:p>
            <a:pPr algn="r">
              <a:lnSpc>
                <a:spcPct val="100000"/>
              </a:lnSpc>
            </a:pPr>
            <a:r>
              <a:rPr sz="800" b="0" i="0">
                <a:solidFill>
                  <a:srgbClr val="FFFFFF"/>
                </a:solidFill>
                <a:latin typeface="Arial"/>
              </a:rPr>
              <a:t>Computational Medicine Lab</a:t>
            </a:r>
          </a:p>
        </p:txBody>
      </p:sp>
      <p:sp>
        <p:nvSpPr>
          <p:cNvPr id="4" name="TextBox 3"/>
          <p:cNvSpPr txBox="1"/>
          <p:nvPr/>
        </p:nvSpPr>
        <p:spPr>
          <a:xfrm>
            <a:off x="8348472" y="4480560"/>
            <a:ext cx="283464" cy="201168"/>
          </a:xfrm>
          <a:prstGeom prst="rect">
            <a:avLst/>
          </a:prstGeom>
          <a:noFill/>
        </p:spPr>
        <p:txBody>
          <a:bodyPr wrap="square" lIns="0" rIns="0" tIns="0" bIns="0" anchor="t">
            <a:spAutoFit/>
          </a:bodyPr>
          <a:lstStyle/>
          <a:p>
            <a:pPr algn="r">
              <a:lnSpc>
                <a:spcPct val="100000"/>
              </a:lnSpc>
            </a:pPr>
            <a:r>
              <a:rPr sz="1200" b="0" i="0">
                <a:solidFill>
                  <a:srgbClr val="FFFFFF"/>
                </a:solidFill>
                <a:latin typeface="Arial"/>
              </a:rPr>
              <a:t>14</a:t>
            </a:r>
          </a:p>
        </p:txBody>
      </p:sp>
      <p:sp>
        <p:nvSpPr>
          <p:cNvPr id="5" name="Rounded Rectangle 4"/>
          <p:cNvSpPr/>
          <p:nvPr/>
        </p:nvSpPr>
        <p:spPr>
          <a:xfrm>
            <a:off x="493776" y="1225296"/>
            <a:ext cx="8119872" cy="713232"/>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13232" y="1408176"/>
            <a:ext cx="530352" cy="329184"/>
          </a:xfrm>
          <a:prstGeom prst="rect">
            <a:avLst/>
          </a:prstGeom>
          <a:noFill/>
        </p:spPr>
        <p:txBody>
          <a:bodyPr wrap="square" lIns="0" rIns="0" tIns="0" bIns="0" anchor="t">
            <a:spAutoFit/>
          </a:bodyPr>
          <a:lstStyle/>
          <a:p>
            <a:pPr algn="l">
              <a:lnSpc>
                <a:spcPct val="100000"/>
              </a:lnSpc>
            </a:pPr>
            <a:r>
              <a:rPr sz="1600" b="1" i="0">
                <a:solidFill>
                  <a:srgbClr val="FF9300"/>
                </a:solidFill>
                <a:latin typeface="Arial"/>
              </a:rPr>
              <a:t>01</a:t>
            </a:r>
          </a:p>
        </p:txBody>
      </p:sp>
      <p:sp>
        <p:nvSpPr>
          <p:cNvPr id="7" name="TextBox 6"/>
          <p:cNvSpPr txBox="1"/>
          <p:nvPr/>
        </p:nvSpPr>
        <p:spPr>
          <a:xfrm>
            <a:off x="1316736" y="1335024"/>
            <a:ext cx="7059168" cy="219456"/>
          </a:xfrm>
          <a:prstGeom prst="rect">
            <a:avLst/>
          </a:prstGeom>
          <a:noFill/>
        </p:spPr>
        <p:txBody>
          <a:bodyPr wrap="square" lIns="0" rIns="0" tIns="0" bIns="0" anchor="t">
            <a:spAutoFit/>
          </a:bodyPr>
          <a:lstStyle/>
          <a:p>
            <a:pPr algn="l">
              <a:lnSpc>
                <a:spcPct val="100000"/>
              </a:lnSpc>
            </a:pPr>
            <a:r>
              <a:rPr sz="1150" b="1" i="0">
                <a:solidFill>
                  <a:srgbClr val="FFFFFF"/>
                </a:solidFill>
                <a:latin typeface="Arial"/>
              </a:rPr>
              <a:t>Close the demographic gap</a:t>
            </a:r>
          </a:p>
        </p:txBody>
      </p:sp>
      <p:sp>
        <p:nvSpPr>
          <p:cNvPr id="8" name="TextBox 7"/>
          <p:cNvSpPr txBox="1"/>
          <p:nvPr/>
        </p:nvSpPr>
        <p:spPr>
          <a:xfrm>
            <a:off x="1316736" y="1572768"/>
            <a:ext cx="7059168" cy="329184"/>
          </a:xfrm>
          <a:prstGeom prst="rect">
            <a:avLst/>
          </a:prstGeom>
          <a:noFill/>
        </p:spPr>
        <p:txBody>
          <a:bodyPr wrap="square" lIns="0" rIns="0" tIns="0" bIns="0" anchor="t">
            <a:spAutoFit/>
          </a:bodyPr>
          <a:lstStyle/>
          <a:p>
            <a:pPr algn="l">
              <a:lnSpc>
                <a:spcPct val="114000"/>
              </a:lnSpc>
            </a:pPr>
            <a:r>
              <a:rPr sz="950" b="0" i="0">
                <a:solidFill>
                  <a:srgbClr val="C9A6E8"/>
                </a:solidFill>
                <a:latin typeface="Arial"/>
              </a:rPr>
              <a:t>169 studies (19,550 samples) still report neither sex nor age. Extend the curatedMetagenomicData curation that recovered 515 values this cycle.</a:t>
            </a:r>
          </a:p>
        </p:txBody>
      </p:sp>
      <p:sp>
        <p:nvSpPr>
          <p:cNvPr id="9" name="Rounded Rectangle 8"/>
          <p:cNvSpPr/>
          <p:nvPr/>
        </p:nvSpPr>
        <p:spPr>
          <a:xfrm>
            <a:off x="493776" y="2048256"/>
            <a:ext cx="8119872" cy="713232"/>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3232" y="2231136"/>
            <a:ext cx="530352" cy="329184"/>
          </a:xfrm>
          <a:prstGeom prst="rect">
            <a:avLst/>
          </a:prstGeom>
          <a:noFill/>
        </p:spPr>
        <p:txBody>
          <a:bodyPr wrap="square" lIns="0" rIns="0" tIns="0" bIns="0" anchor="t">
            <a:spAutoFit/>
          </a:bodyPr>
          <a:lstStyle/>
          <a:p>
            <a:pPr algn="l">
              <a:lnSpc>
                <a:spcPct val="100000"/>
              </a:lnSpc>
            </a:pPr>
            <a:r>
              <a:rPr sz="1600" b="1" i="0">
                <a:solidFill>
                  <a:srgbClr val="FF9300"/>
                </a:solidFill>
                <a:latin typeface="Arial"/>
              </a:rPr>
              <a:t>02</a:t>
            </a:r>
          </a:p>
        </p:txBody>
      </p:sp>
      <p:sp>
        <p:nvSpPr>
          <p:cNvPr id="11" name="TextBox 10"/>
          <p:cNvSpPr txBox="1"/>
          <p:nvPr/>
        </p:nvSpPr>
        <p:spPr>
          <a:xfrm>
            <a:off x="1316736" y="2157984"/>
            <a:ext cx="7059168" cy="219456"/>
          </a:xfrm>
          <a:prstGeom prst="rect">
            <a:avLst/>
          </a:prstGeom>
          <a:noFill/>
        </p:spPr>
        <p:txBody>
          <a:bodyPr wrap="square" lIns="0" rIns="0" tIns="0" bIns="0" anchor="t">
            <a:spAutoFit/>
          </a:bodyPr>
          <a:lstStyle/>
          <a:p>
            <a:pPr algn="l">
              <a:lnSpc>
                <a:spcPct val="100000"/>
              </a:lnSpc>
            </a:pPr>
            <a:r>
              <a:rPr sz="1150" b="1" i="0">
                <a:solidFill>
                  <a:srgbClr val="FFFFFF"/>
                </a:solidFill>
                <a:latin typeface="Arial"/>
              </a:rPr>
              <a:t>Model batch structure and repeated measures</a:t>
            </a:r>
          </a:p>
        </p:txBody>
      </p:sp>
      <p:sp>
        <p:nvSpPr>
          <p:cNvPr id="12" name="TextBox 11"/>
          <p:cNvSpPr txBox="1"/>
          <p:nvPr/>
        </p:nvSpPr>
        <p:spPr>
          <a:xfrm>
            <a:off x="1316736" y="2395728"/>
            <a:ext cx="7059168" cy="329184"/>
          </a:xfrm>
          <a:prstGeom prst="rect">
            <a:avLst/>
          </a:prstGeom>
          <a:noFill/>
        </p:spPr>
        <p:txBody>
          <a:bodyPr wrap="square" lIns="0" rIns="0" tIns="0" bIns="0" anchor="t">
            <a:spAutoFit/>
          </a:bodyPr>
          <a:lstStyle/>
          <a:p>
            <a:pPr algn="l">
              <a:lnSpc>
                <a:spcPct val="114000"/>
              </a:lnSpc>
            </a:pPr>
            <a:r>
              <a:rPr sz="950" b="0" i="0">
                <a:solidFill>
                  <a:srgbClr val="C9A6E8"/>
                </a:solidFill>
                <a:latin typeface="Arial"/>
              </a:rPr>
              <a:t>Treat study as a random effect and hold out whole cohorts; 156 subjects already contribute more than one sample each.</a:t>
            </a:r>
          </a:p>
        </p:txBody>
      </p:sp>
      <p:sp>
        <p:nvSpPr>
          <p:cNvPr id="13" name="Rounded Rectangle 12"/>
          <p:cNvSpPr/>
          <p:nvPr/>
        </p:nvSpPr>
        <p:spPr>
          <a:xfrm>
            <a:off x="493776" y="2871216"/>
            <a:ext cx="8119872" cy="713232"/>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13232" y="3054096"/>
            <a:ext cx="530352" cy="329184"/>
          </a:xfrm>
          <a:prstGeom prst="rect">
            <a:avLst/>
          </a:prstGeom>
          <a:noFill/>
        </p:spPr>
        <p:txBody>
          <a:bodyPr wrap="square" lIns="0" rIns="0" tIns="0" bIns="0" anchor="t">
            <a:spAutoFit/>
          </a:bodyPr>
          <a:lstStyle/>
          <a:p>
            <a:pPr algn="l">
              <a:lnSpc>
                <a:spcPct val="100000"/>
              </a:lnSpc>
            </a:pPr>
            <a:r>
              <a:rPr sz="1600" b="1" i="0">
                <a:solidFill>
                  <a:srgbClr val="FF9300"/>
                </a:solidFill>
                <a:latin typeface="Arial"/>
              </a:rPr>
              <a:t>03</a:t>
            </a:r>
          </a:p>
        </p:txBody>
      </p:sp>
      <p:sp>
        <p:nvSpPr>
          <p:cNvPr id="15" name="TextBox 14"/>
          <p:cNvSpPr txBox="1"/>
          <p:nvPr/>
        </p:nvSpPr>
        <p:spPr>
          <a:xfrm>
            <a:off x="1316736" y="2980944"/>
            <a:ext cx="7059168" cy="219456"/>
          </a:xfrm>
          <a:prstGeom prst="rect">
            <a:avLst/>
          </a:prstGeom>
          <a:noFill/>
        </p:spPr>
        <p:txBody>
          <a:bodyPr wrap="square" lIns="0" rIns="0" tIns="0" bIns="0" anchor="t">
            <a:spAutoFit/>
          </a:bodyPr>
          <a:lstStyle/>
          <a:p>
            <a:pPr algn="l">
              <a:lnSpc>
                <a:spcPct val="100000"/>
              </a:lnSpc>
            </a:pPr>
            <a:r>
              <a:rPr sz="1150" b="1" i="0">
                <a:solidFill>
                  <a:srgbClr val="FFFFFF"/>
                </a:solidFill>
                <a:latin typeface="Arial"/>
              </a:rPr>
              <a:t>Transform for compositionality, then model</a:t>
            </a:r>
          </a:p>
        </p:txBody>
      </p:sp>
      <p:sp>
        <p:nvSpPr>
          <p:cNvPr id="16" name="TextBox 15"/>
          <p:cNvSpPr txBox="1"/>
          <p:nvPr/>
        </p:nvSpPr>
        <p:spPr>
          <a:xfrm>
            <a:off x="1316736" y="3218688"/>
            <a:ext cx="7059168" cy="329184"/>
          </a:xfrm>
          <a:prstGeom prst="rect">
            <a:avLst/>
          </a:prstGeom>
          <a:noFill/>
        </p:spPr>
        <p:txBody>
          <a:bodyPr wrap="square" lIns="0" rIns="0" tIns="0" bIns="0" anchor="t">
            <a:spAutoFit/>
          </a:bodyPr>
          <a:lstStyle/>
          <a:p>
            <a:pPr algn="l">
              <a:lnSpc>
                <a:spcPct val="114000"/>
              </a:lnSpc>
            </a:pPr>
            <a:r>
              <a:rPr sz="950" b="0" i="0">
                <a:solidFill>
                  <a:srgbClr val="C9A6E8"/>
                </a:solidFill>
                <a:latin typeface="Arial"/>
              </a:rPr>
              <a:t>Relative abundances live on a simplex, so apply a CLR transform before a leave-one-cohort-out baseline on the deepest phenotype.</a:t>
            </a:r>
          </a:p>
        </p:txBody>
      </p:sp>
      <p:sp>
        <p:nvSpPr>
          <p:cNvPr id="17" name="Rounded Rectangle 16"/>
          <p:cNvSpPr/>
          <p:nvPr/>
        </p:nvSpPr>
        <p:spPr>
          <a:xfrm>
            <a:off x="493776" y="3712463"/>
            <a:ext cx="8119872" cy="603504"/>
          </a:xfrm>
          <a:prstGeom prst="roundRect">
            <a:avLst>
              <a:gd name="adj" fmla="val 6000"/>
            </a:avLst>
          </a:prstGeom>
          <a:solidFill>
            <a:srgbClr val="6D1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76656" y="3904487"/>
            <a:ext cx="219456" cy="219456"/>
          </a:xfrm>
          <a:prstGeom prst="ellipse">
            <a:avLst/>
          </a:prstGeom>
          <a:solidFill>
            <a:srgbClr val="00DCA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A1A1A"/>
                </a:solidFill>
                <a:latin typeface="Arial"/>
              </a:rPr>
              <a:t>?</a:t>
            </a:r>
          </a:p>
        </p:txBody>
      </p:sp>
      <p:sp>
        <p:nvSpPr>
          <p:cNvPr id="19" name="TextBox 18"/>
          <p:cNvSpPr txBox="1"/>
          <p:nvPr/>
        </p:nvSpPr>
        <p:spPr>
          <a:xfrm>
            <a:off x="1005840" y="3813048"/>
            <a:ext cx="7351776" cy="420624"/>
          </a:xfrm>
          <a:prstGeom prst="rect">
            <a:avLst/>
          </a:prstGeom>
          <a:noFill/>
        </p:spPr>
        <p:txBody>
          <a:bodyPr wrap="square" lIns="0" rIns="0" tIns="0" bIns="0" anchor="t">
            <a:spAutoFit/>
          </a:bodyPr>
          <a:lstStyle/>
          <a:p>
            <a:pPr algn="l">
              <a:lnSpc>
                <a:spcPct val="116000"/>
              </a:lnSpc>
            </a:pPr>
            <a:r>
              <a:rPr sz="1000" b="0" i="0">
                <a:solidFill>
                  <a:srgbClr val="FFFFFF"/>
                </a:solidFill>
                <a:latin typeface="Arial"/>
              </a:rPr>
              <a:t>Input requested: which phenotype to take first for a modelling pass. Crohn disease (1,416 ready) and ulcerative colitis (857) have the deepest case cohorts against 4,749 controls.</a:t>
            </a:r>
          </a:p>
        </p:txBody>
      </p:sp>
    </p:spTree>
  </p:cSld>
  <p:clrMapOvr>
    <a:masterClrMapping/>
  </p:clrMapOvr>
</p:sld>
</file>

<file path=ppt/theme/theme1.xml><?xml version="1.0" encoding="utf-8"?>
<a:theme xmlns:a="http://schemas.openxmlformats.org/drawingml/2006/main" name="Office Theme">
  <a:themeElements>
    <a:clrScheme name="Brand Color Palette">
      <a:dk1>
        <a:srgbClr val="000000"/>
      </a:dk1>
      <a:lt1>
        <a:srgbClr val="FFFFFF"/>
      </a:lt1>
      <a:dk2>
        <a:srgbClr val="580F8B"/>
      </a:dk2>
      <a:lt2>
        <a:srgbClr val="E0E0DE"/>
      </a:lt2>
      <a:accent1>
        <a:srgbClr val="8000FF"/>
      </a:accent1>
      <a:accent2>
        <a:srgbClr val="380063"/>
      </a:accent2>
      <a:accent3>
        <a:srgbClr val="FF9300"/>
      </a:accent3>
      <a:accent4>
        <a:srgbClr val="00DCA5"/>
      </a:accent4>
      <a:accent5>
        <a:srgbClr val="FF0057"/>
      </a:accent5>
      <a:accent6>
        <a:srgbClr val="B341FF"/>
      </a:accent6>
      <a:hlink>
        <a:srgbClr val="8000FF"/>
      </a:hlink>
      <a:folHlink>
        <a:srgbClr val="800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defPPr>
      </a:lstStyle>
    </a:txDef>
  </a:objectDefaults>
  <a:extraClrSchemeLst/>
  <a:extLst>
    <a:ext uri="{05A4C25C-085E-4340-85A3-A5531E510DB2}">
      <thm15:themeFamily xmlns:thm15="http://schemas.microsoft.com/office/thememl/2012/main" name="NYULH_PPT-Template_260723" id="{7AF070BA-A29F-1A4C-87FD-FF63C88AD7C4}" vid="{BEDAA9DA-7FD8-0646-ACD7-A72F5EAECC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TotalTime>
  <Words>1040</Words>
  <Application>Microsoft Macintosh PowerPoint</Application>
  <PresentationFormat>On-screen Show (16:9)</PresentationFormat>
  <Paragraphs>176</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Presentation title goes here. Presentation title goes here</vt:lpstr>
      <vt:lpstr>Presentation title goes here. Presentation title goes here</vt:lpstr>
      <vt:lpstr>Presentation title goes here. Presentation title goes here. Presentation title goes here</vt:lpstr>
      <vt:lpstr>Section, divider, or page title</vt:lpstr>
      <vt:lpstr>Write your headline here. Use up to two lines</vt:lpstr>
      <vt:lpstr>Write your headline here.  Use up to two lines</vt:lpstr>
      <vt:lpstr>Write your headline here.  Use up to two lines</vt:lpstr>
      <vt:lpstr>Smaller text or headline here.  Use up to two lines</vt:lpstr>
      <vt:lpstr>Write your headline here. Use up to two lines </vt:lpstr>
      <vt:lpstr>Write your headline here. Use up to two lines</vt:lpstr>
      <vt:lpstr>Write your headline here. Use up to two lines</vt:lpstr>
      <vt:lpstr>Write your headline here</vt:lpstr>
      <vt:lpstr>Smaller text or headline here.  Use up to two lines</vt:lpstr>
      <vt:lpstr>Write your headline here.  Use up to two lines </vt:lpstr>
      <vt:lpstr>Write your headline here.  Use up to two lines</vt:lpstr>
      <vt:lpstr>Write your headline here.  Use up to two lines</vt:lpstr>
      <vt:lpstr>Write your table headline here. Use up to two lines</vt:lpstr>
      <vt:lpstr>Write your chart headline here.  Use up to two lines </vt:lpstr>
      <vt:lpstr>Write your chart headline here.  Use up to two lines</vt:lpstr>
      <vt:lpstr>Write your chart headline here.  Use up to two lines</vt:lpstr>
      <vt:lpstr>Q&amp;A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Saeko Hinomoto</dc:creator>
  <cp:lastModifiedBy>Saeko Hinomoto</cp:lastModifiedBy>
  <cp:revision>8</cp:revision>
  <dcterms:created xsi:type="dcterms:W3CDTF">2026-07-23T18:45:51Z</dcterms:created>
  <dcterms:modified xsi:type="dcterms:W3CDTF">2026-07-27T13:37:57Z</dcterms:modified>
</cp:coreProperties>
</file>